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6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9" r:id="rId34"/>
    <p:sldId id="291" r:id="rId35"/>
    <p:sldId id="292" r:id="rId36"/>
    <p:sldId id="290" r:id="rId37"/>
  </p:sldIdLst>
  <p:sldSz cx="18288000" cy="10287000"/>
  <p:notesSz cx="6858000" cy="9144000"/>
  <p:embeddedFontLst>
    <p:embeddedFont>
      <p:font typeface="Calibri (MS)" panose="020F0502020204030204" pitchFamily="34" charset="0"/>
      <p:regular r:id="rId39"/>
    </p:embeddedFont>
    <p:embeddedFont>
      <p:font typeface="Calibri (MS) Bold" panose="020F0702030404030204" pitchFamily="34" charset="0"/>
      <p:regular r:id="rId40"/>
      <p:bold r:id="rId41"/>
    </p:embeddedFont>
    <p:embeddedFont>
      <p:font typeface="Calibri (MS) Italics" panose="020F05020202040A0204" pitchFamily="34" charset="0"/>
      <p:regular r:id="rId42"/>
      <p:italic r:id="rId43"/>
    </p:embeddedFont>
    <p:embeddedFont>
      <p:font typeface="Cardo Bold" panose="02020804080000020003" pitchFamily="18" charset="-79"/>
      <p:regular r:id="rId44"/>
      <p:bold r:id="rId45"/>
    </p:embeddedFont>
    <p:embeddedFont>
      <p:font typeface="Open Sans" panose="020B0606030504020204" pitchFamily="34" charset="0"/>
      <p:regular r:id="rId46"/>
      <p:bold r:id="rId47"/>
      <p:italic r:id="rId48"/>
      <p:boldItalic r:id="rId49"/>
    </p:embeddedFont>
    <p:embeddedFont>
      <p:font typeface="Open Sans Bold" panose="020B0806030504020204" pitchFamily="34" charset="0"/>
      <p:regular r:id="rId50"/>
      <p:bold r:id="rId5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862" autoAdjust="0"/>
    <p:restoredTop sz="81556" autoAdjust="0"/>
  </p:normalViewPr>
  <p:slideViewPr>
    <p:cSldViewPr>
      <p:cViewPr>
        <p:scale>
          <a:sx n="56" d="100"/>
          <a:sy n="56" d="100"/>
        </p:scale>
        <p:origin x="1928" y="46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4.fntdata"/><Relationship Id="rId47" Type="http://schemas.openxmlformats.org/officeDocument/2006/relationships/font" Target="fonts/font9.fntdata"/><Relationship Id="rId50" Type="http://schemas.openxmlformats.org/officeDocument/2006/relationships/font" Target="fonts/font12.fntdata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2.fntdata"/><Relationship Id="rId45" Type="http://schemas.openxmlformats.org/officeDocument/2006/relationships/font" Target="fonts/font7.fntdata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6.fntdata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5.fntdata"/><Relationship Id="rId48" Type="http://schemas.openxmlformats.org/officeDocument/2006/relationships/font" Target="fonts/font10.fntdata"/><Relationship Id="rId8" Type="http://schemas.openxmlformats.org/officeDocument/2006/relationships/slide" Target="slides/slide7.xml"/><Relationship Id="rId51" Type="http://schemas.openxmlformats.org/officeDocument/2006/relationships/font" Target="fonts/font13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46" Type="http://schemas.openxmlformats.org/officeDocument/2006/relationships/font" Target="fonts/font8.fntdata"/><Relationship Id="rId20" Type="http://schemas.openxmlformats.org/officeDocument/2006/relationships/slide" Target="slides/slide19.xml"/><Relationship Id="rId41" Type="http://schemas.openxmlformats.org/officeDocument/2006/relationships/font" Target="fonts/font3.fntdata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11.fntdata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9T12:28:51.93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118 263 24575,'-4'-3'0,"1"0"0,1 0 0,0-1 0,1 1 0,0 0 0,1 0 0,0 0 0,-2 0 0,2-1 0,-1 1 0,1 0 0,0 0 0,0 0 0,0 0 0,0-1 0,0 1 0,0 0 0,1 0 0,-1-2 0,2 2 0,-1-3 0,0 2 0,1 0 0,-1 1 0,0-1 0,0 3 0,0-2 0,2 1 0,-3-1 0,3 0 0,-3 2 0,1 2 0,-2 2 0,-2 1 0,-1 1 0,-2 4 0,3-3 0,-4 6 0,5-6 0,-4 3 0,5-5 0,-1-1 0,1-1 0,-1-1 0,-1-1 0,0 0 0,0 0 0,-1 0 0,1-1 0,0-1 0,1-1 0,0 1 0,1-1 0,0 2 0,-1-3 0,2 1 0,-1 0 0,1 0 0,1-3 0,-1 2 0,2-2 0,-1 3 0,0 0 0,1 0 0,-1 0 0,0-1 0,-1 1 0,0 0 0,0 0 0,0 0 0,0 0 0,0-2 0,0 1 0,0 0 0,0 1 0,0 0 0,0-1 0,0 1 0,0 0 0,0 0 0,0 0 0,-1 1 0,0-2 0,-2 0 0,3-1 0,-3 2 0,3 0 0,-3 3 0,3-3 0,-3 3 0,3 0 0,-2 2 0,0 5 0,1-3 0,-2 3 0,2-4 0,1 0 0,0 0 0,-1 2 0,0-2 0,0 2 0,1-2 0,-2-2 0,2 2 0,-1-1 0,1 1 0,0 0 0,-2 0 0,2 0 0,-2 0 0,2 1 0,0-1 0,0 0 0,0 0 0,0 0 0,0 0 0,-1 0 0,1 0 0,-2 0 0,2 1 0,0-1 0,0 0 0,0 0 0,0 0 0,0 0 0,0 0 0,0 0 0,0 0 0,0 1 0,0-1 0,0 0 0,0 0 0,0 0 0,0 0 0,0 2 0,0-2 0,0 2 0,0-2 0,0 0 0,2 1 0,-2 0 0,1 0 0,-1-1 0,2 1 0,-2-1 0,2 0 0,-1-2 0,-1 2 0,2-1 0,-1 2 0,-1 0 0,2 0 0,-1 0 0,0-1 0,0 0 0,0 0 0,0 0 0,0 0 0,-1 2 0,0-2 0,1 0 0,0 0 0,0-1 0,-1 1 0,1-1 0,0 0 0,0 0 0,-1 1 0,-1-1 0,-1-1 0,-1-1 0,0-1 0,0 1 0,1-3 0,-1 2 0,3-1 0,-3 0 0,2-1 0,-1 1 0,1-2 0,-2 2 0,3-3 0,-1 2 0,1 0 0,-2 1 0,2-2 0,-1 2 0,-1-3 0,2 2 0,-2 0 0,1-1 0,1 0 0,-2 0 0,2 0 0,-1 1 0,0-1 0,0 1 0,1 0 0,0 0 0,-1 0 0,0 0 0,0-1 0,1 1 0,0 0 0,0 0 0,0 0 0,0 0 0,0 0 0,0-1 0,0 1 0,0-1 0,0-1 0,0-2 0,1 2 0,0 1 0,0 1 0,-1 0 0,0-1 0,1 3 0,0-2 0,0 1 0,-1-1 0,2 1 0,-2-2 0,1 2 0,1-1 0,-2 0 0,1 1 0,-1-1 0,2 1 0,-2-1 0,1 2 0,-1-3 0,2 1 0,-2 0 0,3 0 0,-3 0 0,3 0 0,-3-1 0,3 1 0,-1 0 0,1 0 0,0 0 0,0 0 0,-1-1 0,1 3 0,-3-2 0,3 3 0,-3-3 0,-1 6 0,-1-1 0,-3 2 0,3-1 0,0-3 0,1 3 0,-2-3 0,3 3 0,-3-3 0,3 3 0,-3-1 0,3 1 0,-3-1 0,3 0 0,-3 0 0,2 1 0,-1 2 0,1-2 0,0 2 0,-1-1 0,2 0 0,-1 0 0,-1-1 0,2 0 0,-2 2 0,2 0 0,-1 0 0,1-1 0,-2-1 0,2 0 0,0 1 0,0-1 0,0 0 0,0 0 0,0 0 0,0 0 0,0 0 0,0 0 0,0 2 0,0-2 0,0 2 0,-1-5 0,1-2 0,-2-1 0,1-2 0,0 1 0,-1 0 0,1 0 0,0 0 0,1 0 0,0-1 0,0 0 0,0-1 0,0 3 0,0-2 0,0 2 0,0-2 0,0 2 0,0-2 0,0 2 0,0 0 0,0 0 0,1 0 0,0-1 0,1 1 0,-1 0 0,1 0 0,-1 0 0,1 1 0,-1-1 0,0 1 0,1-1 0,-2 0 0,3 0 0,-2 0 0,1 0 0,1-1 0,-3 1 0,3 1 0,-3 0 0,3 0 0,-2-1 0,1 0 0,0-1 0,1 1 0,0 1 0,0 0 0,0 1 0,1 0 0,-1 0 0,1 0 0,0 0 0,-1-1 0,1 2 0,-2-1 0,3 1 0,-2 0 0,0 0 0,1 1 0,-2 1 0,3 2 0,-4 1 0,1 0 0,-1 3 0,-1-2 0,-1 3 0,-4 4 0,1-5 0,-3 6 0,4-10 0,-3 5 0,3-4 0,-3 3 0,3-2 0,0-4 0,1 2 0,-1-2 0,3 1 0,-3-1 0,3 0 0,-2-3 0,2-4 0,0-4 0,2-2 0,1-5 0,-1 10 0,5-15 0,-4 16 0,2-7 0,-2 11 0,-1-2 0,-1 1 0,2 0 0,-1-1 0,1 3 0,0-1 0,3 1 0,-1 0 0,0 1 0,3 3 0,-5 3 0,4 0 0,-5 1 0,0 0 0,-2-2 0,0 6 0,-2-5 0,1 0 0,-3-1 0,0-1 0,-1 0 0,0-1 0,-1-1 0,1 1 0,0-3 0,1 1 0,0-4 0,1-1 0,0-2 0,1-8 0,1 5 0,2-6 0,5 1 0,-1 5 0,2-4 0,-1 7 0,-1 0 0,13-3 0,-9 3 0,17-5 0,-15 8 0,3-2 0,-5 4 0,-4 0 0,0 3 0,-2 0 0,1 4 0,0-1 0,0-1 0,-2 3 0,-1-4 0,-1 5 0,-1-2 0,-3-1 0,-3 3 0,-3-3 0,2 0 0,-4-1 0,8-2 0,-3-3 0,4 1 0,1-2 0,1-1 0,1-5 0,0-1 0,1-4 0,3 3 0,1 1 0,10-4 0,5 3 0,-2-3 0,17 3 0,-18 4 0,7 1 0,-10 2 0,-9 2 0,-1 1 0,-1 1 0,0 2 0,-1 1 0,0 2 0,-5-1 0,-4 4 0,-3-2 0,-1 1 0,2-2 0,1-3 0,2-1 0,-2 0 0,4-3 0,-2 2 0,3-2 0,-3 0 0,1-2 0,0 0 0,2-1 0,-1-4 0,4 3 0,-2-4 0,2 3 0,17-11 0,-5 2 0,21-5 0,-12 7 0,11 0 0,-9 5 0,-3 1 0,-8 3 0,-8 6 0,-2-1 0,-6 11 0,-4-1 0,-2 2 0,-13 3 0,2-3 0,-2-2 0,-8 6 0,17-14 0,-12 7 0,13-8 0,0 0 0,6-2 0,4-2 0,0-2 0,1-1 0,1-2 0,1 3 0,1-2 0,1 1 0,5-2 0,-3 2 0,5-2 0,-2 3 0,-2-1 0,4 0 0,-6 2 0,5 1 0,-4 1 0,0 1 0,-1 1 0,-1 1 0,-1 2 0,1 0 0,-5 1 0,-3 1 0,-1-2 0,-5 2 0,3-3 0,-1 2 0,2-3 0,1-1 0,1-1 0,1-1 0,0 0 0,2 0 0,0 0 0,0 0 0,0-1 0,0-1 0,1-1 0,0 0 0,2-2 0,3 0 0,1 1 0,5-3 0,0 3 0,12-9 0,7 6 0,1-5 0,-3 8 0,-14 1 0,-6 3 0,-3 0 0,-1 3 0,0 1 0,-2 2 0,0 0 0,-6 3 0,-1-1 0,-14 7 0,-3 0 0,1-3 0,-12 4 0,19-9 0,-19 3 0,21-4 0,-21 0 0,5 0 0,4-2 0,6-3 0,20-4 0,3 0 0,2-3 0,4 0 0,-2 1 0,4-3 0,-1 4 0,-2 0 0,-1 1 0,-4 3 0,0-2 0,0 4 0,-1-1 0,-1 6 0,-1-3 0,0 5 0,-11 2 0,5-4 0,-9 6 0,8-9 0,-2 3 0,3-3 0,-2 1 0,6-5 0,7-2 0,3-4 0,1 0 0,2 0 0,-1 5 0,-1-1 0,3 2 0,-7 0 0,1 1 0,-5 1 0,-1 2 0,0 1 0,-3 2 0,1-3 0,-4 2 0,3-2 0,-3 2 0,2-3 0,0 0 0,2 0 0,-1-3 0,4 2 0,1-4 0,1 2 0,3-1 0,2 1 0,1 0 0,0 1 0,-1 1 0,-4-1 0,-1 2 0,1-1 0,-3 1 0,1 0 0,-4 2 0,0 0 0,-1-1 0,0 1 0,-1-1 0,0-1 0,-1-1 0,2-2 0,3-1 0,2-1 0,1 0 0,2 0 0,-2 1 0,1 0 0,1 1 0,4 0 0,0 0 0,1 0 0,6 0 0,4 0 0,-4 1 0,4 1 0,-13 0 0,1 1 0,-4-2 0,-1 0 0,0-1 0,1 0 0,-1 1 0,0 0 0,0 0 0,0-1 0,0 0 0,0 0 0,4 2 0,1-2 0,2 4 0,1-4 0,-4 3 0,0-3 0,-2 1 0,-2-1 0,0 0 0,-1-1 0,-1-1 0,-1-1 0,0-2 0,0 2 0,0-2 0,0 2 0,0 0 0,0 0 0,0 0 0,0 0 0,0-2 0,0 1 0,0-2 0,0 3 0,0-2 0,0 2 0,0 0 0,0 0 0,0 0 0,0 0 0,0-1 0,0 1 0,0 0 0,0 0 0,0 0 0,0-2 0,-1 2 0,0-2 0,0 2 0,1-2 0,0 2 0,0-2 0,-1 2 0,0 0 0,0 0 0,1 0 0,0-1 0,0 1 0,0 0 0,-2-1 0,2 0 0,-1-2 0,1 3 0,0-2 0,-2 0 0,2 0 0,-1-1 0,1 1 0,0 1 0,-2 0 0,2 1 0,-2 0 0,2 0 0,0 0 0,0 0 0,-1 1 0,1-1 0,-2 1 0,2-2 0,-1 0 0,0 0 0,0 1 0,0 1 0,-1 2 0,-3 1 0,0 7 0,-2-3 0,1 4 0,0 0 0,3-4 0,-2 6 0,5-4 0,-2 9 0,0-8 0,2 5 0,-1-9 0,1 2 0,0-1 0,0 1 0,0 0 0,-2 0 0,2-1 0,-2 0 0,2-1 0,0 1 0,0 1 0,0-1 0,0 3 0,0-3 0,0 1 0,0-1 0,2-5 0,-2-3 0,3-5 0,-1 0 0,0-1 0,0 0 0,-1-1 0,0-2 0,1 3 0,-2 1 0,0 2 0,0 1 0,0 1 0,0-1 0,-2 3 0,0-1 0,-1 3 0,0-1 0,0 1 0,0 0 0,0 0 0,-2 0 0,2 0 0,-2 0 0,0 2 0,2 1 0,-2 1 0,1 1 0,-2 2 0,1 0 0,-2 3 0,4-3 0,0 0 0,0-2 0,2 0 0,1-4 0,2-1 0,3-3 0,2-2 0,0-2 0,0 0 0,-2 1 0,-2-1 0,-1 1 0,-1 1 0,-2 2 0,-1 1 0,-22 18 0,11-8 0,-18 16 0,24-17 0,-2 3 0,9-6 0,-1 0 0,1-1 0,2 2 0,0-3 0,6 5 0,4-4 0,-3 2 0,3-1 0,2-4 0,-8 2 0,8-2 0,-10 0 0,1-2 0,-2 2 0,2-4 0,-2 0 0,5-9 0,-4 5 0,1-4 0,-3 7 0,-2 2 0,-2 1 0,1 1 0,-4 2 0,2 0 0,-3 3 0,2-2 0,-1 2 0,2-1 0,0 2 0,0 0 0,1 1 0,-1 3 0,1-2 0,0 0 0,2-5 0,2-1 0,7-10 0,-4 6 0,4-10 0,-6 7 0,2-10 0,-2 8 0,0-8 0,-2 10 0,-1-2 0,-1 6 0,-1 0 0,-2 4 0,0 1 0,1 0 0,2 0 0,1 1 0,0-1 0,1-2 0,2 1 0,1-2 0,-1-2 0,-2-1 0,-4-4 0,2 1 0,-4-1 0,3 4 0,0 0 0,-1 1 0,2-1 0,-3 1 0,0 1 0,0-2 0,-2 3 0,-1-2 0,1 2 0,-3 0 0,6 2 0,-2 1 0,3 0 0,0 0 0,1 0 0,1-3 0,6 2 0,-1-2 0,3 0 0,-4 0 0,1 0 0,-2-2 0,2 1 0,-2-3 0,0 1 0,0 0 0,0-1 0,-1 0 0,-1-1 0,-1 2 0,-1 0 0,-1 1 0,-1 0 0,-4-1 0,1 2 0,-10-1 0,-4 5 0,2-3 0,-27 7 0,23-6 0,-24 5 0,30-4 0,-2 3 0,13-2 0,5-1 0,0-1 0,23-1 0,-3 0 0,8 0 0,7 0 0,-19 0 0,7 0 0,-14 0 0,-4 0 0,-2-1 0,-1 0 0,-1-1 0,2 0 0,-2-1 0,2 1 0,0-1 0,-1 1 0,0-1 0,-4 0 0,0 1 0,-1 1 0,0 1 0,-1 0 0,-13 0 0,8 0 0,-12 0 0,12 0 0,-3 2 0,2-2 0,3 2 0,3-4 0,3 1 0,1-4 0,0 1 0,-1-1 0,0-3 0,0 3 0,1-4 0,0 2 0,0 0 0,0-2 0,0 2 0,0 1 0,0-17 0,0 11 0,0-12 0,-2 13 0,2 3 0,-4 1 0,4 3 0,-1 4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9T12:29:02.26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317 94 24575,'0'-5'0,"0"-1"0,0 3 0,0-2 0,0 0 0,0 0 0,0 1 0,0-1 0,0 2 0,-2 0 0,2-1 0,-2 1 0,1-1 0,1 0 0,-2 0 0,1 1 0,1-2 0,-3 3 0,2-2 0,0 2 0,1-1 0,0 0 0,0-1 0,0 1 0,1 1 0,1 2 0,1 4 0,2 0 0,-2 1 0,0 1 0,0-1 0,-1 1 0,0 1 0,0 2 0,-1-2 0,1 2 0,-1-4 0,0 1 0,-1-2 0,0 1 0,0 0 0,0-2 0,0 1 0,0 1 0,0 0 0,-1 1 0,0-1 0,0 1 0,1 0 0,0 1 0,0-2 0,0-1 0,0-1 0,0 0 0,0 0 0,0 1 0,0-1 0,0 0 0,0 0 0,-1 1 0,0 0 0,-2 0 0,2-2 0,-1 1 0,0-1 0,1 1 0,1 0 0,-3-1 0,1 0 0,-1 0 0,1 1 0,-1-1 0,2-1 0,-3-1 0,1 0 0,0-1 0,1-1 0,0-1 0,1 0 0,-2-2 0,2 2 0,-1-2 0,-1 1 0,3 0 0,-3-2 0,3 3 0,-2-6 0,2 4 0,0-6 0,0 5 0,0-1 0,0 3 0,-3 1 0,1 1 0,-4-1 0,1 3 0,0-2 0,-2 2 0,3 2 0,-2-1 0,4 2 0,1 1 0,1-1 0,0 1 0,0 4 0,0 1 0,0-1 0,0 8 0,2-7 0,0 5 0,1-5 0,0-3 0,0 0 0,0-1 0,1 0 0,-1-2 0,0-2 0,0-1 0,0-1 0,-1-3 0,0 0 0,0 0 0,2-4 0,-2 4 0,-1-3 0,-1 3 0,0 1 0,0 0 0,0 0 0,-1 0 0,-1-2 0,-2 2 0,0-1 0,-1 2 0,-1 0 0,1 0 0,-3 1 0,2 1 0,1 0 0,-1 0 0,3 1 0,-2 1 0,2 2 0,-2 0 0,1 2 0,-1-1 0,0 0 0,2 0 0,0-2 0,1 1 0,1-3 0,1 3 0,0-1 0,1-2 0,-1-1 0,3-3 0,-3 0 0,2-2 0,-2 2 0,-2 0 0,1 0 0,-3 1 0,0-1 0,-1 3 0,-1-2 0,-3 2 0,2 0 0,-1 0 0,4 0 0,2 2 0,1 1 0,1 0 0,-2 3 0,2-2 0,-2 2 0,2-3 0,0 2 0,0-1 0,0-1 0,3-1 0,-1-1 0,4-5 0,-1 2 0,0-1 0,1 0 0,-3 1 0,0-1 0,0 0 0,-2 0 0,1-2 0,0 0 0,0-3 0,-1-1 0,-1 2 0,0 0 0,0 4 0,0 0 0,-1 1 0,-1-1 0,-1 3 0,-2-3 0,2 3 0,-6-3 0,5 2 0,-3-1 0,4 1 0,0 1 0,0-2 0,1 4 0,-2-1 0,0 2 0,-1-1 0,1 1 0,-4 1 0,3-1 0,-3 3 0,2-3 0,2 0 0,-1 1 0,-4 2 0,5-1 0,-3 0 0,4-1 0,0-3 0,1 3 0,-1-3 0,1 3 0,0-2 0,2 0 0,4-4 0,0 0 0,1-1 0,0 0 0,-1 3 0,0-2 0,0 1 0,3-1 0,-1-1 0,3 1 0,-3-1 0,3 1 0,3-3 0,-2 1 0,-1-1 0,-5 3 0,-2-1 0,-1 1 0,1-1 0,-2-1 0,0 0 0,0-2 0,0 1 0,0-1 0,0-1 0,0 1 0,0 1 0,-2 2 0,1 2 0,-6-1 0,1 1 0,-1 0 0,1 1 0,-6 2 0,1 0 0,-3 3 0,5-2 0,0 1 0,-12 8 0,8-7 0,-8 9 0,15-11 0,1 0 0,2 0 0,1-1 0,1 1 0,1 0 0,-2 1 0,2 0 0,0 2 0,2-1 0,-1 0 0,1-1 0,1 1 0,0-1 0,0 1 0,2-2 0,-2-1 0,0-2 0,0-2 0,0 2 0,2-3 0,0 1 0,0-1 0,1 0 0,-2 0 0,1 0 0,1 0 0,-1-1 0,0 1 0,1-1 0,-3 0 0,3 0 0,-4 0 0,3 3 0,-4-3 0,1 1 0,-1-1 0,1 1 0,-2 0 0,2-1 0,-1 1 0,-1 0 0,2 0 0,-4 0 0,0 1 0,-1 1 0,-4 1 0,3 0 0,-3 0 0,2 1 0,2-1 0,-2 3 0,2-1 0,0 1 0,-4 2 0,4 0 0,-4 1 0,6 0 0,-1-3 0,0 2 0,2-2 0,0 0 0,2 1 0,1 1 0,0 0 0,2 0 0,-2-2 0,0-2 0,0 2 0,0-1 0,2 0 0,-2-1 0,3-1 0,-2 1 0,2 0 0,-1 0 0,1-2 0,0-1 0,0-1 0,1-2 0,-1 0 0,0 0 0,-1-1 0,0 3 0,-2-3 0,-2 2 0,1 0 0,-2-1 0,0 2 0,0-2 0,0 2 0,0 0 0,-2 0 0,2 0 0,-3 1 0,3-1 0,-3 3 0,1-3 0,-1 2 0,-1 0 0,-1 1 0,0 0 0,-8 0 0,6 0 0,-5 0 0,7 1 0,1 0 0,2 2 0,-3-3 0,5 3 0,-1 0 0,2 0 0,1 0 0,1 0 0,-1-1 0,0 1 0,0 0 0,1 0 0,0-1 0,0 1 0,1-3 0,-1 1 0,1-1 0,0 0 0,2 0 0,-2-1 0,1 1 0,0-3 0,-2 3 0,0-5 0,0 3 0,-1-2 0,1 2 0,-3-1 0,0 3 0,-3-3 0,-2 3 0,-1-3 0,-1 2 0,1 0 0,1 1 0,0 0 0,2 0 0,1 1 0,0 0 0,1 1 0,0 2 0,-1-1 0,2 2 0,-1-1 0,-1 1 0,2 0 0,-1-1 0,1-1 0,0 1 0,0 0 0,1-2 0,1 4 0,1-4 0,0 2 0,1-1 0,0 1 0,0-3 0,-1 1 0,1-2 0,-1 0 0,1 0 0,0-2 0,0 0 0,-1 1 0,0-2 0,1 1 0,-1-2 0,0-1 0,0-4 0,0 2 0,0-2 0,-2-2 0,-1 4 0,0-2 0,0 4 0,-1 2 0,0 0 0,-2 0 0,2 0 0,-3 1 0,1-1 0,0 3 0,0-2 0,0 2 0,-2 0 0,0 0 0,-1 0 0,0 0 0,-1 0 0,1 0 0,1 0 0,2 2 0,0-2 0,3 3 0,-3-3 0,3 4 0,-3-2 0,2 3 0,-1-2 0,1 0 0,0 0 0,1 0 0,0 1 0,0-3 0,0 1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21.11.2025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2521422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R" dirty="0"/>
          </a:p>
          <a:p>
            <a:r>
              <a:rPr lang="en-GB" b="1" dirty="0"/>
              <a:t>Whole Slide Images (WSIs)</a:t>
            </a:r>
            <a:r>
              <a:rPr lang="en-GB" dirty="0"/>
              <a:t> are </a:t>
            </a:r>
            <a:r>
              <a:rPr lang="en-GB" b="1" dirty="0"/>
              <a:t>high-resolution, digital scans of entire microscope slides</a:t>
            </a:r>
            <a:r>
              <a:rPr lang="en-GB" dirty="0"/>
              <a:t> containing tissue samples.</a:t>
            </a:r>
          </a:p>
          <a:p>
            <a:endParaRPr lang="en-GR" dirty="0"/>
          </a:p>
          <a:p>
            <a:r>
              <a:rPr lang="en-GR" dirty="0"/>
              <a:t>SLIDES ARE STAINED FOR VISIBILITY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3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0557657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dirty="0"/>
              <a:t>Digital pathology relies on scanners to convert glass slides into WSIs.</a:t>
            </a:r>
          </a:p>
          <a:p>
            <a:r>
              <a:rPr lang="en-US" dirty="0"/>
              <a:t>But every scanner manufacturer uses different optical systems, sensors, and color calibrations.</a:t>
            </a:r>
          </a:p>
          <a:p>
            <a:r>
              <a:rPr lang="en-US" dirty="0"/>
              <a:t>As a result, two slides from the same tissue can look noticeably different depending on the device.</a:t>
            </a:r>
          </a:p>
          <a:p>
            <a:endParaRPr lang="en-US" dirty="0"/>
          </a:p>
          <a:p>
            <a:r>
              <a:rPr lang="en-US" dirty="0"/>
              <a:t>For humans, this variation is small.</a:t>
            </a:r>
          </a:p>
          <a:p>
            <a:endParaRPr lang="en-US" dirty="0"/>
          </a:p>
          <a:p>
            <a:r>
              <a:rPr lang="en-US" dirty="0"/>
              <a:t>For deep learning models, however, these differences are significant.</a:t>
            </a:r>
          </a:p>
          <a:p>
            <a:r>
              <a:rPr lang="en-US" dirty="0"/>
              <a:t>AI models learn from pixel-level statistics.</a:t>
            </a:r>
          </a:p>
          <a:p>
            <a:r>
              <a:rPr lang="en-US" dirty="0"/>
              <a:t>When the color distribution or texture changes, the model sees this as a different domain altogether.</a:t>
            </a:r>
          </a:p>
          <a:p>
            <a:endParaRPr lang="en-US" dirty="0"/>
          </a:p>
          <a:p>
            <a:r>
              <a:rPr lang="en-US" dirty="0"/>
              <a:t>This is known as domain shift:</a:t>
            </a:r>
          </a:p>
          <a:p>
            <a:endParaRPr lang="en-US" dirty="0"/>
          </a:p>
          <a:p>
            <a:r>
              <a:rPr lang="en-US" dirty="0"/>
              <a:t>- Training data comes from one distribution</a:t>
            </a:r>
          </a:p>
          <a:p>
            <a:endParaRPr lang="en-US" dirty="0"/>
          </a:p>
          <a:p>
            <a:r>
              <a:rPr lang="en-US" dirty="0"/>
              <a:t>- Testing data comes from a different one</a:t>
            </a:r>
          </a:p>
          <a:p>
            <a:endParaRPr lang="en-US" dirty="0"/>
          </a:p>
          <a:p>
            <a:r>
              <a:rPr lang="en-US" dirty="0"/>
              <a:t>-&gt; The model struggles to generalize because it expects the training style</a:t>
            </a:r>
          </a:p>
          <a:p>
            <a:endParaRPr lang="en-US" dirty="0"/>
          </a:p>
          <a:p>
            <a:r>
              <a:rPr lang="en-US" dirty="0"/>
              <a:t>In real hospitals, this is a critical limitation. A model might perform extremely well on images from one scanner but fail on a new scanner the hospital acquires.</a:t>
            </a:r>
          </a:p>
          <a:p>
            <a:r>
              <a:rPr lang="en-US" dirty="0"/>
              <a:t>This lack of robustness prevents AI tools from being used reliably across institutions.</a:t>
            </a:r>
          </a:p>
          <a:p>
            <a:endParaRPr lang="en-US" dirty="0"/>
          </a:p>
          <a:p>
            <a:r>
              <a:rPr lang="en-US" dirty="0"/>
              <a:t>The COSAS challenge is built around this exact problem.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dirty="0"/>
              <a:t>“In digital pathology, one of the biggest challenges is building models that work reliably across different scanners.</a:t>
            </a:r>
          </a:p>
          <a:p>
            <a:endParaRPr lang="en-US" dirty="0"/>
          </a:p>
          <a:p>
            <a:r>
              <a:rPr lang="en-US" dirty="0"/>
              <a:t>Traditional CNNs have been extremely successful for tasks like nuclei detection and </a:t>
            </a:r>
            <a:r>
              <a:rPr lang="en-US" dirty="0" err="1"/>
              <a:t>tumour</a:t>
            </a:r>
            <a:r>
              <a:rPr lang="en-US" dirty="0"/>
              <a:t> segmentation because they capture local details very well.</a:t>
            </a:r>
          </a:p>
          <a:p>
            <a:r>
              <a:rPr lang="en-GB" b="1" dirty="0"/>
              <a:t>CNNs slide a small filter</a:t>
            </a:r>
            <a:r>
              <a:rPr lang="en-GB" dirty="0"/>
              <a:t> (e.g., 3×3 or 5×5) across the image</a:t>
            </a:r>
            <a:br>
              <a:rPr lang="en-GB" dirty="0"/>
            </a:br>
            <a:r>
              <a:rPr lang="en-GB" dirty="0"/>
              <a:t>→ Detect </a:t>
            </a:r>
            <a:r>
              <a:rPr lang="en-GB" b="1" dirty="0"/>
              <a:t>edges, textures, nuclei</a:t>
            </a:r>
          </a:p>
          <a:p>
            <a:endParaRPr lang="en-US" dirty="0"/>
          </a:p>
          <a:p>
            <a:r>
              <a:rPr lang="en-GB" dirty="0"/>
              <a:t>They apply </a:t>
            </a:r>
            <a:r>
              <a:rPr lang="en-GB" b="1" dirty="0"/>
              <a:t>convolutions</a:t>
            </a:r>
            <a:r>
              <a:rPr lang="en-GB" dirty="0"/>
              <a:t> → local feature extraction</a:t>
            </a:r>
          </a:p>
          <a:p>
            <a:r>
              <a:rPr lang="en-GB" dirty="0"/>
              <a:t>Then </a:t>
            </a:r>
            <a:r>
              <a:rPr lang="en-GB" b="1" dirty="0"/>
              <a:t>pooling</a:t>
            </a:r>
            <a:r>
              <a:rPr lang="en-GB" dirty="0"/>
              <a:t> → reduces resolution, keeps only strongest features</a:t>
            </a:r>
          </a:p>
          <a:p>
            <a:r>
              <a:rPr lang="en-GB" dirty="0"/>
              <a:t>Finally </a:t>
            </a:r>
            <a:r>
              <a:rPr lang="en-GB" b="1" dirty="0"/>
              <a:t>fully connected layers</a:t>
            </a:r>
            <a:r>
              <a:rPr lang="en-GB" dirty="0"/>
              <a:t> → make a classification decision</a:t>
            </a:r>
          </a:p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GR" b="1" dirty="0"/>
              <a:t>🟣 </a:t>
            </a:r>
            <a:r>
              <a:rPr lang="en-GB" b="1" dirty="0"/>
              <a:t>What </a:t>
            </a:r>
            <a:r>
              <a:rPr lang="en-GB" b="1" dirty="0" err="1"/>
              <a:t>ViTs</a:t>
            </a:r>
            <a:r>
              <a:rPr lang="en-GB" b="1" dirty="0"/>
              <a:t> do</a:t>
            </a:r>
          </a:p>
          <a:p>
            <a:r>
              <a:rPr lang="en-GB" dirty="0"/>
              <a:t>Split the image into </a:t>
            </a:r>
            <a:r>
              <a:rPr lang="en-GB" b="1" dirty="0"/>
              <a:t>patches</a:t>
            </a:r>
            <a:r>
              <a:rPr lang="en-GB" dirty="0"/>
              <a:t> (e.g., 14×14)</a:t>
            </a:r>
          </a:p>
          <a:p>
            <a:r>
              <a:rPr lang="en-GB" dirty="0"/>
              <a:t>Treat each patch like a “token”, similar to words in NLP</a:t>
            </a:r>
          </a:p>
          <a:p>
            <a:r>
              <a:rPr lang="en-GB" dirty="0"/>
              <a:t>Use </a:t>
            </a:r>
            <a:r>
              <a:rPr lang="en-GB" b="1" dirty="0"/>
              <a:t>self-attention</a:t>
            </a:r>
            <a:r>
              <a:rPr lang="en-GB" dirty="0"/>
              <a:t> to let every patch communicate with every other patch</a:t>
            </a:r>
            <a:br>
              <a:rPr lang="en-GB" dirty="0"/>
            </a:br>
            <a:r>
              <a:rPr lang="en-GB" dirty="0"/>
              <a:t>→ Model sees </a:t>
            </a:r>
            <a:r>
              <a:rPr lang="en-GB" b="1" dirty="0"/>
              <a:t>global context from the start</a:t>
            </a:r>
          </a:p>
          <a:p>
            <a:endParaRPr lang="en-GB" dirty="0"/>
          </a:p>
          <a:p>
            <a:r>
              <a:rPr lang="en-GR" b="1" dirty="0"/>
              <a:t>🟣 </a:t>
            </a:r>
            <a:r>
              <a:rPr lang="en-GB" b="1" dirty="0"/>
              <a:t>Why </a:t>
            </a:r>
            <a:r>
              <a:rPr lang="en-GB" b="1" dirty="0" err="1"/>
              <a:t>ViTs</a:t>
            </a:r>
            <a:r>
              <a:rPr lang="en-GB" b="1" dirty="0"/>
              <a:t> are powerful</a:t>
            </a:r>
          </a:p>
          <a:p>
            <a:r>
              <a:rPr lang="en-GB" dirty="0"/>
              <a:t>Capture relationships across the </a:t>
            </a:r>
            <a:r>
              <a:rPr lang="en-GB" b="1" dirty="0"/>
              <a:t>entire image at once</a:t>
            </a:r>
            <a:endParaRPr lang="en-GB" dirty="0"/>
          </a:p>
          <a:p>
            <a:r>
              <a:rPr lang="en-GB" dirty="0"/>
              <a:t>Not biased toward local textures (unlike CNNs)</a:t>
            </a:r>
          </a:p>
          <a:p>
            <a:r>
              <a:rPr lang="en-GB" dirty="0"/>
              <a:t>Better at dealing with </a:t>
            </a:r>
            <a:r>
              <a:rPr lang="en-GB" b="1" dirty="0"/>
              <a:t>shape</a:t>
            </a:r>
            <a:r>
              <a:rPr lang="en-GB" dirty="0"/>
              <a:t>, </a:t>
            </a:r>
            <a:r>
              <a:rPr lang="en-GB" b="1" dirty="0"/>
              <a:t>structure</a:t>
            </a:r>
            <a:r>
              <a:rPr lang="en-GB" dirty="0"/>
              <a:t>, and </a:t>
            </a:r>
            <a:r>
              <a:rPr lang="en-GB" b="1" dirty="0"/>
              <a:t>long-range patterns</a:t>
            </a:r>
          </a:p>
          <a:p>
            <a:endParaRPr lang="en-GB" dirty="0"/>
          </a:p>
          <a:p>
            <a:r>
              <a:rPr lang="en-GR" b="1" dirty="0"/>
              <a:t>🟣 </a:t>
            </a:r>
            <a:r>
              <a:rPr lang="en-GB" b="1" dirty="0"/>
              <a:t>Why </a:t>
            </a:r>
            <a:r>
              <a:rPr lang="en-GB" b="1" dirty="0" err="1"/>
              <a:t>ViTs</a:t>
            </a:r>
            <a:r>
              <a:rPr lang="en-GB" b="1" dirty="0"/>
              <a:t> help in pathology</a:t>
            </a:r>
          </a:p>
          <a:p>
            <a:r>
              <a:rPr lang="en-GB" dirty="0" err="1"/>
              <a:t>Tumor</a:t>
            </a:r>
            <a:r>
              <a:rPr lang="en-GB" dirty="0"/>
              <a:t> structure depends on </a:t>
            </a:r>
            <a:r>
              <a:rPr lang="en-GB" b="1" dirty="0"/>
              <a:t>global architecture</a:t>
            </a:r>
            <a:r>
              <a:rPr lang="en-GB" dirty="0"/>
              <a:t>, not just texture</a:t>
            </a:r>
          </a:p>
          <a:p>
            <a:r>
              <a:rPr lang="en-GB" dirty="0"/>
              <a:t>Self-attention adapts better to </a:t>
            </a:r>
            <a:r>
              <a:rPr lang="en-GB" b="1" dirty="0"/>
              <a:t>colour changes</a:t>
            </a:r>
            <a:r>
              <a:rPr lang="en-GB" dirty="0"/>
              <a:t> across scanners</a:t>
            </a:r>
          </a:p>
          <a:p>
            <a:r>
              <a:rPr lang="en-GB" dirty="0"/>
              <a:t>Backbone becomes more </a:t>
            </a:r>
            <a:r>
              <a:rPr lang="en-GB" b="1" dirty="0"/>
              <a:t>scanner-robust</a:t>
            </a:r>
            <a:r>
              <a:rPr lang="en-GB" dirty="0"/>
              <a:t> than CNNs</a:t>
            </a:r>
          </a:p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GB" b="1" dirty="0"/>
              <a:t>Domain generalization (DG): the ability of a model to perform</a:t>
            </a:r>
          </a:p>
          <a:p>
            <a:r>
              <a:rPr lang="en-GB" b="1" dirty="0"/>
              <a:t>well on unseen target domains, when trained on source</a:t>
            </a:r>
          </a:p>
          <a:p>
            <a:r>
              <a:rPr lang="en-GB" b="1" dirty="0"/>
              <a:t>domains</a:t>
            </a:r>
          </a:p>
          <a:p>
            <a:r>
              <a:rPr lang="en-GB" dirty="0"/>
              <a:t>Train a model on several “domains” (e.g., scanners)</a:t>
            </a:r>
          </a:p>
          <a:p>
            <a:r>
              <a:rPr lang="en-GB" dirty="0"/>
              <a:t>Goal: perform well on </a:t>
            </a:r>
            <a:r>
              <a:rPr lang="en-GB" b="1" dirty="0"/>
              <a:t>brand-new scanners</a:t>
            </a:r>
            <a:r>
              <a:rPr lang="en-GB" dirty="0"/>
              <a:t> the model never saw</a:t>
            </a:r>
          </a:p>
          <a:p>
            <a:endParaRPr lang="en-GB" dirty="0"/>
          </a:p>
          <a:p>
            <a:r>
              <a:rPr lang="en-GR" b="1" dirty="0"/>
              <a:t>🟤 </a:t>
            </a:r>
            <a:r>
              <a:rPr lang="en-GB" b="1" dirty="0"/>
              <a:t>Why DG is hard in pathology</a:t>
            </a:r>
          </a:p>
          <a:p>
            <a:r>
              <a:rPr lang="en-GB" dirty="0"/>
              <a:t>Colour, brightness, contrast, stain intensity vary a lot</a:t>
            </a:r>
          </a:p>
          <a:p>
            <a:r>
              <a:rPr lang="en-GB" dirty="0"/>
              <a:t>Morphology stays the same, but the </a:t>
            </a:r>
            <a:r>
              <a:rPr lang="en-GB" b="1" dirty="0"/>
              <a:t>appearance changes</a:t>
            </a:r>
            <a:endParaRPr lang="en-GB" dirty="0"/>
          </a:p>
          <a:p>
            <a:r>
              <a:rPr lang="en-GB" dirty="0"/>
              <a:t>Models often learn scanner-specific colour shortcuts</a:t>
            </a:r>
            <a:br>
              <a:rPr lang="en-GB" dirty="0"/>
            </a:br>
            <a:r>
              <a:rPr lang="en-GB" dirty="0"/>
              <a:t>→ and fail when the scanner changes</a:t>
            </a:r>
          </a:p>
          <a:p>
            <a:endParaRPr lang="en-GB" dirty="0"/>
          </a:p>
          <a:p>
            <a:r>
              <a:rPr lang="en-GR" b="1" dirty="0"/>
              <a:t>🟤 </a:t>
            </a:r>
            <a:r>
              <a:rPr lang="en-GB" b="1" dirty="0"/>
              <a:t>What DG techniques aim to do</a:t>
            </a:r>
          </a:p>
          <a:p>
            <a:r>
              <a:rPr lang="en-GB" dirty="0"/>
              <a:t>Learn </a:t>
            </a:r>
            <a:r>
              <a:rPr lang="en-GB" b="1" dirty="0"/>
              <a:t>domain-invariant features</a:t>
            </a:r>
            <a:br>
              <a:rPr lang="en-GB" dirty="0"/>
            </a:br>
            <a:r>
              <a:rPr lang="en-GB" dirty="0"/>
              <a:t>(shapes, gland boundaries, nuclei patterns)</a:t>
            </a:r>
          </a:p>
          <a:p>
            <a:r>
              <a:rPr lang="en-GB" dirty="0"/>
              <a:t>Reduce reliance on colour</a:t>
            </a:r>
          </a:p>
          <a:p>
            <a:r>
              <a:rPr lang="en-GB" dirty="0"/>
              <a:t>Improve </a:t>
            </a:r>
            <a:r>
              <a:rPr lang="en-GB" b="1" dirty="0"/>
              <a:t>robustness and generalization</a:t>
            </a:r>
            <a:r>
              <a:rPr lang="en-GB" dirty="0"/>
              <a:t> to unseen scanners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GR" b="1" dirty="0"/>
              <a:t>🔵 </a:t>
            </a:r>
            <a:r>
              <a:rPr lang="en-GB" b="1" dirty="0"/>
              <a:t>What they are</a:t>
            </a:r>
          </a:p>
          <a:p>
            <a:r>
              <a:rPr lang="en-GB" dirty="0"/>
              <a:t>Vision Transformers trained on </a:t>
            </a:r>
            <a:r>
              <a:rPr lang="en-GB" b="1" dirty="0"/>
              <a:t>millions of histology tiles</a:t>
            </a:r>
            <a:endParaRPr lang="en-GB" dirty="0"/>
          </a:p>
          <a:p>
            <a:r>
              <a:rPr lang="en-GB" dirty="0"/>
              <a:t>Learn universal, stain-invariant </a:t>
            </a:r>
            <a:r>
              <a:rPr lang="en-GB" b="1" dirty="0"/>
              <a:t>tissue representations</a:t>
            </a:r>
            <a:endParaRPr lang="en-GB" dirty="0"/>
          </a:p>
          <a:p>
            <a:r>
              <a:rPr lang="en-GB" dirty="0"/>
              <a:t>Examples: </a:t>
            </a:r>
            <a:r>
              <a:rPr lang="en-GB" b="1" dirty="0"/>
              <a:t>UNI2-H, Virchow2, Midnight</a:t>
            </a:r>
          </a:p>
          <a:p>
            <a:endParaRPr lang="en-GB" dirty="0"/>
          </a:p>
          <a:p>
            <a:r>
              <a:rPr lang="en-GR" b="1" dirty="0"/>
              <a:t>🔵 </a:t>
            </a:r>
            <a:r>
              <a:rPr lang="en-GB" b="1" dirty="0"/>
              <a:t>Why they are a big shift</a:t>
            </a:r>
          </a:p>
          <a:p>
            <a:r>
              <a:rPr lang="en-GB" dirty="0"/>
              <a:t>Capture both </a:t>
            </a:r>
            <a:r>
              <a:rPr lang="en-GB" b="1" dirty="0"/>
              <a:t>local</a:t>
            </a:r>
            <a:r>
              <a:rPr lang="en-GB" dirty="0"/>
              <a:t> (nuclei) and </a:t>
            </a:r>
            <a:r>
              <a:rPr lang="en-GB" b="1" dirty="0"/>
              <a:t>global</a:t>
            </a:r>
            <a:r>
              <a:rPr lang="en-GB" dirty="0"/>
              <a:t> (tissue layout) info</a:t>
            </a:r>
          </a:p>
          <a:p>
            <a:r>
              <a:rPr lang="en-GB" dirty="0"/>
              <a:t>Much more robust to scanner differences than CNNs</a:t>
            </a:r>
          </a:p>
          <a:p>
            <a:r>
              <a:rPr lang="en-GB" dirty="0"/>
              <a:t>Can be </a:t>
            </a:r>
            <a:r>
              <a:rPr lang="en-GB" b="1" dirty="0"/>
              <a:t>fine-tuned</a:t>
            </a:r>
            <a:r>
              <a:rPr lang="en-GB" dirty="0"/>
              <a:t> for segmentation with fewer labels</a:t>
            </a:r>
          </a:p>
          <a:p>
            <a:endParaRPr lang="en-GB" dirty="0"/>
          </a:p>
          <a:p>
            <a:r>
              <a:rPr lang="en-GR" b="1" dirty="0"/>
              <a:t>🔵 </a:t>
            </a:r>
            <a:r>
              <a:rPr lang="en-GB" b="1" dirty="0"/>
              <a:t>Why they matter for scanner-robust pathology</a:t>
            </a:r>
          </a:p>
          <a:p>
            <a:r>
              <a:rPr lang="en-GB" dirty="0"/>
              <a:t>Pretraining on many hospitals teaches</a:t>
            </a:r>
            <a:br>
              <a:rPr lang="en-GB" dirty="0"/>
            </a:br>
            <a:r>
              <a:rPr lang="en-GB" b="1" dirty="0"/>
              <a:t>colour diversity → scanner robustness</a:t>
            </a:r>
            <a:endParaRPr lang="en-GB" dirty="0"/>
          </a:p>
          <a:p>
            <a:r>
              <a:rPr lang="en-GB" dirty="0"/>
              <a:t>They already understand structures like</a:t>
            </a:r>
            <a:br>
              <a:rPr lang="en-GB" dirty="0"/>
            </a:br>
            <a:r>
              <a:rPr lang="en-GB" b="1" dirty="0"/>
              <a:t>glands, stroma, tumour patterns</a:t>
            </a:r>
            <a:endParaRPr lang="en-GB" dirty="0"/>
          </a:p>
          <a:p>
            <a:r>
              <a:rPr lang="en-GB" dirty="0"/>
              <a:t>They provide strong, stable features → better DG performance</a:t>
            </a:r>
          </a:p>
          <a:p>
            <a:br>
              <a:rPr lang="en-GB" dirty="0"/>
            </a:br>
            <a:endParaRPr lang="en-GB" dirty="0"/>
          </a:p>
          <a:p>
            <a:endParaRPr lang="en-US" dirty="0"/>
          </a:p>
          <a:p>
            <a:r>
              <a:rPr lang="en-US" dirty="0"/>
              <a:t>Models like UNI, Virchow2, and Midnight follow this strategy:</a:t>
            </a:r>
          </a:p>
          <a:p>
            <a:endParaRPr lang="en-US" dirty="0"/>
          </a:p>
          <a:p>
            <a:r>
              <a:rPr lang="en-US" dirty="0"/>
              <a:t>UNI is trained purely within the pathology domain, on over 100 million tiles. It learns features that work across many tissue types and downstream tasks.</a:t>
            </a:r>
          </a:p>
          <a:p>
            <a:endParaRPr lang="en-US" dirty="0"/>
          </a:p>
          <a:p>
            <a:r>
              <a:rPr lang="en-US" dirty="0"/>
              <a:t>Virchow2 uses mixed magnification during pretraining, so it sees the same tissue region at different zoom levels (5×, 10×, 20×). This helps it capture both cellular detail and larger tissue architecture.</a:t>
            </a:r>
          </a:p>
          <a:p>
            <a:endParaRPr lang="en-US" dirty="0"/>
          </a:p>
          <a:p>
            <a:r>
              <a:rPr lang="en-US" dirty="0"/>
              <a:t>Midnight focuses on data efficiency: it uses far fewer slides than UNI or Virchow2, but with strong regularization and augmentation to still learn robust features.</a:t>
            </a:r>
          </a:p>
          <a:p>
            <a:endParaRPr lang="en-US" dirty="0"/>
          </a:p>
          <a:p>
            <a:r>
              <a:rPr lang="en-US" dirty="0"/>
              <a:t>Because these models are trained on such diverse data — different scanners, staining protocols, and organs — their internal representations become naturally scanner-robust.</a:t>
            </a:r>
          </a:p>
          <a:p>
            <a:r>
              <a:rPr lang="en-US" dirty="0"/>
              <a:t>Instead of learning the style of one device, they learn stable morphological patterns like nuclei shapes, gland structures, and </a:t>
            </a:r>
            <a:r>
              <a:rPr lang="en-US" dirty="0" err="1"/>
              <a:t>tumour</a:t>
            </a:r>
            <a:r>
              <a:rPr lang="en-US" dirty="0"/>
              <a:t> textures.</a:t>
            </a:r>
          </a:p>
          <a:p>
            <a:endParaRPr lang="en-US" dirty="0"/>
          </a:p>
          <a:p>
            <a:r>
              <a:rPr lang="en-US" dirty="0"/>
              <a:t>In practice, we then freeze or lightly fine-tune these encoders and add a task-specific head for segmentation or classification.</a:t>
            </a:r>
          </a:p>
          <a:p>
            <a:r>
              <a:rPr lang="en-US" dirty="0"/>
              <a:t>This lets us reach strong performance even when we only have a relatively small labelled dataset — like the 180 images in COSAS.</a:t>
            </a:r>
          </a:p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dirty="0"/>
              <a:t>- - </a:t>
            </a:r>
            <a:r>
              <a:rPr lang="en-GB" b="1" dirty="0"/>
              <a:t>Why DeepLabV3 Was Chosen</a:t>
            </a:r>
          </a:p>
          <a:p>
            <a:r>
              <a:rPr lang="en-GR" b="1" dirty="0"/>
              <a:t>🔴 1. </a:t>
            </a:r>
            <a:r>
              <a:rPr lang="en-GB" b="1" dirty="0"/>
              <a:t>DeepLabV3 is a proven, high-performing baseline</a:t>
            </a:r>
          </a:p>
          <a:p>
            <a:r>
              <a:rPr lang="en-GB" b="1" dirty="0"/>
              <a:t>One of the most cited segmentation architectures</a:t>
            </a:r>
            <a:r>
              <a:rPr lang="en-GB" dirty="0"/>
              <a:t> in computer vision, PAPERS</a:t>
            </a:r>
          </a:p>
          <a:p>
            <a:pPr lvl="1"/>
            <a:r>
              <a:rPr lang="en-GB" dirty="0"/>
              <a:t>Gastric cancer segmentation (Wang &amp; Liu, 2021)</a:t>
            </a:r>
          </a:p>
          <a:p>
            <a:pPr lvl="1"/>
            <a:r>
              <a:rPr lang="en-GB" dirty="0"/>
              <a:t>Nuclei segmentation improvements</a:t>
            </a:r>
          </a:p>
          <a:p>
            <a:pPr lvl="1"/>
            <a:r>
              <a:rPr lang="en-GB" dirty="0"/>
              <a:t>Cross-domain histopathology segmentation</a:t>
            </a:r>
            <a:br>
              <a:rPr lang="en-GB" dirty="0"/>
            </a:br>
            <a:endParaRPr lang="en-GB" dirty="0"/>
          </a:p>
          <a:p>
            <a:r>
              <a:rPr lang="en-GR" b="1" dirty="0"/>
              <a:t>🔴 2. </a:t>
            </a:r>
            <a:r>
              <a:rPr lang="en-GB" b="1" dirty="0"/>
              <a:t>ASPP gives essential multi-scale reasoning</a:t>
            </a:r>
            <a:endParaRPr lang="en-GB" dirty="0"/>
          </a:p>
          <a:p>
            <a:r>
              <a:rPr lang="en-GR" b="1" dirty="0"/>
              <a:t>🔴 3. </a:t>
            </a:r>
            <a:r>
              <a:rPr lang="en-GB" b="1" dirty="0"/>
              <a:t>Works extremely well with </a:t>
            </a:r>
            <a:r>
              <a:rPr lang="en-GB" b="1" dirty="0" err="1"/>
              <a:t>ViT</a:t>
            </a:r>
            <a:r>
              <a:rPr lang="en-GB" b="1" dirty="0"/>
              <a:t> / foundation encoders</a:t>
            </a:r>
            <a:endParaRPr lang="en-GB" dirty="0"/>
          </a:p>
          <a:p>
            <a:r>
              <a:rPr lang="en-GR" b="1" dirty="0"/>
              <a:t>🔴 4. </a:t>
            </a:r>
            <a:r>
              <a:rPr lang="en-GB" b="1" dirty="0"/>
              <a:t>Computationally efficient for 1500×1500 pathology tiles</a:t>
            </a:r>
          </a:p>
          <a:p>
            <a:r>
              <a:rPr lang="en-GB" dirty="0"/>
              <a:t>Unlike heavy decoders (U-Net++, </a:t>
            </a:r>
            <a:r>
              <a:rPr lang="en-GB" dirty="0" err="1"/>
              <a:t>SegFormer</a:t>
            </a:r>
            <a:r>
              <a:rPr lang="en-GB" dirty="0"/>
              <a:t>, UNETR): MANY SKIP CONNECTIONS, he model would receive no skip connections</a:t>
            </a:r>
            <a:br>
              <a:rPr lang="en-GB" dirty="0"/>
            </a:br>
            <a:endParaRPr lang="en-GB" dirty="0"/>
          </a:p>
          <a:p>
            <a:r>
              <a:rPr lang="en-GR" b="1" dirty="0"/>
              <a:t>🔴 6. </a:t>
            </a:r>
            <a:r>
              <a:rPr lang="en-GB" b="1" dirty="0"/>
              <a:t>Fits perfectly with the goal of the thesis</a:t>
            </a:r>
          </a:p>
          <a:p>
            <a:r>
              <a:rPr lang="en-GB" dirty="0"/>
              <a:t>The thesis focuses on </a:t>
            </a:r>
            <a:r>
              <a:rPr lang="en-GB" b="1" dirty="0"/>
              <a:t>foundation encoders + decoder comparison</a:t>
            </a:r>
            <a:endParaRPr lang="en-GB" dirty="0"/>
          </a:p>
          <a:p>
            <a:r>
              <a:rPr lang="en-GB" dirty="0"/>
              <a:t>DeepLabV3 gives you:</a:t>
            </a:r>
          </a:p>
          <a:p>
            <a:pPr lvl="1"/>
            <a:r>
              <a:rPr lang="en-GB" dirty="0"/>
              <a:t>A </a:t>
            </a:r>
            <a:r>
              <a:rPr lang="en-GB" b="1" dirty="0"/>
              <a:t>clean, interpretable decoder</a:t>
            </a:r>
            <a:endParaRPr lang="en-GB" dirty="0"/>
          </a:p>
          <a:p>
            <a:pPr lvl="1"/>
            <a:r>
              <a:rPr lang="en-GB" dirty="0"/>
              <a:t>Reacts clearly to architectural changes</a:t>
            </a:r>
          </a:p>
          <a:p>
            <a:pPr lvl="1"/>
            <a:r>
              <a:rPr lang="en-GB" dirty="0"/>
              <a:t>Helps isolate the effect of </a:t>
            </a:r>
            <a:r>
              <a:rPr lang="en-GB" b="1" dirty="0"/>
              <a:t>multi-scale fusion</a:t>
            </a:r>
            <a:r>
              <a:rPr lang="en-GB" dirty="0"/>
              <a:t>, </a:t>
            </a:r>
            <a:r>
              <a:rPr lang="en-GB" b="1" dirty="0"/>
              <a:t>FPN</a:t>
            </a:r>
            <a:r>
              <a:rPr lang="en-GB" dirty="0"/>
              <a:t>, </a:t>
            </a:r>
            <a:r>
              <a:rPr lang="en-GB" b="1" dirty="0"/>
              <a:t>queries</a:t>
            </a:r>
            <a:r>
              <a:rPr lang="en-GB" dirty="0"/>
              <a:t>, etc.</a:t>
            </a:r>
          </a:p>
          <a:p>
            <a:r>
              <a:rPr lang="en-GB" dirty="0"/>
              <a:t>Ideal baseline to study how decoder design affects </a:t>
            </a:r>
            <a:r>
              <a:rPr lang="en-GB" b="1" dirty="0"/>
              <a:t>cross-scanner generalization</a:t>
            </a:r>
            <a:endParaRPr lang="en-GB" dirty="0"/>
          </a:p>
          <a:p>
            <a:br>
              <a:rPr lang="en-GB" dirty="0"/>
            </a:br>
            <a:endParaRPr lang="en-GB" dirty="0"/>
          </a:p>
          <a:p>
            <a:endParaRPr lang="en-GB" dirty="0"/>
          </a:p>
          <a:p>
            <a:r>
              <a:rPr lang="en-GB" dirty="0"/>
              <a:t>ASPP repeatedly shown to improve boundary precision under stain shifts</a:t>
            </a:r>
          </a:p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dirty="0"/>
              <a:t>“The dataset consists of RGB histopathology image patches in 8-bit PNG format.</a:t>
            </a:r>
          </a:p>
          <a:p>
            <a:r>
              <a:rPr lang="en-US" dirty="0"/>
              <a:t>Each patch is approximately 1500 by 1500 pixels and corresponds to 20× optical magnification, which gives us a high level of detail at the cellular level. All patches have a nearly square aspect ratio and consistent spatial resolution, which simplifies the preprocessing pipeline.</a:t>
            </a:r>
          </a:p>
          <a:p>
            <a:endParaRPr lang="en-US" dirty="0"/>
          </a:p>
          <a:p>
            <a:r>
              <a:rPr lang="en-US" dirty="0"/>
              <a:t>However, the key challenge is that the visual appearance varies significantly across scanners.</a:t>
            </a:r>
          </a:p>
          <a:p>
            <a:r>
              <a:rPr lang="en-US" dirty="0"/>
              <a:t>Some scanners produce warmer, brighter tones, while others generate cooler, darker, or more desaturated images. These differences come from scanner optics, lighting, </a:t>
            </a:r>
            <a:r>
              <a:rPr lang="en-US" dirty="0" err="1"/>
              <a:t>colour</a:t>
            </a:r>
            <a:r>
              <a:rPr lang="en-US" dirty="0"/>
              <a:t> calibration, and compression.</a:t>
            </a:r>
          </a:p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dirty="0"/>
              <a:t>“The training set contains 180 labelled patches evenly distributed across three scanners: 3d-1000, kfbio-400, and teksqray-600p.</a:t>
            </a:r>
          </a:p>
          <a:p>
            <a:r>
              <a:rPr lang="en-US" dirty="0"/>
              <a:t>Each scanner has a distinct visual style.</a:t>
            </a:r>
          </a:p>
          <a:p>
            <a:r>
              <a:rPr lang="en-US" dirty="0"/>
              <a:t>3d-1000 and kfbio-400 tend to be brighter and slightly warmer, while teksqray-600p produces darker, cooler images.</a:t>
            </a:r>
          </a:p>
          <a:p>
            <a:r>
              <a:rPr lang="en-US" dirty="0"/>
              <a:t>These appearance differences create domain shift even within the training data.</a:t>
            </a:r>
          </a:p>
          <a:p>
            <a:r>
              <a:rPr lang="en-US" dirty="0" err="1"/>
              <a:t>Tumour</a:t>
            </a:r>
            <a:r>
              <a:rPr lang="en-US" dirty="0"/>
              <a:t> coverage varies substantially:</a:t>
            </a:r>
          </a:p>
          <a:p>
            <a:r>
              <a:rPr lang="en-US" dirty="0"/>
              <a:t>- some patches contain almost no </a:t>
            </a:r>
            <a:r>
              <a:rPr lang="en-US" dirty="0" err="1"/>
              <a:t>tumour</a:t>
            </a:r>
            <a:r>
              <a:rPr lang="en-US" dirty="0"/>
              <a:t>, while others are dominated by </a:t>
            </a:r>
            <a:r>
              <a:rPr lang="en-US" dirty="0" err="1"/>
              <a:t>tumour</a:t>
            </a:r>
            <a:r>
              <a:rPr lang="en-US" dirty="0"/>
              <a:t> regions.</a:t>
            </a:r>
          </a:p>
          <a:p>
            <a:r>
              <a:rPr lang="en-US" dirty="0"/>
              <a:t>- On average, </a:t>
            </a:r>
            <a:r>
              <a:rPr lang="en-US" dirty="0" err="1"/>
              <a:t>tumour</a:t>
            </a:r>
            <a:r>
              <a:rPr lang="en-US" dirty="0"/>
              <a:t> occupies about half of each patch, but the standard deviation is large.</a:t>
            </a:r>
          </a:p>
          <a:p>
            <a:r>
              <a:rPr lang="en-US" dirty="0"/>
              <a:t>- This variation introduces mild class imbalance but also provides diverse learning examples.</a:t>
            </a:r>
          </a:p>
          <a:p>
            <a:endParaRPr lang="en-US" dirty="0"/>
          </a:p>
          <a:p>
            <a:r>
              <a:rPr lang="en-US" dirty="0"/>
              <a:t>The test set contains 90 patches from six scanners — the three from training plus three unseen scanners: leica-450, </a:t>
            </a:r>
            <a:r>
              <a:rPr lang="en-US" dirty="0" err="1"/>
              <a:t>motic</a:t>
            </a:r>
            <a:r>
              <a:rPr lang="en-US" dirty="0"/>
              <a:t>, and 3d-250.</a:t>
            </a:r>
          </a:p>
          <a:p>
            <a:r>
              <a:rPr lang="en-US" dirty="0"/>
              <a:t>These new scanners introduce additional </a:t>
            </a:r>
            <a:r>
              <a:rPr lang="en-US" dirty="0" err="1"/>
              <a:t>colour</a:t>
            </a:r>
            <a:r>
              <a:rPr lang="en-US" dirty="0"/>
              <a:t> styles:</a:t>
            </a:r>
          </a:p>
          <a:p>
            <a:r>
              <a:rPr lang="en-US" dirty="0"/>
              <a:t>leica-450 appears pale and slightly desaturated, </a:t>
            </a:r>
            <a:r>
              <a:rPr lang="en-US" dirty="0" err="1"/>
              <a:t>motic</a:t>
            </a:r>
            <a:r>
              <a:rPr lang="en-US" dirty="0"/>
              <a:t> is cooler and darker, and 3d-250 produces bright, warm tones similar to 3d-1000 but with slightly different contrast.</a:t>
            </a:r>
          </a:p>
          <a:p>
            <a:endParaRPr lang="en-US" dirty="0"/>
          </a:p>
          <a:p>
            <a:r>
              <a:rPr lang="en-US" dirty="0"/>
              <a:t>Interestingly, </a:t>
            </a:r>
            <a:r>
              <a:rPr lang="en-US" dirty="0" err="1"/>
              <a:t>tumour</a:t>
            </a:r>
            <a:r>
              <a:rPr lang="en-US" dirty="0"/>
              <a:t> density also differs between scanners.</a:t>
            </a:r>
          </a:p>
          <a:p>
            <a:r>
              <a:rPr lang="en-US" dirty="0"/>
              <a:t>3d-250 and 3d-1000 tend to have more </a:t>
            </a:r>
            <a:r>
              <a:rPr lang="en-US" dirty="0" err="1"/>
              <a:t>tumour</a:t>
            </a:r>
            <a:r>
              <a:rPr lang="en-US" dirty="0"/>
              <a:t>-rich regions, while </a:t>
            </a:r>
            <a:r>
              <a:rPr lang="en-US" dirty="0" err="1"/>
              <a:t>motic</a:t>
            </a:r>
            <a:r>
              <a:rPr lang="en-US" dirty="0"/>
              <a:t> and teksqray-600p have smaller </a:t>
            </a:r>
            <a:r>
              <a:rPr lang="en-US" dirty="0" err="1"/>
              <a:t>tumour</a:t>
            </a:r>
            <a:r>
              <a:rPr lang="en-US" dirty="0"/>
              <a:t> percentages.</a:t>
            </a:r>
          </a:p>
          <a:p>
            <a:endParaRPr lang="en-US" dirty="0"/>
          </a:p>
          <a:p>
            <a:r>
              <a:rPr lang="en-US" dirty="0"/>
              <a:t>All these variations — </a:t>
            </a:r>
            <a:r>
              <a:rPr lang="en-US" dirty="0" err="1"/>
              <a:t>colour</a:t>
            </a:r>
            <a:r>
              <a:rPr lang="en-US" dirty="0"/>
              <a:t>, tone, contrast, </a:t>
            </a:r>
            <a:r>
              <a:rPr lang="en-US" dirty="0" err="1"/>
              <a:t>tumour</a:t>
            </a:r>
            <a:r>
              <a:rPr lang="en-US" dirty="0"/>
              <a:t> ratio — are important because they can significantly affect model performance.</a:t>
            </a:r>
          </a:p>
          <a:p>
            <a:r>
              <a:rPr lang="en-US" dirty="0"/>
              <a:t>They highlight why scanner generalization is challenging and why foundation models and strong augmentation strategies are necessary.”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dirty="0"/>
              <a:t>“To prepare the data for training, all images were resized and padded to a uniform resolution of 1512×1512 pixels.</a:t>
            </a:r>
          </a:p>
          <a:p>
            <a:r>
              <a:rPr lang="en-US" dirty="0"/>
              <a:t>This size was chosen deliberately because it is divisible by 14, which ensures compatibility with the </a:t>
            </a:r>
            <a:r>
              <a:rPr lang="en-US" dirty="0" err="1"/>
              <a:t>ViT</a:t>
            </a:r>
            <a:r>
              <a:rPr lang="en-US" dirty="0"/>
              <a:t>-H/14 patch embedding and avoids mismatches in the encoder’s token grid.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Reflective padding was used to avoid introducing artificial black borders, and masks were padded with zeros to keep the background clean. (</a:t>
            </a:r>
            <a:r>
              <a:rPr lang="en-GB" dirty="0"/>
              <a:t>So the pixel values near the edge are simply </a:t>
            </a:r>
            <a:r>
              <a:rPr lang="en-GB" b="1" dirty="0"/>
              <a:t>duplicated in reverse order</a:t>
            </a:r>
            <a:r>
              <a:rPr lang="en-GB" dirty="0"/>
              <a:t>.</a:t>
            </a:r>
            <a:r>
              <a:rPr lang="en-US" dirty="0"/>
              <a:t>) -&gt; PRESERVES NATURAL TEXTURE, </a:t>
            </a:r>
            <a:r>
              <a:rPr lang="en-GB" dirty="0"/>
              <a:t>It prevents the model from seeing </a:t>
            </a:r>
            <a:r>
              <a:rPr lang="en-GB" i="1" dirty="0"/>
              <a:t>black stripes</a:t>
            </a:r>
            <a:r>
              <a:rPr lang="en-GB" dirty="0"/>
              <a:t> at the borders that don’t exist in real pathology slides, COLOR CONTINUITY!!!!</a:t>
            </a:r>
            <a:endParaRPr lang="en-US" dirty="0"/>
          </a:p>
          <a:p>
            <a:endParaRPr lang="en-US" dirty="0"/>
          </a:p>
          <a:p>
            <a:r>
              <a:rPr lang="en-US" dirty="0"/>
              <a:t>We applied a rich set of augmentations using </a:t>
            </a:r>
            <a:r>
              <a:rPr lang="en-US" dirty="0" err="1"/>
              <a:t>Albumentations</a:t>
            </a:r>
            <a:r>
              <a:rPr lang="en-US" dirty="0"/>
              <a:t>.</a:t>
            </a:r>
          </a:p>
          <a:p>
            <a:r>
              <a:rPr lang="en-US" dirty="0"/>
              <a:t>The reasoning behind this is that with only 180 training images, the model needs to see as much variability as possible.</a:t>
            </a:r>
          </a:p>
          <a:p>
            <a:r>
              <a:rPr lang="en-US" dirty="0"/>
              <a:t>So we introduced geometric transformations like flips, rotations, scaling, and mild elastic deformations to mimic slide preparation artifacts.</a:t>
            </a:r>
          </a:p>
          <a:p>
            <a:endParaRPr lang="en-US" dirty="0"/>
          </a:p>
          <a:p>
            <a:r>
              <a:rPr lang="en-US" dirty="0"/>
              <a:t>We also used </a:t>
            </a:r>
            <a:r>
              <a:rPr lang="en-US" dirty="0" err="1"/>
              <a:t>colour</a:t>
            </a:r>
            <a:r>
              <a:rPr lang="en-US" dirty="0"/>
              <a:t>-based augmentations — brightness, contrast, hue–saturation shifts, RGB shifts — to simulate scanner-induced variation.</a:t>
            </a:r>
          </a:p>
          <a:p>
            <a:r>
              <a:rPr lang="en-US" dirty="0"/>
              <a:t>This helps the model avoid overfitting to a specific </a:t>
            </a:r>
            <a:r>
              <a:rPr lang="en-US" dirty="0" err="1"/>
              <a:t>colour</a:t>
            </a:r>
            <a:r>
              <a:rPr lang="en-US" dirty="0"/>
              <a:t> distribution and encourages scanner-invariant feature learning.</a:t>
            </a:r>
          </a:p>
          <a:p>
            <a:endParaRPr lang="en-US" dirty="0"/>
          </a:p>
          <a:p>
            <a:r>
              <a:rPr lang="en-US" dirty="0"/>
              <a:t>Noise, sharpening, and JPEG compression were added to imitate real-world imperfections in digital scanners.</a:t>
            </a:r>
          </a:p>
          <a:p>
            <a:endParaRPr lang="en-US" dirty="0"/>
          </a:p>
          <a:p>
            <a:r>
              <a:rPr lang="en-US" dirty="0" err="1"/>
              <a:t>Tumour</a:t>
            </a:r>
            <a:r>
              <a:rPr lang="en-US" dirty="0"/>
              <a:t>-focused cropping ensured that most patches contained informative regions, since some images have very little </a:t>
            </a:r>
            <a:r>
              <a:rPr lang="en-US" dirty="0" err="1"/>
              <a:t>tumour</a:t>
            </a:r>
            <a:r>
              <a:rPr lang="en-US" dirty="0"/>
              <a:t> tissue.</a:t>
            </a:r>
          </a:p>
          <a:p>
            <a:endParaRPr lang="en-US" dirty="0"/>
          </a:p>
          <a:p>
            <a:r>
              <a:rPr lang="en-US" dirty="0"/>
              <a:t>Finally, all images were normalized using the standard ImageNet mean and standard deviation before entering the model.</a:t>
            </a:r>
          </a:p>
          <a:p>
            <a:endParaRPr lang="en-US" dirty="0"/>
          </a:p>
          <a:p>
            <a:r>
              <a:rPr lang="en-US" dirty="0"/>
              <a:t>Validation preprocessing was intentionally minimal — only resizing, padding, and normalization — to ensure consistent evaluation without random transformations.”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dirty="0"/>
          </a:p>
          <a:p>
            <a:r>
              <a:rPr lang="en-US" dirty="0"/>
              <a:t>- </a:t>
            </a:r>
            <a:r>
              <a:rPr lang="en-US" dirty="0" err="1"/>
              <a:t>ViT</a:t>
            </a:r>
            <a:r>
              <a:rPr lang="en-US" dirty="0"/>
              <a:t>-H/14 backbone pretrained on &gt;100M pathology tiles</a:t>
            </a:r>
          </a:p>
          <a:p>
            <a:endParaRPr lang="en-US" dirty="0"/>
          </a:p>
          <a:p>
            <a:r>
              <a:rPr lang="en-US" dirty="0"/>
              <a:t>Uses 8 register tokens for global information flow</a:t>
            </a:r>
          </a:p>
          <a:p>
            <a:endParaRPr lang="en-US" dirty="0"/>
          </a:p>
          <a:p>
            <a:r>
              <a:rPr lang="en-US" dirty="0"/>
              <a:t>Input split into 14×14 patches → 1536-D embeddings</a:t>
            </a:r>
          </a:p>
          <a:p>
            <a:endParaRPr lang="en-US" dirty="0"/>
          </a:p>
          <a:p>
            <a:r>
              <a:rPr lang="en-US" dirty="0"/>
              <a:t>24 transformer blocks, 24 attention heads</a:t>
            </a:r>
          </a:p>
          <a:p>
            <a:endParaRPr lang="en-US" dirty="0"/>
          </a:p>
          <a:p>
            <a:r>
              <a:rPr lang="en-US" dirty="0" err="1"/>
              <a:t>SwiGLU</a:t>
            </a:r>
            <a:r>
              <a:rPr lang="en-US" dirty="0"/>
              <a:t> MLPs for stable and expressive feature learning</a:t>
            </a:r>
          </a:p>
          <a:p>
            <a:endParaRPr lang="en-US" dirty="0"/>
          </a:p>
          <a:p>
            <a:r>
              <a:rPr lang="en-US" dirty="0"/>
              <a:t>Input resized to 1512×1512 </a:t>
            </a:r>
            <a:r>
              <a:rPr lang="en-US" dirty="0" err="1"/>
              <a:t>px</a:t>
            </a:r>
            <a:r>
              <a:rPr lang="en-US" dirty="0"/>
              <a:t> → 108×108 token grid</a:t>
            </a:r>
          </a:p>
          <a:p>
            <a:endParaRPr lang="en-US" dirty="0"/>
          </a:p>
          <a:p>
            <a:r>
              <a:rPr lang="en-US" dirty="0"/>
              <a:t>Speaker Notes</a:t>
            </a:r>
          </a:p>
          <a:p>
            <a:endParaRPr lang="en-US" dirty="0"/>
          </a:p>
          <a:p>
            <a:r>
              <a:rPr lang="en-US" dirty="0"/>
              <a:t>UNI2-h is a foundation model trained specifically for pathology, unlike generic </a:t>
            </a:r>
            <a:r>
              <a:rPr lang="en-US" dirty="0" err="1"/>
              <a:t>ViTs</a:t>
            </a:r>
            <a:r>
              <a:rPr lang="en-US" dirty="0"/>
              <a:t> trained on ImageNet or natural images.</a:t>
            </a:r>
          </a:p>
          <a:p>
            <a:endParaRPr lang="en-US" dirty="0"/>
          </a:p>
          <a:p>
            <a:r>
              <a:rPr lang="en-US" dirty="0"/>
              <a:t>Patch size is 14×14; this is important because keeping the same patch/token ratio as pretraining leads to better performance.</a:t>
            </a:r>
          </a:p>
          <a:p>
            <a:endParaRPr lang="en-US" dirty="0"/>
          </a:p>
          <a:p>
            <a:r>
              <a:rPr lang="en-US" dirty="0"/>
              <a:t>The 8 register tokens allow information to flow globally — instead of relying only on a CLS token, which is a known limitation in classical </a:t>
            </a:r>
            <a:r>
              <a:rPr lang="en-US" dirty="0" err="1"/>
              <a:t>ViTs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SwiGLU</a:t>
            </a:r>
            <a:r>
              <a:rPr lang="en-US" dirty="0"/>
              <a:t> is a gated activation function that improves gradient flow and representation quality.</a:t>
            </a:r>
          </a:p>
          <a:p>
            <a:endParaRPr lang="en-US" dirty="0"/>
          </a:p>
          <a:p>
            <a:r>
              <a:rPr lang="en-US" dirty="0"/>
              <a:t>Output: a dense grid of 1536-dimensional tokens (108×108 locations), which becomes the input for the decoder.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dirty="0"/>
              <a:t>DeepLabV3 ASPP Decoder</a:t>
            </a:r>
          </a:p>
          <a:p>
            <a:endParaRPr lang="en-US" dirty="0"/>
          </a:p>
          <a:p>
            <a:r>
              <a:rPr lang="en-US" dirty="0"/>
              <a:t>Multi-scale context via </a:t>
            </a:r>
            <a:r>
              <a:rPr lang="en-US" dirty="0" err="1"/>
              <a:t>Atrous</a:t>
            </a:r>
            <a:r>
              <a:rPr lang="en-US" dirty="0"/>
              <a:t> Spatial Pyramid Pooling (ASPP)</a:t>
            </a:r>
          </a:p>
          <a:p>
            <a:endParaRPr lang="en-US" dirty="0"/>
          </a:p>
          <a:p>
            <a:r>
              <a:rPr lang="en-US" dirty="0"/>
              <a:t>5 branches:</a:t>
            </a:r>
          </a:p>
          <a:p>
            <a:r>
              <a:rPr lang="en-US" dirty="0"/>
              <a:t>• 1×1 convolution - fine details</a:t>
            </a:r>
          </a:p>
          <a:p>
            <a:r>
              <a:rPr lang="en-US" dirty="0"/>
              <a:t>• Three 3×3 dilated convolutions (rates 12, 24, 36) - zoom levels</a:t>
            </a:r>
          </a:p>
          <a:p>
            <a:r>
              <a:rPr lang="en-US" dirty="0"/>
              <a:t>• Global pooling branch - entire view of </a:t>
            </a:r>
            <a:r>
              <a:rPr lang="en-US" dirty="0" err="1"/>
              <a:t>img</a:t>
            </a:r>
            <a:endParaRPr lang="en-US" dirty="0"/>
          </a:p>
          <a:p>
            <a:endParaRPr lang="en-US" dirty="0"/>
          </a:p>
          <a:p>
            <a:r>
              <a:rPr lang="en-US" dirty="0"/>
              <a:t>CONCAT - stack outputs</a:t>
            </a:r>
          </a:p>
          <a:p>
            <a:r>
              <a:rPr lang="en-US" dirty="0"/>
              <a:t>1x1 conv -&gt; fuse to get features</a:t>
            </a:r>
          </a:p>
          <a:p>
            <a:r>
              <a:rPr lang="en-US" dirty="0"/>
              <a:t>3x3 projection conv - SMOOTH DETAILS BY LOOKING @ TINY AREA AROUND PIXEL</a:t>
            </a:r>
          </a:p>
          <a:p>
            <a:r>
              <a:rPr lang="en-US" dirty="0"/>
              <a:t>MAIN HEAD - SEGMENTATION PROBABILITIES TO PIXEL </a:t>
            </a:r>
          </a:p>
          <a:p>
            <a:r>
              <a:rPr lang="en-US" dirty="0" err="1"/>
              <a:t>Upsampled</a:t>
            </a:r>
            <a:endParaRPr lang="en-US" dirty="0"/>
          </a:p>
          <a:p>
            <a:r>
              <a:rPr lang="en-US" dirty="0"/>
              <a:t>Final sigmoid + thresholding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dirty="0"/>
              <a:t>Slide content (bullets)</a:t>
            </a:r>
          </a:p>
          <a:p>
            <a:endParaRPr lang="en-US" dirty="0"/>
          </a:p>
          <a:p>
            <a:r>
              <a:rPr lang="en-US" dirty="0"/>
              <a:t>Dual-Path Fusion</a:t>
            </a:r>
          </a:p>
          <a:p>
            <a:endParaRPr lang="en-US" dirty="0"/>
          </a:p>
          <a:p>
            <a:r>
              <a:rPr lang="en-US" dirty="0"/>
              <a:t>Same image processed at two scales:</a:t>
            </a:r>
          </a:p>
          <a:p>
            <a:r>
              <a:rPr lang="en-US" dirty="0"/>
              <a:t>• High-resolution: 1512×1512 (nuclei-level detail)</a:t>
            </a:r>
          </a:p>
          <a:p>
            <a:r>
              <a:rPr lang="en-US" dirty="0"/>
              <a:t>• Low-resolution: 756×756 (tissue-level structure)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Histopathology requires both local (nuclei) and global (glandular architecture) context.</a:t>
            </a:r>
          </a:p>
          <a:p>
            <a:endParaRPr lang="en-US" dirty="0"/>
          </a:p>
          <a:p>
            <a:r>
              <a:rPr lang="en-US" dirty="0"/>
              <a:t>A single resolution struggles to capture both effectively.</a:t>
            </a:r>
          </a:p>
          <a:p>
            <a:endParaRPr lang="en-US" dirty="0"/>
          </a:p>
          <a:p>
            <a:r>
              <a:rPr lang="en-US" dirty="0"/>
              <a:t>Dual-resolution streams mimic the way pathologists zoom in/out during diagnosis.</a:t>
            </a:r>
          </a:p>
          <a:p>
            <a:endParaRPr lang="en-US" dirty="0"/>
          </a:p>
          <a:p>
            <a:r>
              <a:rPr lang="en-US" dirty="0"/>
              <a:t>Cross-attention learns how information from different scales should be merged.</a:t>
            </a:r>
          </a:p>
          <a:p>
            <a:endParaRPr lang="en-US" dirty="0"/>
          </a:p>
          <a:p>
            <a:r>
              <a:rPr lang="en-US" dirty="0"/>
              <a:t>Prior research shows cross-scale fusion significantly improves robustness across scanners.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GB" dirty="0"/>
              <a:t>“Now I’ll briefly walk through the training strategy we used to ensure that all architectures were compared fairly and consistently.</a:t>
            </a:r>
          </a:p>
          <a:p>
            <a:pPr marL="171450" indent="-171450">
              <a:buFontTx/>
              <a:buChar char="-"/>
            </a:pPr>
            <a:r>
              <a:rPr lang="en-GB" dirty="0"/>
              <a:t>We begin with the </a:t>
            </a:r>
            <a:r>
              <a:rPr lang="en-GB" b="1" dirty="0"/>
              <a:t>data split</a:t>
            </a:r>
          </a:p>
          <a:p>
            <a:pPr marL="171450" indent="-171450">
              <a:buFontTx/>
              <a:buChar char="-"/>
            </a:pPr>
            <a:r>
              <a:rPr lang="en-GB" dirty="0"/>
              <a:t>The </a:t>
            </a:r>
            <a:r>
              <a:rPr lang="en-GB" b="1" dirty="0"/>
              <a:t>loss function</a:t>
            </a:r>
            <a:r>
              <a:rPr lang="en-GB" dirty="0"/>
              <a:t> is a simple but very effective combination:</a:t>
            </a:r>
            <a:br>
              <a:rPr lang="en-GB" dirty="0"/>
            </a:br>
            <a:r>
              <a:rPr lang="en-GB" b="1" dirty="0"/>
              <a:t>0.5 Binary Cross-Entropy + 0.5 Dice loss. Binary Cross-Entropy (BCE)</a:t>
            </a:r>
            <a:r>
              <a:rPr lang="en-GB" dirty="0"/>
              <a:t> measures how confident the model is about each pixel being </a:t>
            </a:r>
            <a:r>
              <a:rPr lang="en-GB" dirty="0" err="1"/>
              <a:t>tumor</a:t>
            </a:r>
            <a:r>
              <a:rPr lang="en-GB" dirty="0"/>
              <a:t> or non-</a:t>
            </a:r>
            <a:r>
              <a:rPr lang="en-GB" dirty="0" err="1"/>
              <a:t>tumor</a:t>
            </a:r>
            <a:r>
              <a:rPr lang="en-GB" dirty="0"/>
              <a:t>.</a:t>
            </a:r>
            <a:br>
              <a:rPr lang="en-GB" dirty="0"/>
            </a:br>
            <a:r>
              <a:rPr lang="en-GB" dirty="0"/>
              <a:t>BCE stabilizes pixel-wise training, especially under class imbalance, while Dice focuses on region overlap and helps the model learn </a:t>
            </a:r>
            <a:r>
              <a:rPr lang="en-GB" dirty="0" err="1"/>
              <a:t>tumor</a:t>
            </a:r>
            <a:r>
              <a:rPr lang="en-GB" dirty="0"/>
              <a:t> shape and boundaries. </a:t>
            </a:r>
          </a:p>
          <a:p>
            <a:pPr marL="171450" indent="-171450">
              <a:buFontTx/>
              <a:buChar char="-"/>
            </a:pPr>
            <a:endParaRPr lang="en-GB" dirty="0"/>
          </a:p>
          <a:p>
            <a:pPr marL="171450" indent="-171450">
              <a:buFontTx/>
              <a:buChar char="-"/>
            </a:pPr>
            <a:endParaRPr lang="en-GB" dirty="0"/>
          </a:p>
          <a:p>
            <a:pPr marL="171450" indent="-171450">
              <a:buFontTx/>
              <a:buChar char="-"/>
            </a:pPr>
            <a:r>
              <a:rPr lang="en-GB" dirty="0"/>
              <a:t>We use the </a:t>
            </a:r>
            <a:r>
              <a:rPr lang="en-GB" b="1" dirty="0" err="1"/>
              <a:t>AdamW</a:t>
            </a:r>
            <a:r>
              <a:rPr lang="en-GB" b="1" dirty="0"/>
              <a:t> optimizer</a:t>
            </a:r>
            <a:r>
              <a:rPr lang="en-GB" dirty="0"/>
              <a:t> with </a:t>
            </a:r>
            <a:r>
              <a:rPr lang="en-GB" b="1" dirty="0"/>
              <a:t>layer-wise learning rate decay</a:t>
            </a:r>
            <a:r>
              <a:rPr lang="en-GB" dirty="0"/>
              <a:t>, meaning earlier transformer layers receive smaller learning rates than later ones. This preserves the strong pretrained representations in UNI2-h, while allowing the decoder and upper layers to adapt more aggressively.</a:t>
            </a:r>
            <a:endParaRPr lang="el-GR" dirty="0"/>
          </a:p>
          <a:p>
            <a:pPr marL="171450" indent="-171450">
              <a:buFontTx/>
              <a:buChar char="-"/>
            </a:pPr>
            <a:endParaRPr lang="en-GB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GB" dirty="0"/>
              <a:t>The </a:t>
            </a:r>
            <a:r>
              <a:rPr lang="en-GB" b="1" dirty="0"/>
              <a:t>learning rate schedule</a:t>
            </a:r>
            <a:r>
              <a:rPr lang="en-GB" dirty="0"/>
              <a:t> starts with a base LR of </a:t>
            </a:r>
            <a:r>
              <a:rPr lang="en-GB" b="1" dirty="0"/>
              <a:t>1e-4</a:t>
            </a:r>
            <a:r>
              <a:rPr lang="en-GB" dirty="0"/>
              <a:t>, includes a </a:t>
            </a:r>
            <a:r>
              <a:rPr lang="en-GB" b="1" dirty="0"/>
              <a:t>200-step warmup</a:t>
            </a:r>
            <a:r>
              <a:rPr lang="en-GB" dirty="0"/>
              <a:t>, and follows a </a:t>
            </a:r>
            <a:r>
              <a:rPr lang="en-GB" b="1" dirty="0"/>
              <a:t>cosine decay</a:t>
            </a:r>
            <a:r>
              <a:rPr lang="en-GB" dirty="0"/>
              <a:t>. Cosine scheduling helps maintain stable convergence, especially with large </a:t>
            </a:r>
            <a:r>
              <a:rPr lang="en-GB" dirty="0" err="1"/>
              <a:t>ViT</a:t>
            </a:r>
            <a:r>
              <a:rPr lang="en-GB" dirty="0"/>
              <a:t> backbones.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GB" dirty="0"/>
              <a:t>Training runs for </a:t>
            </a:r>
            <a:r>
              <a:rPr lang="en-GB" b="1" dirty="0"/>
              <a:t>50 epochs</a:t>
            </a:r>
            <a:r>
              <a:rPr lang="en-GB" dirty="0"/>
              <a:t>, </a:t>
            </a:r>
            <a:endParaRPr lang="el-GR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lang="en-GB" dirty="0"/>
          </a:p>
          <a:p>
            <a:pPr marL="171450" indent="-171450">
              <a:buFontTx/>
              <a:buChar char="-"/>
            </a:pPr>
            <a:r>
              <a:rPr lang="en-GB" dirty="0"/>
              <a:t>For the </a:t>
            </a:r>
            <a:r>
              <a:rPr lang="en-GB" b="1" dirty="0"/>
              <a:t>encoder strategy</a:t>
            </a:r>
            <a:r>
              <a:rPr lang="en-GB" dirty="0"/>
              <a:t>, UNI2-h is </a:t>
            </a:r>
            <a:r>
              <a:rPr lang="en-GB" i="1" dirty="0"/>
              <a:t>frozen for the first five epochs</a:t>
            </a:r>
            <a:r>
              <a:rPr lang="en-GB" dirty="0"/>
              <a:t>. This allows the decoder to stabilize and prevents catastrophic overwriting of pretrained weights early in training. After that, we </a:t>
            </a:r>
            <a:r>
              <a:rPr lang="en-GB" b="1" dirty="0"/>
              <a:t>unfreeze the top 8 transformer blocks</a:t>
            </a:r>
            <a:r>
              <a:rPr lang="en-GB" dirty="0"/>
              <a:t>, enabling fine-tuning of higher-level features that are more relevant to the COSAS dataset.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GB" dirty="0"/>
              <a:t>Finally, all experiments were run on an </a:t>
            </a:r>
            <a:r>
              <a:rPr lang="en-GB" b="1" dirty="0"/>
              <a:t>NVIDIA A100 40GB GPU</a:t>
            </a:r>
            <a:r>
              <a:rPr lang="en-GB" dirty="0"/>
              <a:t>, using </a:t>
            </a:r>
            <a:r>
              <a:rPr lang="en-GB" dirty="0" err="1"/>
              <a:t>PyTorch</a:t>
            </a:r>
            <a:r>
              <a:rPr lang="en-GB" dirty="0"/>
              <a:t> on CUDA 12.1. This ensured consistent computational conditions across all architectures, which is important for fair comparison.”</a:t>
            </a:r>
          </a:p>
          <a:p>
            <a:pPr marL="171450" indent="-171450">
              <a:buFontTx/>
              <a:buChar char="-"/>
            </a:pPr>
            <a:endParaRPr lang="en-GB" dirty="0"/>
          </a:p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GB" dirty="0"/>
              <a:t>Dice measures how much the predicted </a:t>
            </a:r>
            <a:r>
              <a:rPr lang="en-GB" dirty="0" err="1"/>
              <a:t>tumor</a:t>
            </a:r>
            <a:r>
              <a:rPr lang="en-GB" dirty="0"/>
              <a:t> region overlaps the true </a:t>
            </a:r>
            <a:r>
              <a:rPr lang="en-GB" dirty="0" err="1"/>
              <a:t>tumor</a:t>
            </a:r>
            <a:r>
              <a:rPr lang="en-GB" dirty="0"/>
              <a:t> region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DICE - “Measures how similar the predicted </a:t>
            </a:r>
            <a:r>
              <a:rPr lang="en-GB" dirty="0" err="1"/>
              <a:t>tumor</a:t>
            </a:r>
            <a:r>
              <a:rPr lang="en-GB" dirty="0"/>
              <a:t> mask is to the ground truth; rewards overlap and penalizes mismatches.” - t emphasizes overall similarity and is widely used in biomedical segmentation</a:t>
            </a:r>
            <a:r>
              <a:rPr lang="el-GR" dirty="0"/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l-GR" dirty="0"/>
              <a:t>        - ΑΘΡΟΙΣΜΑ ΜΕΓΕΘΩΝ  ΣΤΟΝ ΠΑΡΟΝΟΜΑΣΤΗ</a:t>
            </a:r>
            <a:endParaRPr lang="en-GB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Iou</a:t>
            </a:r>
            <a:r>
              <a:rPr lang="en-US" dirty="0"/>
              <a:t> - </a:t>
            </a:r>
            <a:r>
              <a:rPr lang="en-GB" dirty="0"/>
              <a:t>“A stricter overlap metric that compares the intersection of the prediction and ground truth relative to their union.” - is stricter because it divides by the union of the masks, so small errors affect it more</a:t>
            </a:r>
            <a:endParaRPr lang="el-G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l-GR" dirty="0"/>
              <a:t>      - ΕΝΩΣΗ ΜΕΓΕΘΩΝ ΣΤΟΝ ΠΑΡΟΝΟΜΑΣΤΗ</a:t>
            </a:r>
            <a:endParaRPr lang="en-GB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dirty="0"/>
              <a:t>(General intro)</a:t>
            </a:r>
          </a:p>
          <a:p>
            <a:r>
              <a:rPr lang="en-US" dirty="0"/>
              <a:t>“After the model predicts a probability map, we still need to convert that into a clean binary segmentation mask. Instead of picking a random threshold like 0.5, we perform a controlled, three-stage search to find the threshold that works best across scanners. This step is important because different scanners generate different color and intensity distributions.”</a:t>
            </a:r>
          </a:p>
          <a:p>
            <a:endParaRPr lang="el-GR" dirty="0"/>
          </a:p>
          <a:p>
            <a:endParaRPr lang="el-GR" dirty="0"/>
          </a:p>
          <a:p>
            <a:r>
              <a:rPr lang="en-GB" b="1" dirty="0"/>
              <a:t>Goal:</a:t>
            </a:r>
            <a:r>
              <a:rPr lang="en-GB" dirty="0"/>
              <a:t> Find a “good enough” threshold and general morphological strength.</a:t>
            </a:r>
          </a:p>
          <a:p>
            <a:r>
              <a:rPr lang="en-GB" dirty="0"/>
              <a:t>Here we test a </a:t>
            </a:r>
            <a:r>
              <a:rPr lang="en-GB" b="1" dirty="0"/>
              <a:t>large range</a:t>
            </a:r>
            <a:r>
              <a:rPr lang="en-GB" dirty="0"/>
              <a:t> of values:</a:t>
            </a:r>
          </a:p>
          <a:p>
            <a:r>
              <a:rPr lang="en-GR" b="1" dirty="0"/>
              <a:t>🔹 </a:t>
            </a:r>
            <a:r>
              <a:rPr lang="en-GB" b="1" dirty="0"/>
              <a:t>Thresholds: 0.50 → 0.78</a:t>
            </a:r>
          </a:p>
          <a:p>
            <a:r>
              <a:rPr lang="en-GB" dirty="0"/>
              <a:t>Why this range?</a:t>
            </a:r>
          </a:p>
          <a:p>
            <a:r>
              <a:rPr lang="el-GR" dirty="0"/>
              <a:t>- </a:t>
            </a:r>
            <a:r>
              <a:rPr lang="en-GB" dirty="0"/>
              <a:t>0.5 is the natural decision boundary</a:t>
            </a:r>
          </a:p>
          <a:p>
            <a:r>
              <a:rPr lang="el-GR" dirty="0"/>
              <a:t>- </a:t>
            </a:r>
            <a:r>
              <a:rPr lang="en-GB" dirty="0"/>
              <a:t>above 0.78 models start under-segmenting</a:t>
            </a:r>
          </a:p>
          <a:p>
            <a:r>
              <a:rPr lang="el-GR" dirty="0"/>
              <a:t>- </a:t>
            </a:r>
            <a:r>
              <a:rPr lang="en-GB" dirty="0"/>
              <a:t>below ~0.50 we get too many false positives</a:t>
            </a:r>
          </a:p>
          <a:p>
            <a:r>
              <a:rPr lang="en-GB" dirty="0"/>
              <a:t>this interval covers the “plausible” operating region</a:t>
            </a:r>
            <a:endParaRPr lang="el-GR" dirty="0"/>
          </a:p>
          <a:p>
            <a:endParaRPr lang="en-GB" dirty="0"/>
          </a:p>
          <a:p>
            <a:r>
              <a:rPr lang="en-GR" b="1" dirty="0"/>
              <a:t>🔹 </a:t>
            </a:r>
            <a:r>
              <a:rPr lang="en-GB" b="1" dirty="0"/>
              <a:t>Gaussian smoothing (light blur)</a:t>
            </a:r>
            <a:endParaRPr lang="en-GB" dirty="0"/>
          </a:p>
          <a:p>
            <a:r>
              <a:rPr lang="en-GR" b="1" dirty="0"/>
              <a:t>🔹 </a:t>
            </a:r>
            <a:r>
              <a:rPr lang="en-GB" b="1" dirty="0"/>
              <a:t>Morphological opening &amp; closing</a:t>
            </a:r>
          </a:p>
          <a:p>
            <a:r>
              <a:rPr lang="en-GB" dirty="0"/>
              <a:t>We try:</a:t>
            </a:r>
          </a:p>
          <a:p>
            <a:pPr lvl="1"/>
            <a:r>
              <a:rPr lang="el-GR" b="1" dirty="0"/>
              <a:t>- </a:t>
            </a:r>
            <a:r>
              <a:rPr lang="en-GB" b="1" dirty="0"/>
              <a:t>closing</a:t>
            </a:r>
            <a:r>
              <a:rPr lang="en-GB" dirty="0"/>
              <a:t> (to fill small gaps in </a:t>
            </a:r>
            <a:r>
              <a:rPr lang="en-GB" dirty="0" err="1"/>
              <a:t>tumor</a:t>
            </a:r>
            <a:r>
              <a:rPr lang="en-GB" dirty="0"/>
              <a:t> regions)</a:t>
            </a:r>
          </a:p>
          <a:p>
            <a:pPr marL="628650" lvl="1" indent="-171450">
              <a:buFontTx/>
              <a:buChar char="-"/>
            </a:pPr>
            <a:r>
              <a:rPr lang="en-GB" b="1" dirty="0"/>
              <a:t>opening</a:t>
            </a:r>
            <a:r>
              <a:rPr lang="en-GB" dirty="0"/>
              <a:t> (to remove tiny false predictions)</a:t>
            </a:r>
          </a:p>
          <a:p>
            <a:r>
              <a:rPr lang="en-GB" dirty="0"/>
              <a:t>Ranges are mild because the dataset is high-resolution:</a:t>
            </a:r>
          </a:p>
          <a:p>
            <a:pPr lvl="1"/>
            <a:r>
              <a:rPr lang="en-GB" dirty="0"/>
              <a:t>openings: radius 0–1</a:t>
            </a:r>
          </a:p>
          <a:p>
            <a:pPr lvl="1"/>
            <a:r>
              <a:rPr lang="en-GB" dirty="0"/>
              <a:t>closings: radius 1–2</a:t>
            </a:r>
          </a:p>
          <a:p>
            <a:r>
              <a:rPr lang="en-GB" dirty="0"/>
              <a:t>At this stage, we try </a:t>
            </a:r>
            <a:r>
              <a:rPr lang="en-GB" b="1" dirty="0"/>
              <a:t>many combinations</a:t>
            </a:r>
            <a:r>
              <a:rPr lang="en-GB" dirty="0"/>
              <a:t> to see what improves the validation Dice/Jaccard.</a:t>
            </a:r>
          </a:p>
          <a:p>
            <a:br>
              <a:rPr lang="en-GB" dirty="0"/>
            </a:br>
            <a:endParaRPr lang="en-GB" dirty="0"/>
          </a:p>
          <a:p>
            <a:endParaRPr lang="el-GR" dirty="0"/>
          </a:p>
          <a:p>
            <a:r>
              <a:rPr lang="en-GR" b="1" dirty="0"/>
              <a:t>⭐ </a:t>
            </a:r>
            <a:r>
              <a:rPr lang="en-GB" b="1" dirty="0"/>
              <a:t>Stage 2 — Refinement (narrow zoom-in)</a:t>
            </a:r>
          </a:p>
          <a:p>
            <a:r>
              <a:rPr lang="en-GB" dirty="0"/>
              <a:t>Once we find combinations that perform well, we zoom into that area.</a:t>
            </a:r>
          </a:p>
          <a:p>
            <a:r>
              <a:rPr lang="en-GB" b="1" dirty="0"/>
              <a:t>Example:</a:t>
            </a:r>
          </a:p>
          <a:p>
            <a:r>
              <a:rPr lang="en-GB" dirty="0"/>
              <a:t>If coarse search finds:</a:t>
            </a:r>
          </a:p>
          <a:p>
            <a:r>
              <a:rPr lang="en-GB" dirty="0"/>
              <a:t>best thresholds ≈ </a:t>
            </a:r>
            <a:r>
              <a:rPr lang="en-GB" b="1" dirty="0"/>
              <a:t>0.62–0.68</a:t>
            </a:r>
            <a:endParaRPr lang="en-GB" dirty="0"/>
          </a:p>
          <a:p>
            <a:r>
              <a:rPr lang="en-GB" dirty="0"/>
              <a:t>best closing radius = </a:t>
            </a:r>
            <a:r>
              <a:rPr lang="en-GB" b="1" dirty="0"/>
              <a:t>2</a:t>
            </a:r>
            <a:endParaRPr lang="en-GB" dirty="0"/>
          </a:p>
          <a:p>
            <a:r>
              <a:rPr lang="en-GB" dirty="0"/>
              <a:t>best smoothing ≈ </a:t>
            </a:r>
            <a:r>
              <a:rPr lang="en-GB" b="1" dirty="0"/>
              <a:t>0.6</a:t>
            </a:r>
            <a:endParaRPr lang="en-GB" dirty="0"/>
          </a:p>
          <a:p>
            <a:r>
              <a:rPr lang="en-GB" dirty="0"/>
              <a:t>openings often unnecessary</a:t>
            </a:r>
          </a:p>
          <a:p>
            <a:r>
              <a:rPr lang="en-GB" dirty="0"/>
              <a:t>Then Stage 2 uses ranges like:</a:t>
            </a:r>
          </a:p>
          <a:p>
            <a:r>
              <a:rPr lang="en-GB" dirty="0"/>
              <a:t>thresholds 0.60–0.70 with step 0.01</a:t>
            </a:r>
          </a:p>
          <a:p>
            <a:r>
              <a:rPr lang="en-GB" dirty="0"/>
              <a:t>smoothing 0.4–0.7</a:t>
            </a:r>
          </a:p>
          <a:p>
            <a:r>
              <a:rPr lang="en-GB" dirty="0"/>
              <a:t>closing radius exactly 2</a:t>
            </a:r>
          </a:p>
          <a:p>
            <a:r>
              <a:rPr lang="en-GB" dirty="0"/>
              <a:t>opening radius 0 or 1 only</a:t>
            </a:r>
          </a:p>
          <a:p>
            <a:r>
              <a:rPr lang="en-GB" dirty="0"/>
              <a:t>This stage </a:t>
            </a:r>
            <a:r>
              <a:rPr lang="en-GB" b="1" dirty="0"/>
              <a:t>fine-tunes</a:t>
            </a:r>
            <a:r>
              <a:rPr lang="en-GB" dirty="0"/>
              <a:t> around the promising region.</a:t>
            </a:r>
          </a:p>
          <a:p>
            <a:endParaRPr lang="el-GR" dirty="0"/>
          </a:p>
          <a:p>
            <a:r>
              <a:rPr lang="en-GR" b="1" dirty="0"/>
              <a:t>⭐ </a:t>
            </a:r>
            <a:r>
              <a:rPr lang="en-GB" b="1" dirty="0"/>
              <a:t>Stage 3 — Final Selection</a:t>
            </a:r>
          </a:p>
          <a:p>
            <a:r>
              <a:rPr lang="en-GB" dirty="0"/>
              <a:t>We evaluate each candidate using the </a:t>
            </a:r>
            <a:r>
              <a:rPr lang="en-GB" b="1" dirty="0"/>
              <a:t>validation set</a:t>
            </a:r>
            <a:r>
              <a:rPr lang="en-GB" dirty="0"/>
              <a:t> only.</a:t>
            </a:r>
          </a:p>
          <a:p>
            <a:r>
              <a:rPr lang="en-GB" dirty="0"/>
              <a:t>For each threshold + morphological setup:</a:t>
            </a:r>
          </a:p>
          <a:p>
            <a:pPr lvl="1"/>
            <a:r>
              <a:rPr lang="en-GB" dirty="0"/>
              <a:t>compute Dice</a:t>
            </a:r>
          </a:p>
          <a:p>
            <a:pPr lvl="1"/>
            <a:r>
              <a:rPr lang="en-GB" dirty="0"/>
              <a:t>compute </a:t>
            </a:r>
            <a:r>
              <a:rPr lang="en-GB" dirty="0" err="1"/>
              <a:t>IoU</a:t>
            </a:r>
            <a:endParaRPr lang="en-GB" dirty="0"/>
          </a:p>
          <a:p>
            <a:r>
              <a:rPr lang="en-GB" dirty="0"/>
              <a:t>average the metrics across validation scanners</a:t>
            </a:r>
          </a:p>
          <a:p>
            <a:r>
              <a:rPr lang="en-GB" dirty="0"/>
              <a:t>The combination that gives the best </a:t>
            </a:r>
            <a:r>
              <a:rPr lang="en-GB" b="1" dirty="0"/>
              <a:t>balanced Dice/Jaccard</a:t>
            </a:r>
            <a:r>
              <a:rPr lang="en-GB" dirty="0"/>
              <a:t> is chosen.</a:t>
            </a:r>
          </a:p>
          <a:p>
            <a:r>
              <a:rPr lang="en-GB" dirty="0"/>
              <a:t>This becomes the </a:t>
            </a:r>
            <a:r>
              <a:rPr lang="en-GB" b="1" dirty="0"/>
              <a:t>fixed pipeline</a:t>
            </a:r>
            <a:r>
              <a:rPr lang="en-GB" dirty="0"/>
              <a:t> for all test images.</a:t>
            </a:r>
          </a:p>
          <a:p>
            <a:r>
              <a:rPr lang="en-GB" dirty="0"/>
              <a:t>At this point we no longer rerun the model — we only apply transformations to saved logits, which makes it very efficient.</a:t>
            </a:r>
          </a:p>
          <a:p>
            <a:endParaRPr lang="el-GR" dirty="0"/>
          </a:p>
          <a:p>
            <a:endParaRPr lang="el-GR" dirty="0"/>
          </a:p>
          <a:p>
            <a:endParaRPr lang="en-US" dirty="0"/>
          </a:p>
          <a:p>
            <a:r>
              <a:rPr lang="en-US" dirty="0"/>
              <a:t>Final Post-processing Steps</a:t>
            </a:r>
          </a:p>
          <a:p>
            <a:endParaRPr lang="en-US" dirty="0"/>
          </a:p>
          <a:p>
            <a:r>
              <a:rPr lang="en-US" dirty="0"/>
              <a:t>“The final pipeline is kept intentionally simple.</a:t>
            </a:r>
          </a:p>
          <a:p>
            <a:r>
              <a:rPr lang="en-US" dirty="0"/>
              <a:t>We apply the chosen threshold, do a closing operation with a radius of 2 to close small cracks, optionally apply a very small opening to remove tiny speckles, remove small disconnected components, fill small holes, and optionally clear border pixels.</a:t>
            </a:r>
          </a:p>
          <a:p>
            <a:r>
              <a:rPr lang="en-US" dirty="0"/>
              <a:t>All of these steps improve the smoothness and accuracy of the final mask, especially at tumor boundaries.”</a:t>
            </a:r>
          </a:p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“To understand the baseline, we used the Thunder API to test several state-of-the-art pathology foundation models. UNI2-H, UNI, Virchow2 and Midnight represent the best transformer-based encoders trained on millions of pathology tiles.</a:t>
            </a:r>
          </a:p>
          <a:p>
            <a:r>
              <a:rPr lang="en-US"/>
              <a:t>Among them, UNI2-H performed the best, but still fell short of the top COSAS challenge teams. This was expected because Thunder evaluates pure encoders without a task-specific decoder, and segmentation requires detailed boundary reasoning.</a:t>
            </a:r>
          </a:p>
          <a:p>
            <a:r>
              <a:rPr lang="en-US"/>
              <a:t>These results showed that UNI2-H is the strongest starting point, but needs a good decoder and post-processing to achieve competitive performance. For these reasons, UNI2-H becomes our core encoder for all upcoming experiments.”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dirty="0"/>
              <a:t>“This was our first architecture combining UNI2-H with a DeepLabV3 decoder.</a:t>
            </a:r>
          </a:p>
          <a:p>
            <a:r>
              <a:rPr lang="en-US" dirty="0"/>
              <a:t>ASPP helps capture both fine nuclei-level details and broader glandular structure.</a:t>
            </a:r>
          </a:p>
          <a:p>
            <a:r>
              <a:rPr lang="en-US" dirty="0"/>
              <a:t>Even with minimal changes, this setup achieved a very strong score of 0.8209, already comparable to top teams in the COSAS leaderboard. It confirms that UNI2-H benefits from a powerful decoder built for segmentation.”</a:t>
            </a:r>
          </a:p>
          <a:p>
            <a:r>
              <a:rPr lang="en-GB" b="1" dirty="0"/>
              <a:t>✔ ASPP combats scanner variation</a:t>
            </a:r>
          </a:p>
          <a:p>
            <a:r>
              <a:rPr lang="en-GB" dirty="0"/>
              <a:t>Different scanners shift </a:t>
            </a:r>
            <a:r>
              <a:rPr lang="en-GB" dirty="0" err="1"/>
              <a:t>colors</a:t>
            </a:r>
            <a:r>
              <a:rPr lang="en-GB" dirty="0"/>
              <a:t> but </a:t>
            </a:r>
            <a:r>
              <a:rPr lang="en-GB" i="1" dirty="0"/>
              <a:t>not structure</a:t>
            </a:r>
            <a:r>
              <a:rPr lang="en-GB" dirty="0"/>
              <a:t>.</a:t>
            </a:r>
            <a:br>
              <a:rPr lang="en-GB" dirty="0"/>
            </a:br>
            <a:r>
              <a:rPr lang="en-GB" dirty="0"/>
              <a:t>ASPP focuses on </a:t>
            </a:r>
            <a:r>
              <a:rPr lang="en-GB" i="1" dirty="0"/>
              <a:t>shape</a:t>
            </a:r>
            <a:r>
              <a:rPr lang="en-GB" dirty="0"/>
              <a:t> and </a:t>
            </a:r>
            <a:r>
              <a:rPr lang="en-GB" i="1" dirty="0"/>
              <a:t>context</a:t>
            </a:r>
            <a:r>
              <a:rPr lang="en-GB" dirty="0"/>
              <a:t>, making it robust to stain intensity differences.</a:t>
            </a:r>
          </a:p>
          <a:p>
            <a:r>
              <a:rPr lang="en-GB" b="1" dirty="0"/>
              <a:t>✔ Works well with small training sets</a:t>
            </a:r>
          </a:p>
          <a:p>
            <a:r>
              <a:rPr lang="en-GB" dirty="0" err="1"/>
              <a:t>DeepLab</a:t>
            </a:r>
            <a:r>
              <a:rPr lang="en-GB" dirty="0"/>
              <a:t> is known to converge with fewer samples due to strong inductive biases.</a:t>
            </a:r>
          </a:p>
          <a:p>
            <a:r>
              <a:rPr lang="en-GB" b="1" dirty="0"/>
              <a:t>✔ Avoids overfitting</a:t>
            </a:r>
          </a:p>
          <a:p>
            <a:r>
              <a:rPr lang="en-GB" dirty="0"/>
              <a:t>Less parameter-heavy than </a:t>
            </a:r>
            <a:r>
              <a:rPr lang="en-GB" dirty="0" err="1"/>
              <a:t>UPerNet</a:t>
            </a:r>
            <a:r>
              <a:rPr lang="en-GB" dirty="0"/>
              <a:t>, </a:t>
            </a:r>
            <a:r>
              <a:rPr lang="en-GB" dirty="0" err="1"/>
              <a:t>UNet</a:t>
            </a:r>
            <a:r>
              <a:rPr lang="en-GB" dirty="0"/>
              <a:t> variants, or transformer decoders.</a:t>
            </a:r>
          </a:p>
          <a:p>
            <a:r>
              <a:rPr lang="en-GB" b="1" dirty="0"/>
              <a:t>✔ Interpretable</a:t>
            </a:r>
          </a:p>
          <a:p>
            <a:r>
              <a:rPr lang="en-GB" dirty="0"/>
              <a:t>Dilated convolutions at specific scales provide interpretable multi-scale </a:t>
            </a:r>
            <a:r>
              <a:rPr lang="en-GB" dirty="0" err="1"/>
              <a:t>behavior</a:t>
            </a:r>
            <a:r>
              <a:rPr lang="en-GB" dirty="0"/>
              <a:t>.</a:t>
            </a:r>
          </a:p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  <a:p>
            <a:r>
              <a:rPr lang="en-GB" b="1" dirty="0"/>
              <a:t>Why add an auxiliary head? NO NEED FOR EXTRA </a:t>
            </a:r>
            <a:endParaRPr lang="en-GB" dirty="0"/>
          </a:p>
          <a:p>
            <a:r>
              <a:rPr lang="en-GB" dirty="0"/>
              <a:t>Provides </a:t>
            </a:r>
            <a:r>
              <a:rPr lang="en-GB" i="1" dirty="0"/>
              <a:t>extra supervision</a:t>
            </a:r>
            <a:r>
              <a:rPr lang="en-GB" dirty="0"/>
              <a:t> to the encoder during </a:t>
            </a:r>
            <a:r>
              <a:rPr lang="en-GB" dirty="0" err="1"/>
              <a:t>trainingSUPERVISION</a:t>
            </a:r>
            <a:r>
              <a:rPr lang="en-GB" dirty="0"/>
              <a:t> CAUSE  UNI2H IS ALREADY STRONG ENOUGH.</a:t>
            </a:r>
          </a:p>
          <a:p>
            <a:r>
              <a:rPr lang="en-GB" dirty="0"/>
              <a:t>Helps stabilize gradients in deep networks</a:t>
            </a:r>
          </a:p>
          <a:p>
            <a:r>
              <a:rPr lang="en-GB" dirty="0"/>
              <a:t>Makes early layers learn more useful features</a:t>
            </a:r>
          </a:p>
          <a:p>
            <a:endParaRPr lang="en-GB" dirty="0"/>
          </a:p>
          <a:p>
            <a:r>
              <a:rPr lang="en-GB" dirty="0"/>
              <a:t>So attaching aux supervision to an earlier “stage” is impossible —</a:t>
            </a:r>
            <a:br>
              <a:rPr lang="en-GB" dirty="0"/>
            </a:br>
            <a:r>
              <a:rPr lang="en-GB" dirty="0"/>
              <a:t>there </a:t>
            </a:r>
            <a:r>
              <a:rPr lang="en-GB" i="1" dirty="0"/>
              <a:t>is no</a:t>
            </a:r>
            <a:r>
              <a:rPr lang="en-GB" dirty="0"/>
              <a:t> stage 3 or stage 2.</a:t>
            </a:r>
          </a:p>
          <a:p>
            <a:r>
              <a:rPr lang="en-GR" dirty="0"/>
              <a:t>👉 </a:t>
            </a:r>
            <a:r>
              <a:rPr lang="en-GB" dirty="0"/>
              <a:t>That’s why your implementation attaches the AUX head to the </a:t>
            </a:r>
            <a:r>
              <a:rPr lang="en-GB" b="1" dirty="0"/>
              <a:t>final encoder output</a:t>
            </a:r>
            <a:r>
              <a:rPr lang="en-GB" dirty="0"/>
              <a:t>, which is exactly what many </a:t>
            </a:r>
            <a:r>
              <a:rPr lang="en-GB" dirty="0" err="1"/>
              <a:t>ViT</a:t>
            </a:r>
            <a:r>
              <a:rPr lang="en-GB" dirty="0"/>
              <a:t>-based segmentation papers do.</a:t>
            </a:r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The auxiliary output is a small additional segmentation head attached to an intermediate feature layer. </a:t>
            </a:r>
          </a:p>
          <a:p>
            <a:endParaRPr lang="en-GB" dirty="0"/>
          </a:p>
          <a:p>
            <a:r>
              <a:rPr lang="en-GB" dirty="0"/>
              <a:t>It produces a second segmentation mask during training, and we add a weighted auxiliary loss (</a:t>
            </a:r>
            <a:r>
              <a:rPr lang="el-GR" dirty="0"/>
              <a:t>λ=0.4) </a:t>
            </a:r>
            <a:r>
              <a:rPr lang="en-GB" dirty="0"/>
              <a:t>to the main loss.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 - NO IMPROVEMENT, </a:t>
            </a:r>
            <a:r>
              <a:rPr lang="en-GB" dirty="0"/>
              <a:t>likely because UNI2-h already provides stable and strong representations.</a:t>
            </a:r>
          </a:p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GB" dirty="0"/>
              <a:t>Multi-scale fusion improves domain generalization - two different kinds of visual understanding</a:t>
            </a:r>
            <a:endParaRPr lang="en-US" dirty="0"/>
          </a:p>
          <a:p>
            <a:endParaRPr lang="en-US" dirty="0"/>
          </a:p>
          <a:p>
            <a:r>
              <a:rPr lang="en-US" dirty="0"/>
              <a:t>2 LEVELS OF VISUAL INFORMATION!!! </a:t>
            </a:r>
          </a:p>
          <a:p>
            <a:r>
              <a:rPr lang="en-US" dirty="0"/>
              <a:t>LOW-RES-&gt; GLOBAL STRUCTURE ISTOU</a:t>
            </a:r>
          </a:p>
          <a:p>
            <a:r>
              <a:rPr lang="en-US" dirty="0"/>
              <a:t>HIGH RES -&gt; FINE NUCLEI BOUNDARIES</a:t>
            </a:r>
          </a:p>
          <a:p>
            <a:endParaRPr lang="en-US" dirty="0"/>
          </a:p>
          <a:p>
            <a:r>
              <a:rPr lang="en-US" dirty="0"/>
              <a:t>“This experiment introduces a dual-resolution approach to overcome a key issue in pathology segmentation: a single scale cannot capture both nuclei details and global organization.</a:t>
            </a:r>
          </a:p>
          <a:p>
            <a:r>
              <a:rPr lang="en-US" dirty="0"/>
              <a:t>We pass the image twice through UNI2-H: once in full resolution to preserve detail, and once in </a:t>
            </a:r>
            <a:r>
              <a:rPr lang="en-US" dirty="0" err="1"/>
              <a:t>downsampled</a:t>
            </a:r>
            <a:r>
              <a:rPr lang="en-US" dirty="0"/>
              <a:t> form to capture broader context.</a:t>
            </a:r>
          </a:p>
          <a:p>
            <a:r>
              <a:rPr lang="en-US" dirty="0"/>
              <a:t>A cross-attention block merges both representations, letting fine-grained tokens query coarse ones.</a:t>
            </a:r>
          </a:p>
          <a:p>
            <a:r>
              <a:rPr lang="en-US" dirty="0"/>
              <a:t>This configuration gave us the best overall COSAS score — 0.8217 — confirming that cross-scale context helps with scanner variability.</a:t>
            </a:r>
          </a:p>
          <a:p>
            <a:r>
              <a:rPr lang="en-US" dirty="0"/>
              <a:t>GPU memory nearly doubled, but the performance gains validated the idea.”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“DeepLabV3 traditionally uses an auxiliary output attached to an earlier layer to stabilize gradients during training.</a:t>
            </a:r>
          </a:p>
          <a:p>
            <a:r>
              <a:rPr lang="en-US"/>
              <a:t>We tested this idea by adding an auxiliary head with a weighted combined loss.</a:t>
            </a:r>
          </a:p>
          <a:p>
            <a:r>
              <a:rPr lang="en-US"/>
              <a:t>Although training became smoother, the final score dropped slightly compared to the no-aux version. This suggests that the main UNI2-H features were already strong enough and the extra supervision did not add useful information for this dataset.”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GB" b="1" dirty="0"/>
              <a:t>SEARCHING FOR cheaper, single-pass alternative</a:t>
            </a:r>
            <a:r>
              <a:rPr lang="en-GB" dirty="0"/>
              <a:t> that still provides </a:t>
            </a:r>
            <a:r>
              <a:rPr lang="en-GB" b="1" dirty="0"/>
              <a:t>multi-scale information</a:t>
            </a:r>
          </a:p>
          <a:p>
            <a:endParaRPr lang="en-GB" b="1" dirty="0"/>
          </a:p>
          <a:p>
            <a:r>
              <a:rPr lang="en-GB" dirty="0" err="1"/>
              <a:t>PixelFPN</a:t>
            </a:r>
            <a:r>
              <a:rPr lang="en-GB" dirty="0"/>
              <a:t> creates </a:t>
            </a:r>
            <a:r>
              <a:rPr lang="en-GB" b="1" dirty="0"/>
              <a:t>three scales</a:t>
            </a:r>
            <a:r>
              <a:rPr lang="en-GB" dirty="0"/>
              <a:t> from the single </a:t>
            </a:r>
            <a:r>
              <a:rPr lang="en-GB" dirty="0" err="1"/>
              <a:t>ViT</a:t>
            </a:r>
            <a:r>
              <a:rPr lang="en-GB" dirty="0"/>
              <a:t> output:</a:t>
            </a:r>
          </a:p>
          <a:p>
            <a:pPr lvl="1"/>
            <a:r>
              <a:rPr lang="en-GB" b="1" dirty="0"/>
              <a:t>P3:</a:t>
            </a:r>
            <a:r>
              <a:rPr lang="en-GB" dirty="0"/>
              <a:t> 108×108 (fine detail)</a:t>
            </a:r>
          </a:p>
          <a:p>
            <a:pPr lvl="1"/>
            <a:r>
              <a:rPr lang="en-GB" b="1" dirty="0"/>
              <a:t>P4:</a:t>
            </a:r>
            <a:r>
              <a:rPr lang="en-GB" dirty="0"/>
              <a:t> 54×54 (medium context)</a:t>
            </a:r>
          </a:p>
          <a:p>
            <a:pPr lvl="1"/>
            <a:r>
              <a:rPr lang="en-GB" b="1" dirty="0"/>
              <a:t>P5:</a:t>
            </a:r>
            <a:r>
              <a:rPr lang="en-GB" dirty="0"/>
              <a:t> 27×27 (global context)</a:t>
            </a:r>
          </a:p>
          <a:p>
            <a:pPr lvl="1"/>
            <a:endParaRPr lang="en-GB" dirty="0"/>
          </a:p>
          <a:p>
            <a:r>
              <a:rPr lang="en-GB" dirty="0"/>
              <a:t>Created by:</a:t>
            </a:r>
          </a:p>
          <a:p>
            <a:pPr lvl="1"/>
            <a:r>
              <a:rPr lang="en-GB" dirty="0" err="1"/>
              <a:t>Strided</a:t>
            </a:r>
            <a:r>
              <a:rPr lang="en-GB" dirty="0"/>
              <a:t> 2×2 convolutions (</a:t>
            </a:r>
            <a:r>
              <a:rPr lang="en-GB" dirty="0" err="1"/>
              <a:t>downsampling</a:t>
            </a:r>
            <a:r>
              <a:rPr lang="en-GB" dirty="0"/>
              <a:t>)</a:t>
            </a:r>
          </a:p>
          <a:p>
            <a:pPr lvl="1"/>
            <a:r>
              <a:rPr lang="en-GB" dirty="0" err="1"/>
              <a:t>GroupNorm</a:t>
            </a:r>
            <a:r>
              <a:rPr lang="en-GB" dirty="0"/>
              <a:t> + GELU at each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“Here we check whether adding an ASPP block to the PixelFPN can recover performance losses.</a:t>
            </a:r>
          </a:p>
          <a:p>
            <a:r>
              <a:rPr lang="en-US"/>
              <a:t>The idea is that multi-dilation convolutions might give the same contextual benefits as the larger dual-resolution fusion.</a:t>
            </a:r>
          </a:p>
          <a:p>
            <a:r>
              <a:rPr lang="en-US"/>
              <a:t>Surprisingly, adding ASPP barely changed the score.</a:t>
            </a:r>
          </a:p>
          <a:p>
            <a:r>
              <a:rPr lang="en-US"/>
              <a:t>This suggests that the PixelFPN’s way of aggregating scales is already doing most of the heavy lifting, and ASPP doesn’t add much extra structure for this dataset.”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dirty="0"/>
              <a:t>“This experiment tries a more modern, adaptive decoding strategy inspired by Mask2Former.</a:t>
            </a:r>
          </a:p>
          <a:p>
            <a:endParaRPr lang="en-US" dirty="0"/>
          </a:p>
          <a:p>
            <a:r>
              <a:rPr lang="en-GB" dirty="0"/>
              <a:t>“Think of each query as a tiny specialist.</a:t>
            </a:r>
            <a:br>
              <a:rPr lang="en-GB" dirty="0"/>
            </a:br>
            <a:r>
              <a:rPr lang="en-GB" dirty="0"/>
              <a:t>One specializes in dense </a:t>
            </a:r>
            <a:r>
              <a:rPr lang="en-GB" dirty="0" err="1"/>
              <a:t>tumor</a:t>
            </a:r>
            <a:r>
              <a:rPr lang="en-GB" dirty="0"/>
              <a:t> clusters.</a:t>
            </a:r>
            <a:br>
              <a:rPr lang="en-GB" dirty="0"/>
            </a:br>
            <a:r>
              <a:rPr lang="en-GB" dirty="0"/>
              <a:t>Another in gland boundaries.</a:t>
            </a:r>
            <a:br>
              <a:rPr lang="en-GB" dirty="0"/>
            </a:br>
            <a:r>
              <a:rPr lang="en-GB" dirty="0"/>
              <a:t>Another in pale Leica staining.</a:t>
            </a:r>
            <a:br>
              <a:rPr lang="en-GB" dirty="0"/>
            </a:br>
            <a:r>
              <a:rPr lang="en-GB" dirty="0"/>
              <a:t>When we combine all of them, we get a robust segmentation even across scanners.</a:t>
            </a:r>
          </a:p>
          <a:p>
            <a:endParaRPr lang="en-US" dirty="0"/>
          </a:p>
          <a:p>
            <a:r>
              <a:rPr lang="en-GB" dirty="0"/>
              <a:t>Each query produces:</a:t>
            </a:r>
          </a:p>
          <a:p>
            <a:pPr lvl="1"/>
            <a:r>
              <a:rPr lang="en-GB" dirty="0"/>
              <a:t>a </a:t>
            </a:r>
            <a:r>
              <a:rPr lang="en-GB" b="1" dirty="0"/>
              <a:t>confidence score</a:t>
            </a:r>
            <a:r>
              <a:rPr lang="en-GB" dirty="0"/>
              <a:t> (“Did I find a </a:t>
            </a:r>
            <a:r>
              <a:rPr lang="en-GB" dirty="0" err="1"/>
              <a:t>tumor</a:t>
            </a:r>
            <a:r>
              <a:rPr lang="en-GB" dirty="0"/>
              <a:t> region?”)</a:t>
            </a:r>
          </a:p>
          <a:p>
            <a:pPr lvl="1"/>
            <a:r>
              <a:rPr lang="en-GB" dirty="0"/>
              <a:t>a </a:t>
            </a:r>
            <a:r>
              <a:rPr lang="en-GB" b="1" dirty="0"/>
              <a:t>mask embedding</a:t>
            </a:r>
            <a:r>
              <a:rPr lang="en-GB" dirty="0"/>
              <a:t> (latent description of the region’s shape)</a:t>
            </a:r>
          </a:p>
          <a:p>
            <a:pPr lvl="1"/>
            <a:endParaRPr lang="en-GB" dirty="0"/>
          </a:p>
          <a:p>
            <a:endParaRPr lang="en-GB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Only </a:t>
            </a:r>
            <a:r>
              <a:rPr lang="en-GB" b="1" dirty="0"/>
              <a:t>Top-K queries</a:t>
            </a:r>
            <a:r>
              <a:rPr lang="en-GB" dirty="0"/>
              <a:t> (64 in inference) are kept → reduces noise</a:t>
            </a:r>
            <a:r>
              <a:rPr lang="en-GB" b="1" dirty="0"/>
              <a:t>-&gt; NORMALIZED WEIGHTS</a:t>
            </a:r>
            <a:endParaRPr lang="en-GB" dirty="0"/>
          </a:p>
          <a:p>
            <a:r>
              <a:rPr lang="en-GB" dirty="0"/>
              <a:t>Mask embeddings + </a:t>
            </a:r>
            <a:r>
              <a:rPr lang="en-GB" b="1" dirty="0"/>
              <a:t>P3 pixel features</a:t>
            </a:r>
            <a:r>
              <a:rPr lang="en-GB" dirty="0"/>
              <a:t> -&gt; </a:t>
            </a:r>
            <a:r>
              <a:rPr lang="en-GB" b="1" dirty="0"/>
              <a:t>soft masks</a:t>
            </a:r>
          </a:p>
          <a:p>
            <a:r>
              <a:rPr lang="en-GB" dirty="0"/>
              <a:t>Each query’s mask is multiplied by its </a:t>
            </a:r>
            <a:r>
              <a:rPr lang="en-GB" b="1" dirty="0"/>
              <a:t>weight -&gt; MASK PROPOSAL</a:t>
            </a:r>
            <a:endParaRPr lang="en-GB" dirty="0"/>
          </a:p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“After identifying the best model, we tested several alternative losses to see if the training could become more stable or accurate.</a:t>
            </a:r>
          </a:p>
          <a:p>
            <a:r>
              <a:rPr lang="en-US"/>
              <a:t>Tversky and Focal losses only gave tiny improvements — too small to justify switching or complicating the setup.</a:t>
            </a:r>
          </a:p>
          <a:p>
            <a:r>
              <a:rPr lang="en-US"/>
              <a:t>This confirms a common trend in medical segmentation: BCE + Dice is still one of the most reliable, general-purpose formulations.”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561341" lvl="1" indent="-280670" algn="l">
              <a:lnSpc>
                <a:spcPts val="3640"/>
              </a:lnSpc>
              <a:spcBef>
                <a:spcPct val="0"/>
              </a:spcBef>
              <a:buFont typeface="Arial"/>
              <a:buChar char="•"/>
            </a:pPr>
            <a:r>
              <a:rPr lang="en-US" sz="2600" b="1" u="none" strike="noStrike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Best overall: </a:t>
            </a:r>
            <a:r>
              <a:rPr lang="en-US" sz="2600" u="none" strike="noStrik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Dual-Resolution Fusion + DeepLabV3</a:t>
            </a:r>
          </a:p>
          <a:p>
            <a:pPr marL="561341" lvl="1" indent="-280670" algn="l">
              <a:lnSpc>
                <a:spcPts val="3640"/>
              </a:lnSpc>
              <a:spcBef>
                <a:spcPct val="0"/>
              </a:spcBef>
              <a:buFont typeface="Arial"/>
              <a:buChar char="•"/>
            </a:pPr>
            <a:r>
              <a:rPr lang="en-US" sz="2600" b="1" u="none" strike="noStrike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Best efficiency:</a:t>
            </a:r>
            <a:r>
              <a:rPr lang="en-US" sz="2600" u="none" strike="noStrik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600" u="none" strike="noStrik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PixelFPN</a:t>
            </a:r>
            <a:r>
              <a:rPr lang="en-US" sz="2600" u="none" strike="noStrik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+ ASPP</a:t>
            </a:r>
          </a:p>
          <a:p>
            <a:pPr marL="561341" lvl="1" indent="-280670" algn="l">
              <a:lnSpc>
                <a:spcPts val="3640"/>
              </a:lnSpc>
              <a:spcBef>
                <a:spcPct val="0"/>
              </a:spcBef>
              <a:buFont typeface="Arial"/>
              <a:buChar char="•"/>
            </a:pPr>
            <a:r>
              <a:rPr lang="en-US" sz="2600" b="1" u="none" strike="noStrike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Strong baseline: </a:t>
            </a:r>
            <a:r>
              <a:rPr lang="en-US" sz="2600" u="none" strike="noStrik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DeepLabV3 (no aux)</a:t>
            </a:r>
          </a:p>
          <a:p>
            <a:endParaRPr lang="en-US" dirty="0"/>
          </a:p>
          <a:p>
            <a:r>
              <a:rPr lang="en-GB" b="1" dirty="0"/>
              <a:t>Best Performer: Dual-Resolution Fusion + DeepLabV3 (Score: 0.8217)</a:t>
            </a:r>
          </a:p>
          <a:p>
            <a:r>
              <a:rPr lang="en-GB" dirty="0"/>
              <a:t>Runs </a:t>
            </a:r>
            <a:r>
              <a:rPr lang="en-GB" b="1" dirty="0"/>
              <a:t>two forward passes</a:t>
            </a:r>
            <a:r>
              <a:rPr lang="en-GB" dirty="0"/>
              <a:t> through UNI2-H:</a:t>
            </a:r>
          </a:p>
          <a:p>
            <a:pPr lvl="1"/>
            <a:r>
              <a:rPr lang="en-GB" b="1" dirty="0"/>
              <a:t>High-resolution path</a:t>
            </a:r>
            <a:r>
              <a:rPr lang="en-GB" dirty="0"/>
              <a:t> → fine nuclei detail</a:t>
            </a:r>
          </a:p>
          <a:p>
            <a:pPr lvl="1"/>
            <a:r>
              <a:rPr lang="en-GB" b="1" dirty="0"/>
              <a:t>Low-resolution path</a:t>
            </a:r>
            <a:r>
              <a:rPr lang="en-GB" dirty="0"/>
              <a:t> → global tissue structure</a:t>
            </a:r>
          </a:p>
          <a:p>
            <a:r>
              <a:rPr lang="en-GB" b="1" dirty="0"/>
              <a:t>Cross-attention fusion</a:t>
            </a:r>
            <a:r>
              <a:rPr lang="en-GB" dirty="0"/>
              <a:t> allows HR tokens to request context from LR tokens</a:t>
            </a:r>
          </a:p>
          <a:p>
            <a:r>
              <a:rPr lang="en-GB" dirty="0"/>
              <a:t>Extremely effective for </a:t>
            </a:r>
            <a:r>
              <a:rPr lang="en-GB" b="1" dirty="0"/>
              <a:t>pale / low-contrast scanners</a:t>
            </a:r>
            <a:r>
              <a:rPr lang="en-GB" dirty="0"/>
              <a:t> (Leica, </a:t>
            </a:r>
            <a:r>
              <a:rPr lang="en-GB" dirty="0" err="1"/>
              <a:t>Motic</a:t>
            </a:r>
            <a:r>
              <a:rPr lang="en-GB" dirty="0"/>
              <a:t>)</a:t>
            </a:r>
          </a:p>
          <a:p>
            <a:r>
              <a:rPr lang="en-GB" dirty="0"/>
              <a:t>Handles </a:t>
            </a:r>
            <a:r>
              <a:rPr lang="en-GB" b="1" dirty="0"/>
              <a:t>ambiguous boundaries</a:t>
            </a:r>
            <a:r>
              <a:rPr lang="en-GB" dirty="0"/>
              <a:t> better than any other model</a:t>
            </a:r>
          </a:p>
          <a:p>
            <a:r>
              <a:rPr lang="en-GB" dirty="0"/>
              <a:t>Shows that </a:t>
            </a:r>
            <a:r>
              <a:rPr lang="en-GB" b="1" dirty="0"/>
              <a:t>local + global context together</a:t>
            </a:r>
            <a:r>
              <a:rPr lang="en-GB" dirty="0"/>
              <a:t> is essential for robust generalization</a:t>
            </a:r>
          </a:p>
          <a:p>
            <a:br>
              <a:rPr lang="en-GB" dirty="0"/>
            </a:br>
            <a:endParaRPr lang="en-GB" dirty="0"/>
          </a:p>
          <a:p>
            <a:r>
              <a:rPr lang="en-GR" b="1" dirty="0"/>
              <a:t>🧱 </a:t>
            </a:r>
            <a:r>
              <a:rPr lang="en-GB" b="1" dirty="0"/>
              <a:t>Strong Simple Baseline: DeepLabV3 (No Auxiliary Head)</a:t>
            </a:r>
          </a:p>
          <a:p>
            <a:r>
              <a:rPr lang="en-GB" dirty="0"/>
              <a:t>Clean, stable, and </a:t>
            </a:r>
            <a:r>
              <a:rPr lang="en-GB" b="1" dirty="0"/>
              <a:t>consistently strong across scanners</a:t>
            </a:r>
            <a:endParaRPr lang="en-GB" dirty="0"/>
          </a:p>
          <a:p>
            <a:r>
              <a:rPr lang="en-GB" dirty="0"/>
              <a:t>Auxiliary supervision </a:t>
            </a:r>
            <a:r>
              <a:rPr lang="en-GB" b="1" dirty="0"/>
              <a:t>did not help</a:t>
            </a:r>
            <a:r>
              <a:rPr lang="en-GB" dirty="0"/>
              <a:t> and slightly reduced score</a:t>
            </a:r>
          </a:p>
          <a:p>
            <a:r>
              <a:rPr lang="en-GB" dirty="0"/>
              <a:t>Matches recent findings:</a:t>
            </a:r>
          </a:p>
          <a:p>
            <a:pPr lvl="1"/>
            <a:r>
              <a:rPr lang="en-GB" b="1" dirty="0"/>
              <a:t>Auxiliary heads help CNN backbones</a:t>
            </a:r>
            <a:r>
              <a:rPr lang="en-GB" dirty="0"/>
              <a:t>,</a:t>
            </a:r>
          </a:p>
          <a:p>
            <a:pPr lvl="1"/>
            <a:r>
              <a:rPr lang="en-GB" b="1" dirty="0"/>
              <a:t>but not </a:t>
            </a:r>
            <a:r>
              <a:rPr lang="en-GB" b="1" dirty="0" err="1"/>
              <a:t>ViT</a:t>
            </a:r>
            <a:r>
              <a:rPr lang="en-GB" b="1" dirty="0"/>
              <a:t>-based encoders</a:t>
            </a:r>
            <a:r>
              <a:rPr lang="en-GB" dirty="0"/>
              <a:t> like UNI2-H (already stable gradients)</a:t>
            </a:r>
          </a:p>
          <a:p>
            <a:r>
              <a:rPr lang="en-GB" dirty="0"/>
              <a:t>A very reliable “classic” reference model</a:t>
            </a:r>
          </a:p>
          <a:p>
            <a:br>
              <a:rPr lang="en-GB" dirty="0"/>
            </a:br>
            <a:endParaRPr lang="en-GB" dirty="0"/>
          </a:p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“One of the biggest strengths of the thesis is the fairness of the experimental pipeline: every model was trained under identical conditions, so differences came purely from architecture.</a:t>
            </a:r>
          </a:p>
          <a:p>
            <a:r>
              <a:rPr lang="en-US"/>
              <a:t>Another strength is the multi-stage post-processing sweep, which significantly boosted results while adding interpretability.</a:t>
            </a:r>
          </a:p>
          <a:p>
            <a:r>
              <a:rPr lang="en-US"/>
              <a:t>UNI2-H proved ideal for cross-scanner tasks due to its large histology pretraining.</a:t>
            </a:r>
          </a:p>
          <a:p>
            <a:r>
              <a:rPr lang="en-US"/>
              <a:t>Finally, the dual-resolution fusion architecture showed clear benefits for scanners with difficult boundaries like Leica and Motic.”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dirty="0"/>
              <a:t>“Although the architectures weren't excessively heavy, GPU memory usage was still high due to 1512×1512 inputs and </a:t>
            </a:r>
            <a:r>
              <a:rPr lang="en-US" dirty="0" err="1"/>
              <a:t>ViT</a:t>
            </a:r>
            <a:r>
              <a:rPr lang="en-US" dirty="0"/>
              <a:t>-H/14 encoders.</a:t>
            </a:r>
          </a:p>
          <a:p>
            <a:r>
              <a:rPr lang="en-US" dirty="0"/>
              <a:t>Bias came from uneven scanner representation, especially in the preliminary phase, which accounts for 20% of the final score.</a:t>
            </a:r>
          </a:p>
          <a:p>
            <a:r>
              <a:rPr lang="en-US" dirty="0"/>
              <a:t>Static validation made experimentation faster, but post-processing might be slightly tuned to that specific distribution.</a:t>
            </a:r>
          </a:p>
          <a:p>
            <a:r>
              <a:rPr lang="en-US" dirty="0"/>
              <a:t>And finally, the small dataset means that random variation had more influence than ideal.”</a:t>
            </a:r>
          </a:p>
          <a:p>
            <a:endParaRPr lang="en-US" dirty="0"/>
          </a:p>
          <a:p>
            <a:endParaRPr lang="en-US" dirty="0"/>
          </a:p>
          <a:p>
            <a:r>
              <a:rPr lang="en-GB" dirty="0"/>
              <a:t>Cached validation predictions allow fast experimentation, but tuning thresholds directly on a fixed set of probability maps can slightly overfit post-processing to that dataset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dirty="0"/>
              <a:t>“Scanner imbalance strongly shaped performance: </a:t>
            </a:r>
          </a:p>
          <a:p>
            <a:r>
              <a:rPr lang="en-US" dirty="0"/>
              <a:t>- scanners with bright stains and high tumor ratio naturally gave higher Dice/Jaccard</a:t>
            </a:r>
          </a:p>
          <a:p>
            <a:endParaRPr lang="en-US" dirty="0"/>
          </a:p>
          <a:p>
            <a:r>
              <a:rPr lang="en-US" dirty="0"/>
              <a:t>Because color augmentations were global, the model may have been unintentionally biased toward bright domains like 3D-1000.</a:t>
            </a:r>
          </a:p>
          <a:p>
            <a:endParaRPr lang="en-US" dirty="0"/>
          </a:p>
          <a:p>
            <a:r>
              <a:rPr lang="en-US" dirty="0"/>
              <a:t>Also, tuning thresholds on validation data means dominant scanners influenced calibration more than rare ones.</a:t>
            </a:r>
          </a:p>
          <a:p>
            <a:endParaRPr lang="en-US" dirty="0"/>
          </a:p>
          <a:p>
            <a:r>
              <a:rPr lang="en-US" dirty="0"/>
              <a:t>This does not affect relative model comparison, but it may shift absolute scores.”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br>
              <a:rPr lang="en-GB" dirty="0"/>
            </a:br>
            <a:r>
              <a:rPr lang="en-GB" b="1" dirty="0"/>
              <a:t>⚖️ Mid-Performing Scanner: KFBIO-400</a:t>
            </a:r>
          </a:p>
          <a:p>
            <a:r>
              <a:rPr lang="en-GB" b="1" dirty="0"/>
              <a:t>Medium-intensity, stable staining</a:t>
            </a:r>
            <a:endParaRPr lang="en-GB" dirty="0"/>
          </a:p>
          <a:p>
            <a:r>
              <a:rPr lang="en-GB" b="1" dirty="0"/>
              <a:t>Seen during training → well calibrated</a:t>
            </a:r>
            <a:endParaRPr lang="en-GB" dirty="0"/>
          </a:p>
          <a:p>
            <a:r>
              <a:rPr lang="en-GB" dirty="0"/>
              <a:t>Balanced </a:t>
            </a:r>
            <a:r>
              <a:rPr lang="en-GB" dirty="0" err="1"/>
              <a:t>tumor</a:t>
            </a:r>
            <a:r>
              <a:rPr lang="en-GB" dirty="0"/>
              <a:t> presence</a:t>
            </a:r>
          </a:p>
          <a:p>
            <a:r>
              <a:rPr lang="en-GB" dirty="0"/>
              <a:t>Performance stays </a:t>
            </a:r>
            <a:r>
              <a:rPr lang="en-GB" b="1" dirty="0"/>
              <a:t>consistent across all architectures</a:t>
            </a:r>
            <a:endParaRPr lang="en-GB" dirty="0"/>
          </a:p>
          <a:p>
            <a:pPr lvl="1"/>
            <a:r>
              <a:rPr lang="en-GB" dirty="0" err="1"/>
              <a:t>DeepLab</a:t>
            </a:r>
            <a:endParaRPr lang="en-GB" dirty="0"/>
          </a:p>
          <a:p>
            <a:pPr lvl="1"/>
            <a:r>
              <a:rPr lang="en-GB" dirty="0"/>
              <a:t>ASPP</a:t>
            </a:r>
          </a:p>
          <a:p>
            <a:pPr lvl="1"/>
            <a:r>
              <a:rPr lang="en-GB" dirty="0" err="1"/>
              <a:t>PixelFPN</a:t>
            </a:r>
            <a:endParaRPr lang="en-GB" dirty="0"/>
          </a:p>
          <a:p>
            <a:pPr lvl="1"/>
            <a:r>
              <a:rPr lang="en-GB" dirty="0"/>
              <a:t>Query decoder</a:t>
            </a:r>
          </a:p>
          <a:p>
            <a:r>
              <a:rPr lang="en-GB" dirty="0"/>
              <a:t>Shows that </a:t>
            </a:r>
            <a:r>
              <a:rPr lang="en-GB" b="1" dirty="0"/>
              <a:t>when calibration is good, architecture matters less</a:t>
            </a:r>
            <a:endParaRPr lang="en-GB" dirty="0"/>
          </a:p>
          <a:p>
            <a:br>
              <a:rPr lang="en-GB" dirty="0"/>
            </a:br>
            <a:endParaRPr lang="en-GB" dirty="0"/>
          </a:p>
          <a:p>
            <a:r>
              <a:rPr lang="en-GB" b="1" dirty="0" err="1"/>
              <a:t>Motic</a:t>
            </a:r>
            <a:endParaRPr lang="en-GB" b="1" dirty="0"/>
          </a:p>
          <a:p>
            <a:r>
              <a:rPr lang="en-GB" b="1" dirty="0"/>
              <a:t>Darker, bluish hue</a:t>
            </a:r>
            <a:endParaRPr lang="en-GB" dirty="0"/>
          </a:p>
          <a:p>
            <a:r>
              <a:rPr lang="en-GB" dirty="0"/>
              <a:t>Lower contrast between </a:t>
            </a:r>
            <a:r>
              <a:rPr lang="en-GB" dirty="0" err="1"/>
              <a:t>tumor</a:t>
            </a:r>
            <a:r>
              <a:rPr lang="en-GB" dirty="0"/>
              <a:t> and stroma</a:t>
            </a:r>
          </a:p>
          <a:p>
            <a:r>
              <a:rPr lang="en-GB" dirty="0"/>
              <a:t>Hard for the model to separate regions</a:t>
            </a:r>
          </a:p>
          <a:p>
            <a:r>
              <a:rPr lang="en-GB" dirty="0"/>
              <a:t>Tends to </a:t>
            </a:r>
            <a:r>
              <a:rPr lang="en-GB" b="1" dirty="0"/>
              <a:t>under-segment nuclei</a:t>
            </a:r>
          </a:p>
          <a:p>
            <a:br>
              <a:rPr lang="en-GB" dirty="0"/>
            </a:br>
            <a:endParaRPr lang="en-GB" dirty="0"/>
          </a:p>
          <a:p>
            <a:r>
              <a:rPr lang="en-GR" b="1" dirty="0"/>
              <a:t>🔍 </a:t>
            </a:r>
            <a:r>
              <a:rPr lang="en-GB" b="1" dirty="0"/>
              <a:t>Special Case: Teksqray-600p</a:t>
            </a:r>
          </a:p>
          <a:p>
            <a:r>
              <a:rPr lang="en-GB" b="1" dirty="0"/>
              <a:t>Very high contrast</a:t>
            </a:r>
            <a:r>
              <a:rPr lang="en-GB" dirty="0"/>
              <a:t>, extremely sharp nuclei</a:t>
            </a:r>
          </a:p>
          <a:p>
            <a:r>
              <a:rPr lang="en-GB" dirty="0" err="1"/>
              <a:t>Tumor</a:t>
            </a:r>
            <a:r>
              <a:rPr lang="en-GB" dirty="0"/>
              <a:t> boundaries are </a:t>
            </a:r>
            <a:r>
              <a:rPr lang="en-GB" b="1" dirty="0"/>
              <a:t>already well defined</a:t>
            </a:r>
            <a:endParaRPr lang="en-GB" dirty="0"/>
          </a:p>
          <a:p>
            <a:r>
              <a:rPr lang="en-GB" b="1" dirty="0"/>
              <a:t>Simpler decoders</a:t>
            </a:r>
            <a:r>
              <a:rPr lang="en-GB" dirty="0"/>
              <a:t> (</a:t>
            </a:r>
            <a:r>
              <a:rPr lang="en-GB" dirty="0" err="1"/>
              <a:t>PixelFPN</a:t>
            </a:r>
            <a:r>
              <a:rPr lang="en-GB" dirty="0"/>
              <a:t> + 1×1) perform </a:t>
            </a:r>
            <a:r>
              <a:rPr lang="en-GB" b="1" dirty="0"/>
              <a:t>better</a:t>
            </a:r>
            <a:r>
              <a:rPr lang="en-GB" dirty="0"/>
              <a:t> than complex ones</a:t>
            </a:r>
          </a:p>
          <a:p>
            <a:r>
              <a:rPr lang="en-GB" dirty="0"/>
              <a:t>Reason:</a:t>
            </a:r>
          </a:p>
          <a:p>
            <a:pPr lvl="1"/>
            <a:r>
              <a:rPr lang="en-GB" dirty="0"/>
              <a:t>Clean logits threshold perfectly</a:t>
            </a:r>
          </a:p>
          <a:p>
            <a:pPr lvl="1"/>
            <a:r>
              <a:rPr lang="en-GB" dirty="0"/>
              <a:t>No need for heavy multi-scale reasoning</a:t>
            </a:r>
          </a:p>
          <a:p>
            <a:r>
              <a:rPr lang="en-GB" dirty="0"/>
              <a:t>Demonstrates that </a:t>
            </a:r>
            <a:r>
              <a:rPr lang="en-GB" b="1" dirty="0"/>
              <a:t>high-contrast scanners reward simpler models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  <a:p>
            <a:r>
              <a:rPr lang="en-GB" b="1" dirty="0"/>
              <a:t>HED JITTER-&gt; </a:t>
            </a:r>
          </a:p>
          <a:p>
            <a:pPr lvl="1"/>
            <a:r>
              <a:rPr lang="en-GB" b="1" dirty="0" err="1"/>
              <a:t>Hematoxylin</a:t>
            </a:r>
            <a:r>
              <a:rPr lang="en-GB" b="1" dirty="0"/>
              <a:t> (H)</a:t>
            </a:r>
            <a:r>
              <a:rPr lang="en-GB" dirty="0"/>
              <a:t> – blue/purple nuclei</a:t>
            </a:r>
          </a:p>
          <a:p>
            <a:pPr lvl="1"/>
            <a:r>
              <a:rPr lang="en-GB" b="1" dirty="0"/>
              <a:t>Eosin (E)</a:t>
            </a:r>
            <a:r>
              <a:rPr lang="en-GB" dirty="0"/>
              <a:t> – pink cytoplasm</a:t>
            </a:r>
          </a:p>
          <a:p>
            <a:pPr lvl="1"/>
            <a:r>
              <a:rPr lang="en-GB" b="1" dirty="0"/>
              <a:t>DAB (D)</a:t>
            </a:r>
            <a:r>
              <a:rPr lang="en-GB" dirty="0"/>
              <a:t> – brown stain in immunohistochemistry (often 0 in pure H&amp;E)</a:t>
            </a:r>
          </a:p>
          <a:p>
            <a:endParaRPr lang="en-GB" b="1" dirty="0"/>
          </a:p>
          <a:p>
            <a:pPr lvl="1"/>
            <a:r>
              <a:rPr lang="en-GB" b="1" dirty="0"/>
              <a:t>HED jitter augmentation</a:t>
            </a:r>
            <a:r>
              <a:rPr lang="en-GB" dirty="0"/>
              <a:t> means:</a:t>
            </a:r>
          </a:p>
          <a:p>
            <a:pPr lvl="2"/>
            <a:r>
              <a:rPr lang="en-GB" dirty="0"/>
              <a:t>Convert RGB → HED stain space</a:t>
            </a:r>
          </a:p>
          <a:p>
            <a:pPr lvl="2"/>
            <a:r>
              <a:rPr lang="en-GB" dirty="0"/>
              <a:t>Randomly perturb each stain channel</a:t>
            </a:r>
          </a:p>
          <a:p>
            <a:pPr lvl="2"/>
            <a:r>
              <a:rPr lang="en-GB" dirty="0"/>
              <a:t>Convert back to RGB</a:t>
            </a:r>
          </a:p>
          <a:p>
            <a:br>
              <a:rPr lang="en-GB" dirty="0"/>
            </a:b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840F26-FAF9-15F6-4255-5F5129F351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FAC9AB0-04DA-7A43-1DBB-98506D43273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E985D8-5B13-2061-9538-10320876EA74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90757B3D-4A30-BEA1-10EE-33C5E90D2C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911BD53A-A12A-482C-064D-DF2541777F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GB" b="1" dirty="0"/>
              <a:t>Main Contributions</a:t>
            </a:r>
          </a:p>
          <a:p>
            <a:r>
              <a:rPr lang="en-GB" b="1" dirty="0"/>
              <a:t>UNI2-H worked very well</a:t>
            </a:r>
            <a:r>
              <a:rPr lang="en-GB" dirty="0"/>
              <a:t> for cross-scanner </a:t>
            </a:r>
            <a:r>
              <a:rPr lang="en-GB" dirty="0" err="1"/>
              <a:t>tumor</a:t>
            </a:r>
            <a:r>
              <a:rPr lang="en-GB" dirty="0"/>
              <a:t> segmentation</a:t>
            </a:r>
            <a:br>
              <a:rPr lang="en-GB" dirty="0"/>
            </a:br>
            <a:r>
              <a:rPr lang="en-GB" dirty="0"/>
              <a:t>→ Scores </a:t>
            </a:r>
            <a:r>
              <a:rPr lang="en-GB" b="1" dirty="0"/>
              <a:t>&gt;0.81</a:t>
            </a:r>
            <a:r>
              <a:rPr lang="en-GB" dirty="0"/>
              <a:t>, close to top COSAS teams</a:t>
            </a:r>
          </a:p>
          <a:p>
            <a:r>
              <a:rPr lang="en-GB" b="1" dirty="0"/>
              <a:t>Fair experiments</a:t>
            </a:r>
            <a:r>
              <a:rPr lang="en-GB" dirty="0"/>
              <a:t>: all models trained with the </a:t>
            </a:r>
            <a:r>
              <a:rPr lang="en-GB" b="1" dirty="0"/>
              <a:t>same setup</a:t>
            </a:r>
            <a:br>
              <a:rPr lang="en-GB" dirty="0"/>
            </a:br>
            <a:r>
              <a:rPr lang="en-GB" dirty="0"/>
              <a:t>→ Differences came from architecture, not randomness</a:t>
            </a:r>
          </a:p>
          <a:p>
            <a:r>
              <a:rPr lang="en-GB" b="1" dirty="0"/>
              <a:t>Scanner-by-scanner analysis</a:t>
            </a:r>
            <a:br>
              <a:rPr lang="en-GB" dirty="0"/>
            </a:br>
            <a:r>
              <a:rPr lang="en-GB" dirty="0"/>
              <a:t>→ Bright scanners (3D-1000, 3D-250) perform best</a:t>
            </a:r>
            <a:br>
              <a:rPr lang="en-GB" dirty="0"/>
            </a:br>
            <a:r>
              <a:rPr lang="en-GB" dirty="0"/>
              <a:t>→ Pale/dark scanners (Leica, </a:t>
            </a:r>
            <a:r>
              <a:rPr lang="en-GB" dirty="0" err="1"/>
              <a:t>Motic</a:t>
            </a:r>
            <a:r>
              <a:rPr lang="en-GB" dirty="0"/>
              <a:t>) are hardest</a:t>
            </a:r>
          </a:p>
          <a:p>
            <a:r>
              <a:rPr lang="en-GB" b="1" dirty="0"/>
              <a:t>Good balance of accuracy + efficiency</a:t>
            </a:r>
            <a:br>
              <a:rPr lang="en-GB" dirty="0"/>
            </a:br>
            <a:r>
              <a:rPr lang="en-GB" dirty="0"/>
              <a:t>→ All models fit in </a:t>
            </a:r>
            <a:r>
              <a:rPr lang="en-GB" b="1" dirty="0"/>
              <a:t>11–19 GB VRAM</a:t>
            </a:r>
            <a:r>
              <a:rPr lang="en-GB" dirty="0"/>
              <a:t>, inference still practical</a:t>
            </a:r>
          </a:p>
          <a:p>
            <a:r>
              <a:rPr lang="en-GB" b="1" dirty="0"/>
              <a:t>Strong post-processing pipeline</a:t>
            </a:r>
            <a:br>
              <a:rPr lang="en-GB" dirty="0"/>
            </a:br>
            <a:r>
              <a:rPr lang="en-GB" dirty="0"/>
              <a:t>→ Threshold + morphology sweep improved results </a:t>
            </a:r>
            <a:r>
              <a:rPr lang="en-GB" b="1" dirty="0"/>
              <a:t>without retraining</a:t>
            </a:r>
            <a:endParaRPr lang="en-GB" dirty="0"/>
          </a:p>
          <a:p>
            <a:r>
              <a:rPr lang="en-GB" b="1" dirty="0"/>
              <a:t>Modular framework</a:t>
            </a:r>
            <a:br>
              <a:rPr lang="en-GB" dirty="0"/>
            </a:br>
            <a:r>
              <a:rPr lang="en-GB" dirty="0"/>
              <a:t>→ Can extend to stain normalization, domain adaptation, or WSI-level work</a:t>
            </a:r>
          </a:p>
          <a:p>
            <a:endParaRPr lang="en-US" dirty="0"/>
          </a:p>
          <a:p>
            <a:r>
              <a:rPr lang="en-GB" b="1" dirty="0"/>
              <a:t>Future Work</a:t>
            </a:r>
          </a:p>
          <a:p>
            <a:r>
              <a:rPr lang="en-GB" b="1" dirty="0"/>
              <a:t>Use multi-institution, multi-scanner datasets</a:t>
            </a:r>
            <a:br>
              <a:rPr lang="en-GB" dirty="0"/>
            </a:br>
            <a:r>
              <a:rPr lang="en-GB" dirty="0"/>
              <a:t>→ Better domain robustness</a:t>
            </a:r>
          </a:p>
          <a:p>
            <a:r>
              <a:rPr lang="en-GB" b="1" dirty="0"/>
              <a:t>Add stain normalization / domain calibration</a:t>
            </a:r>
            <a:br>
              <a:rPr lang="en-GB" dirty="0"/>
            </a:br>
            <a:r>
              <a:rPr lang="en-GB" dirty="0"/>
              <a:t>→ Reduce scanner differences</a:t>
            </a:r>
          </a:p>
          <a:p>
            <a:r>
              <a:rPr lang="en-GB" b="1" dirty="0"/>
              <a:t>Move to WSI-level models</a:t>
            </a:r>
            <a:br>
              <a:rPr lang="en-GB" dirty="0"/>
            </a:br>
            <a:r>
              <a:rPr lang="en-GB" dirty="0"/>
              <a:t>→ Better tissue-level understanding</a:t>
            </a:r>
          </a:p>
          <a:p>
            <a:r>
              <a:rPr lang="en-GB" b="1" dirty="0"/>
              <a:t>Self-supervised adaptation for new hospitals</a:t>
            </a:r>
            <a:br>
              <a:rPr lang="en-GB" dirty="0"/>
            </a:br>
            <a:r>
              <a:rPr lang="en-GB" dirty="0"/>
              <a:t>→ Works with </a:t>
            </a:r>
            <a:r>
              <a:rPr lang="en-GB" dirty="0" err="1"/>
              <a:t>unlabeled</a:t>
            </a:r>
            <a:r>
              <a:rPr lang="en-GB" dirty="0"/>
              <a:t> slides</a:t>
            </a:r>
          </a:p>
          <a:p>
            <a:r>
              <a:rPr lang="en-GB" b="1" dirty="0"/>
              <a:t>Optimize model efficiency</a:t>
            </a:r>
            <a:br>
              <a:rPr lang="en-GB" dirty="0"/>
            </a:br>
            <a:r>
              <a:rPr lang="en-GB" dirty="0"/>
              <a:t>→ Quantization, distillation, lighter architectures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D1DA2F-76FF-0406-3143-FC779D3A69C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02DA7B-141E-8A87-6289-10D85F6E43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06266840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D20825-6F1F-8F10-08DC-061AA63C2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514B8A9-DCD0-88F2-6AC1-D1D0EE3D5E6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0AA40B-08CD-8C5E-C270-AE12A6B0F12D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8081BABD-1A63-1192-91E4-851046726F1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9D18BC55-F46D-9A1C-06C7-4C7BC2954F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GB" b="1" dirty="0"/>
              <a:t>Main Contributions</a:t>
            </a:r>
          </a:p>
          <a:p>
            <a:r>
              <a:rPr lang="en-GB" b="1" dirty="0"/>
              <a:t>UNI2-H worked very well</a:t>
            </a:r>
            <a:r>
              <a:rPr lang="en-GB" dirty="0"/>
              <a:t> for cross-scanner </a:t>
            </a:r>
            <a:r>
              <a:rPr lang="en-GB" dirty="0" err="1"/>
              <a:t>tumor</a:t>
            </a:r>
            <a:r>
              <a:rPr lang="en-GB" dirty="0"/>
              <a:t> segmentation</a:t>
            </a:r>
            <a:br>
              <a:rPr lang="en-GB" dirty="0"/>
            </a:br>
            <a:r>
              <a:rPr lang="en-GB" dirty="0"/>
              <a:t>→ Scores </a:t>
            </a:r>
            <a:r>
              <a:rPr lang="en-GB" b="1" dirty="0"/>
              <a:t>&gt;0.81</a:t>
            </a:r>
            <a:r>
              <a:rPr lang="en-GB" dirty="0"/>
              <a:t>, close to top COSAS teams</a:t>
            </a:r>
          </a:p>
          <a:p>
            <a:r>
              <a:rPr lang="en-GB" b="1" dirty="0"/>
              <a:t>Fair experiments</a:t>
            </a:r>
            <a:r>
              <a:rPr lang="en-GB" dirty="0"/>
              <a:t>: all models trained with the </a:t>
            </a:r>
            <a:r>
              <a:rPr lang="en-GB" b="1" dirty="0"/>
              <a:t>same setup</a:t>
            </a:r>
            <a:br>
              <a:rPr lang="en-GB" dirty="0"/>
            </a:br>
            <a:r>
              <a:rPr lang="en-GB" dirty="0"/>
              <a:t>→ Differences came from architecture, not randomness</a:t>
            </a:r>
          </a:p>
          <a:p>
            <a:r>
              <a:rPr lang="en-GB" b="1" dirty="0"/>
              <a:t>Scanner-by-scanner analysis</a:t>
            </a:r>
            <a:br>
              <a:rPr lang="en-GB" dirty="0"/>
            </a:br>
            <a:r>
              <a:rPr lang="en-GB" dirty="0"/>
              <a:t>→ Bright scanners (3D-1000, 3D-250) perform best</a:t>
            </a:r>
            <a:br>
              <a:rPr lang="en-GB" dirty="0"/>
            </a:br>
            <a:r>
              <a:rPr lang="en-GB" dirty="0"/>
              <a:t>→ Pale/dark scanners (Leica, </a:t>
            </a:r>
            <a:r>
              <a:rPr lang="en-GB" dirty="0" err="1"/>
              <a:t>Motic</a:t>
            </a:r>
            <a:r>
              <a:rPr lang="en-GB" dirty="0"/>
              <a:t>) are hardest</a:t>
            </a:r>
          </a:p>
          <a:p>
            <a:r>
              <a:rPr lang="en-GB" b="1" dirty="0"/>
              <a:t>Good balance of accuracy + efficiency</a:t>
            </a:r>
            <a:br>
              <a:rPr lang="en-GB" dirty="0"/>
            </a:br>
            <a:r>
              <a:rPr lang="en-GB" dirty="0"/>
              <a:t>→ All models fit in </a:t>
            </a:r>
            <a:r>
              <a:rPr lang="en-GB" b="1" dirty="0"/>
              <a:t>11–19 GB VRAM</a:t>
            </a:r>
            <a:r>
              <a:rPr lang="en-GB" dirty="0"/>
              <a:t>, inference still practical</a:t>
            </a:r>
          </a:p>
          <a:p>
            <a:r>
              <a:rPr lang="en-GB" b="1" dirty="0"/>
              <a:t>Strong post-processing pipeline</a:t>
            </a:r>
            <a:br>
              <a:rPr lang="en-GB" dirty="0"/>
            </a:br>
            <a:r>
              <a:rPr lang="en-GB" dirty="0"/>
              <a:t>→ Threshold + morphology sweep improved results </a:t>
            </a:r>
            <a:r>
              <a:rPr lang="en-GB" b="1" dirty="0"/>
              <a:t>without retraining</a:t>
            </a:r>
            <a:endParaRPr lang="en-GB" dirty="0"/>
          </a:p>
          <a:p>
            <a:r>
              <a:rPr lang="en-GB" b="1" dirty="0"/>
              <a:t>Modular framework</a:t>
            </a:r>
            <a:br>
              <a:rPr lang="en-GB" dirty="0"/>
            </a:br>
            <a:r>
              <a:rPr lang="en-GB" dirty="0"/>
              <a:t>→ Can extend to stain normalization, domain adaptation, or WSI-level work</a:t>
            </a:r>
          </a:p>
          <a:p>
            <a:endParaRPr lang="en-US" dirty="0"/>
          </a:p>
          <a:p>
            <a:r>
              <a:rPr lang="en-GB" b="1" dirty="0"/>
              <a:t>Future Work</a:t>
            </a:r>
          </a:p>
          <a:p>
            <a:r>
              <a:rPr lang="en-GB" b="1" dirty="0"/>
              <a:t>Use multi-institution, multi-scanner datasets</a:t>
            </a:r>
            <a:br>
              <a:rPr lang="en-GB" dirty="0"/>
            </a:br>
            <a:r>
              <a:rPr lang="en-GB" dirty="0"/>
              <a:t>→ Better domain robustness</a:t>
            </a:r>
          </a:p>
          <a:p>
            <a:r>
              <a:rPr lang="en-GB" b="1" dirty="0"/>
              <a:t>Add stain normalization / domain calibration</a:t>
            </a:r>
            <a:br>
              <a:rPr lang="en-GB" dirty="0"/>
            </a:br>
            <a:r>
              <a:rPr lang="en-GB" dirty="0"/>
              <a:t>→ Reduce scanner differences</a:t>
            </a:r>
          </a:p>
          <a:p>
            <a:r>
              <a:rPr lang="en-GB" b="1" dirty="0"/>
              <a:t>Move to WSI-level models</a:t>
            </a:r>
            <a:br>
              <a:rPr lang="en-GB" dirty="0"/>
            </a:br>
            <a:r>
              <a:rPr lang="en-GB" dirty="0"/>
              <a:t>→ Better tissue-level understanding</a:t>
            </a:r>
          </a:p>
          <a:p>
            <a:r>
              <a:rPr lang="en-GB" b="1" dirty="0"/>
              <a:t>Self-supervised adaptation for new hospitals</a:t>
            </a:r>
            <a:br>
              <a:rPr lang="en-GB" dirty="0"/>
            </a:br>
            <a:r>
              <a:rPr lang="en-GB" dirty="0"/>
              <a:t>→ Works with </a:t>
            </a:r>
            <a:r>
              <a:rPr lang="en-GB" dirty="0" err="1"/>
              <a:t>unlabeled</a:t>
            </a:r>
            <a:r>
              <a:rPr lang="en-GB" dirty="0"/>
              <a:t> slides</a:t>
            </a:r>
          </a:p>
          <a:p>
            <a:r>
              <a:rPr lang="en-GB" b="1" dirty="0"/>
              <a:t>Optimize model efficiency</a:t>
            </a:r>
            <a:br>
              <a:rPr lang="en-GB" dirty="0"/>
            </a:br>
            <a:r>
              <a:rPr lang="en-GB" dirty="0"/>
              <a:t>→ Quantization, distillation, lighter architectures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317278-EF54-D04E-A103-E0BD244384C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71AE8C-45A2-2366-0D8C-63F440DDD5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7448822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.xml"/><Relationship Id="rId5" Type="http://schemas.openxmlformats.org/officeDocument/2006/relationships/image" Target="../media/image33.png"/><Relationship Id="rId4" Type="http://schemas.openxmlformats.org/officeDocument/2006/relationships/customXml" Target="../ink/ink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7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6009" y="321009"/>
            <a:ext cx="4827823" cy="1415383"/>
          </a:xfrm>
          <a:custGeom>
            <a:avLst/>
            <a:gdLst/>
            <a:ahLst/>
            <a:cxnLst/>
            <a:rect l="l" t="t" r="r" b="b"/>
            <a:pathLst>
              <a:path w="4827823" h="1415383">
                <a:moveTo>
                  <a:pt x="0" y="0"/>
                </a:moveTo>
                <a:lnTo>
                  <a:pt x="4827823" y="0"/>
                </a:lnTo>
                <a:lnTo>
                  <a:pt x="4827823" y="1415382"/>
                </a:lnTo>
                <a:lnTo>
                  <a:pt x="0" y="14153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3469" t="-165939" r="-14536" b="-170684"/>
            </a:stretch>
          </a:blipFill>
        </p:spPr>
        <p:txBody>
          <a:bodyPr/>
          <a:lstStyle/>
          <a:p>
            <a:endParaRPr lang="en-GR"/>
          </a:p>
        </p:txBody>
      </p:sp>
      <p:grpSp>
        <p:nvGrpSpPr>
          <p:cNvPr id="3" name="Group 3"/>
          <p:cNvGrpSpPr/>
          <p:nvPr/>
        </p:nvGrpSpPr>
        <p:grpSpPr>
          <a:xfrm>
            <a:off x="3031737" y="3637488"/>
            <a:ext cx="12224525" cy="1813140"/>
            <a:chOff x="0" y="0"/>
            <a:chExt cx="3219628" cy="47753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219628" cy="477535"/>
            </a:xfrm>
            <a:custGeom>
              <a:avLst/>
              <a:gdLst/>
              <a:ahLst/>
              <a:cxnLst/>
              <a:rect l="l" t="t" r="r" b="b"/>
              <a:pathLst>
                <a:path w="3219628" h="477535">
                  <a:moveTo>
                    <a:pt x="32299" y="0"/>
                  </a:moveTo>
                  <a:lnTo>
                    <a:pt x="3187329" y="0"/>
                  </a:lnTo>
                  <a:cubicBezTo>
                    <a:pt x="3195895" y="0"/>
                    <a:pt x="3204111" y="3403"/>
                    <a:pt x="3210168" y="9460"/>
                  </a:cubicBezTo>
                  <a:cubicBezTo>
                    <a:pt x="3216225" y="15517"/>
                    <a:pt x="3219628" y="23733"/>
                    <a:pt x="3219628" y="32299"/>
                  </a:cubicBezTo>
                  <a:lnTo>
                    <a:pt x="3219628" y="445236"/>
                  </a:lnTo>
                  <a:cubicBezTo>
                    <a:pt x="3219628" y="463074"/>
                    <a:pt x="3205167" y="477535"/>
                    <a:pt x="3187329" y="477535"/>
                  </a:cubicBezTo>
                  <a:lnTo>
                    <a:pt x="32299" y="477535"/>
                  </a:lnTo>
                  <a:cubicBezTo>
                    <a:pt x="23733" y="477535"/>
                    <a:pt x="15517" y="474132"/>
                    <a:pt x="9460" y="468075"/>
                  </a:cubicBezTo>
                  <a:cubicBezTo>
                    <a:pt x="3403" y="462018"/>
                    <a:pt x="0" y="453802"/>
                    <a:pt x="0" y="445236"/>
                  </a:cubicBezTo>
                  <a:lnTo>
                    <a:pt x="0" y="32299"/>
                  </a:lnTo>
                  <a:cubicBezTo>
                    <a:pt x="0" y="23733"/>
                    <a:pt x="3403" y="15517"/>
                    <a:pt x="9460" y="9460"/>
                  </a:cubicBezTo>
                  <a:cubicBezTo>
                    <a:pt x="15517" y="3403"/>
                    <a:pt x="23733" y="0"/>
                    <a:pt x="32299" y="0"/>
                  </a:cubicBezTo>
                  <a:close/>
                </a:path>
              </a:pathLst>
            </a:custGeom>
            <a:solidFill>
              <a:srgbClr val="B00B39"/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76200"/>
              <a:ext cx="3219628" cy="5537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320"/>
                </a:lnSpc>
              </a:pPr>
              <a:r>
                <a:rPr lang="en-US" sz="3800" b="1" dirty="0">
                  <a:solidFill>
                    <a:srgbClr val="FFFFFF"/>
                  </a:solidFill>
                  <a:latin typeface="Cardo Bold"/>
                  <a:ea typeface="Cardo Bold"/>
                  <a:cs typeface="Cardo Bold"/>
                  <a:sym typeface="Cardo Bold"/>
                </a:rPr>
                <a:t>Cross-Scanner Breast Adenocarcinoma Image</a:t>
              </a:r>
            </a:p>
            <a:p>
              <a:pPr algn="ctr">
                <a:lnSpc>
                  <a:spcPts val="5320"/>
                </a:lnSpc>
              </a:pPr>
              <a:r>
                <a:rPr lang="en-US" sz="3800" b="1" dirty="0">
                  <a:solidFill>
                    <a:srgbClr val="FFFFFF"/>
                  </a:solidFill>
                  <a:latin typeface="Cardo Bold"/>
                  <a:ea typeface="Cardo Bold"/>
                  <a:cs typeface="Cardo Bold"/>
                  <a:sym typeface="Cardo Bold"/>
                </a:rPr>
                <a:t>Segmentation with Deep Learning Algorithms</a:t>
              </a:r>
            </a:p>
          </p:txBody>
        </p:sp>
      </p:grpSp>
      <p:sp>
        <p:nvSpPr>
          <p:cNvPr id="6" name="Freeform 6"/>
          <p:cNvSpPr/>
          <p:nvPr/>
        </p:nvSpPr>
        <p:spPr>
          <a:xfrm>
            <a:off x="13089393" y="428856"/>
            <a:ext cx="4827823" cy="1307535"/>
          </a:xfrm>
          <a:custGeom>
            <a:avLst/>
            <a:gdLst/>
            <a:ahLst/>
            <a:cxnLst/>
            <a:rect l="l" t="t" r="r" b="b"/>
            <a:pathLst>
              <a:path w="4827823" h="1307535">
                <a:moveTo>
                  <a:pt x="0" y="0"/>
                </a:moveTo>
                <a:lnTo>
                  <a:pt x="4827823" y="0"/>
                </a:lnTo>
                <a:lnTo>
                  <a:pt x="4827823" y="1307535"/>
                </a:lnTo>
                <a:lnTo>
                  <a:pt x="0" y="13075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GR"/>
          </a:p>
        </p:txBody>
      </p:sp>
      <p:sp>
        <p:nvSpPr>
          <p:cNvPr id="9" name="TextBox 9"/>
          <p:cNvSpPr txBox="1"/>
          <p:nvPr/>
        </p:nvSpPr>
        <p:spPr>
          <a:xfrm>
            <a:off x="6711975" y="6613618"/>
            <a:ext cx="4906792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9"/>
              </a:lnSpc>
              <a:spcBef>
                <a:spcPct val="0"/>
              </a:spcBef>
            </a:pPr>
            <a:r>
              <a:rPr lang="en-US" sz="2250" b="1" dirty="0">
                <a:solidFill>
                  <a:srgbClr val="000000"/>
                </a:solidFill>
                <a:latin typeface="Cardo Bold"/>
                <a:ea typeface="Cardo Bold"/>
                <a:cs typeface="Cardo Bold"/>
                <a:sym typeface="Cardo Bold"/>
              </a:rPr>
              <a:t>Supervised by: Maria Vakalopoulpou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474088" y="5878923"/>
            <a:ext cx="3382566" cy="772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 dirty="0">
                <a:solidFill>
                  <a:srgbClr val="000000"/>
                </a:solidFill>
                <a:latin typeface="Cardo Bold"/>
                <a:ea typeface="Cardo Bold"/>
                <a:cs typeface="Cardo Bold"/>
                <a:sym typeface="Cardo Bold"/>
              </a:rPr>
              <a:t>Maria Kontaratou</a:t>
            </a:r>
          </a:p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 b="1" dirty="0">
                <a:solidFill>
                  <a:srgbClr val="000000"/>
                </a:solidFill>
                <a:latin typeface="Cardo Bold"/>
                <a:ea typeface="Cardo Bold"/>
                <a:cs typeface="Cardo Bold"/>
                <a:sym typeface="Cardo Bold"/>
              </a:rPr>
              <a:t>Academic Year: 2024-2025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158660" y="8848090"/>
            <a:ext cx="2013421" cy="772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 dirty="0">
                <a:solidFill>
                  <a:srgbClr val="000000"/>
                </a:solidFill>
                <a:latin typeface="Cardo Bold"/>
                <a:ea typeface="Cardo Bold"/>
                <a:cs typeface="Cardo Bold"/>
                <a:sym typeface="Cardo Bold"/>
              </a:rPr>
              <a:t>Athens</a:t>
            </a:r>
          </a:p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 b="1" dirty="0">
                <a:solidFill>
                  <a:srgbClr val="000000"/>
                </a:solidFill>
                <a:latin typeface="Cardo Bold"/>
                <a:ea typeface="Cardo Bold"/>
                <a:cs typeface="Cardo Bold"/>
                <a:sym typeface="Cardo Bold"/>
              </a:rPr>
              <a:t>December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19909"/>
            <a:ext cx="8702480" cy="360173"/>
            <a:chOff x="0" y="0"/>
            <a:chExt cx="2292011" cy="948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92011" cy="94860"/>
            </a:xfrm>
            <a:custGeom>
              <a:avLst/>
              <a:gdLst/>
              <a:ahLst/>
              <a:cxnLst/>
              <a:rect l="l" t="t" r="r" b="b"/>
              <a:pathLst>
                <a:path w="2292011" h="94860">
                  <a:moveTo>
                    <a:pt x="0" y="0"/>
                  </a:moveTo>
                  <a:lnTo>
                    <a:pt x="2292011" y="0"/>
                  </a:lnTo>
                  <a:lnTo>
                    <a:pt x="2292011" y="94860"/>
                  </a:lnTo>
                  <a:lnTo>
                    <a:pt x="0" y="94860"/>
                  </a:lnTo>
                  <a:close/>
                </a:path>
              </a:pathLst>
            </a:custGeom>
            <a:solidFill>
              <a:srgbClr val="B00B39"/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292011" cy="1329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702480" y="0"/>
            <a:ext cx="9575995" cy="340264"/>
            <a:chOff x="0" y="0"/>
            <a:chExt cx="2522073" cy="8961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522073" cy="89617"/>
            </a:xfrm>
            <a:custGeom>
              <a:avLst/>
              <a:gdLst/>
              <a:ahLst/>
              <a:cxnLst/>
              <a:rect l="l" t="t" r="r" b="b"/>
              <a:pathLst>
                <a:path w="2522073" h="89617">
                  <a:moveTo>
                    <a:pt x="0" y="0"/>
                  </a:moveTo>
                  <a:lnTo>
                    <a:pt x="2522073" y="0"/>
                  </a:lnTo>
                  <a:lnTo>
                    <a:pt x="2522073" y="89617"/>
                  </a:lnTo>
                  <a:lnTo>
                    <a:pt x="0" y="89617"/>
                  </a:lnTo>
                  <a:close/>
                </a:path>
              </a:pathLst>
            </a:custGeom>
            <a:solidFill>
              <a:srgbClr val="897993"/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522073" cy="1277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0" y="340264"/>
            <a:ext cx="18278475" cy="996326"/>
            <a:chOff x="0" y="0"/>
            <a:chExt cx="4814084" cy="26240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814084" cy="262407"/>
            </a:xfrm>
            <a:custGeom>
              <a:avLst/>
              <a:gdLst/>
              <a:ahLst/>
              <a:cxnLst/>
              <a:rect l="l" t="t" r="r" b="b"/>
              <a:pathLst>
                <a:path w="4814084" h="262407">
                  <a:moveTo>
                    <a:pt x="0" y="0"/>
                  </a:moveTo>
                  <a:lnTo>
                    <a:pt x="4814084" y="0"/>
                  </a:lnTo>
                  <a:lnTo>
                    <a:pt x="4814084" y="262407"/>
                  </a:lnTo>
                  <a:lnTo>
                    <a:pt x="0" y="262407"/>
                  </a:lnTo>
                  <a:close/>
                </a:path>
              </a:pathLst>
            </a:custGeom>
            <a:solidFill>
              <a:srgbClr val="C4BCC0"/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4814084" cy="3005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2168751" y="1911459"/>
            <a:ext cx="14234430" cy="7786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800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Introduction </a:t>
            </a:r>
          </a:p>
          <a:p>
            <a:pPr marL="1295400" lvl="2" indent="-431800" algn="l">
              <a:lnSpc>
                <a:spcPts val="4800"/>
              </a:lnSpc>
              <a:buFont typeface="Arial"/>
              <a:buChar char="⚬"/>
            </a:pPr>
            <a:r>
              <a:rPr lang="en-US" sz="3000" dirty="0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Context in digital pathology</a:t>
            </a:r>
          </a:p>
          <a:p>
            <a:pPr marL="1295400" lvl="2" indent="-431800" algn="l">
              <a:lnSpc>
                <a:spcPts val="4800"/>
              </a:lnSpc>
              <a:buFont typeface="Arial"/>
              <a:buChar char="⚬"/>
            </a:pPr>
            <a:r>
              <a:rPr lang="en-US" sz="3000" dirty="0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The challenge: Domain Shift</a:t>
            </a:r>
          </a:p>
          <a:p>
            <a:pPr marL="1295400" lvl="2" indent="-431800" algn="l">
              <a:lnSpc>
                <a:spcPts val="4800"/>
              </a:lnSpc>
              <a:buFont typeface="Arial"/>
              <a:buChar char="⚬"/>
            </a:pPr>
            <a:r>
              <a:rPr lang="en-US" sz="3000" dirty="0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Problem Definition and related work</a:t>
            </a:r>
          </a:p>
          <a:p>
            <a:pPr marL="647700" lvl="1" indent="-323850" algn="l">
              <a:lnSpc>
                <a:spcPts val="4800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Methodology</a:t>
            </a:r>
          </a:p>
          <a:p>
            <a:pPr marL="1295400" lvl="2" indent="-431800" algn="l">
              <a:lnSpc>
                <a:spcPts val="4800"/>
              </a:lnSpc>
              <a:buFont typeface="Arial"/>
              <a:buChar char="⚬"/>
            </a:pPr>
            <a:r>
              <a:rPr lang="en-US" sz="3000" dirty="0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Dataset - COSAS 2024</a:t>
            </a:r>
          </a:p>
          <a:p>
            <a:pPr marL="1295400" lvl="2" indent="-431800" algn="l">
              <a:lnSpc>
                <a:spcPts val="4800"/>
              </a:lnSpc>
              <a:buFont typeface="Arial"/>
              <a:buChar char="⚬"/>
            </a:pPr>
            <a:r>
              <a:rPr lang="en-US" sz="3000" dirty="0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Model overview and experiments</a:t>
            </a:r>
          </a:p>
          <a:p>
            <a:pPr marL="1295400" lvl="2" indent="-431800" algn="l">
              <a:lnSpc>
                <a:spcPts val="4800"/>
              </a:lnSpc>
              <a:buFont typeface="Arial"/>
              <a:buChar char="⚬"/>
            </a:pPr>
            <a:r>
              <a:rPr lang="en-US" sz="3000" dirty="0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Training setup</a:t>
            </a:r>
          </a:p>
          <a:p>
            <a:pPr marL="647700" lvl="1" indent="-323850" algn="l">
              <a:lnSpc>
                <a:spcPts val="4800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Results</a:t>
            </a:r>
          </a:p>
          <a:p>
            <a:pPr marL="647700" lvl="1" indent="-323850" algn="l">
              <a:lnSpc>
                <a:spcPts val="4800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Critical Discussion</a:t>
            </a:r>
          </a:p>
          <a:p>
            <a:pPr marL="647700" lvl="1" indent="-323850" algn="l">
              <a:lnSpc>
                <a:spcPts val="4800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Conclusion</a:t>
            </a:r>
          </a:p>
          <a:p>
            <a:pPr algn="l">
              <a:lnSpc>
                <a:spcPts val="10150"/>
              </a:lnSpc>
            </a:pPr>
            <a:endParaRPr lang="en-US" sz="3000" i="1" dirty="0">
              <a:solidFill>
                <a:srgbClr val="000000"/>
              </a:solidFill>
              <a:latin typeface="Calibri (MS) Italics"/>
              <a:ea typeface="Calibri (MS) Italics"/>
              <a:cs typeface="Calibri (MS) Italics"/>
              <a:sym typeface="Calibri (MS) Italics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-9525" y="380273"/>
            <a:ext cx="18278475" cy="7880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39"/>
              </a:lnSpc>
              <a:spcBef>
                <a:spcPct val="0"/>
              </a:spcBef>
            </a:pPr>
            <a:r>
              <a:rPr lang="en-US" sz="4599" b="1">
                <a:solidFill>
                  <a:srgbClr val="B00B39"/>
                </a:solidFill>
                <a:latin typeface="Cardo Bold"/>
                <a:ea typeface="Cardo Bold"/>
                <a:cs typeface="Cardo Bold"/>
                <a:sym typeface="Cardo Bold"/>
              </a:rPr>
              <a:t>Presentation outline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78475" cy="366016"/>
            <a:chOff x="0" y="0"/>
            <a:chExt cx="4814084" cy="9639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4084" cy="96399"/>
            </a:xfrm>
            <a:custGeom>
              <a:avLst/>
              <a:gdLst/>
              <a:ahLst/>
              <a:cxnLst/>
              <a:rect l="l" t="t" r="r" b="b"/>
              <a:pathLst>
                <a:path w="4814084" h="96399">
                  <a:moveTo>
                    <a:pt x="0" y="0"/>
                  </a:moveTo>
                  <a:lnTo>
                    <a:pt x="4814084" y="0"/>
                  </a:lnTo>
                  <a:lnTo>
                    <a:pt x="4814084" y="96399"/>
                  </a:lnTo>
                  <a:lnTo>
                    <a:pt x="0" y="96399"/>
                  </a:lnTo>
                  <a:close/>
                </a:path>
              </a:pathLst>
            </a:custGeom>
            <a:solidFill>
              <a:srgbClr val="897993"/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4084" cy="1344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-55288"/>
            <a:ext cx="3923736" cy="421303"/>
            <a:chOff x="0" y="0"/>
            <a:chExt cx="1033412" cy="11096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33412" cy="110961"/>
            </a:xfrm>
            <a:custGeom>
              <a:avLst/>
              <a:gdLst/>
              <a:ahLst/>
              <a:cxnLst/>
              <a:rect l="l" t="t" r="r" b="b"/>
              <a:pathLst>
                <a:path w="1033412" h="110961">
                  <a:moveTo>
                    <a:pt x="0" y="0"/>
                  </a:moveTo>
                  <a:lnTo>
                    <a:pt x="1033412" y="0"/>
                  </a:lnTo>
                  <a:lnTo>
                    <a:pt x="1033412" y="110961"/>
                  </a:lnTo>
                  <a:lnTo>
                    <a:pt x="0" y="110961"/>
                  </a:lnTo>
                  <a:close/>
                </a:path>
              </a:pathLst>
            </a:custGeom>
            <a:solidFill>
              <a:srgbClr val="B00B39"/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033412" cy="1490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923736" y="-23943"/>
            <a:ext cx="3923736" cy="389959"/>
            <a:chOff x="0" y="0"/>
            <a:chExt cx="1033412" cy="10270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33412" cy="102705"/>
            </a:xfrm>
            <a:custGeom>
              <a:avLst/>
              <a:gdLst/>
              <a:ahLst/>
              <a:cxnLst/>
              <a:rect l="l" t="t" r="r" b="b"/>
              <a:pathLst>
                <a:path w="1033412" h="102705">
                  <a:moveTo>
                    <a:pt x="0" y="0"/>
                  </a:moveTo>
                  <a:lnTo>
                    <a:pt x="1033412" y="0"/>
                  </a:lnTo>
                  <a:lnTo>
                    <a:pt x="1033412" y="102705"/>
                  </a:lnTo>
                  <a:lnTo>
                    <a:pt x="0" y="102705"/>
                  </a:lnTo>
                  <a:close/>
                </a:path>
              </a:pathLst>
            </a:custGeom>
            <a:solidFill>
              <a:srgbClr val="B00B39">
                <a:alpha val="19608"/>
              </a:srgbClr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033412" cy="1408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847472" y="-101928"/>
            <a:ext cx="3923736" cy="467944"/>
            <a:chOff x="0" y="0"/>
            <a:chExt cx="1033412" cy="12324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33412" cy="123245"/>
            </a:xfrm>
            <a:custGeom>
              <a:avLst/>
              <a:gdLst/>
              <a:ahLst/>
              <a:cxnLst/>
              <a:rect l="l" t="t" r="r" b="b"/>
              <a:pathLst>
                <a:path w="1033412" h="123245">
                  <a:moveTo>
                    <a:pt x="0" y="0"/>
                  </a:moveTo>
                  <a:lnTo>
                    <a:pt x="1033412" y="0"/>
                  </a:lnTo>
                  <a:lnTo>
                    <a:pt x="1033412" y="123245"/>
                  </a:lnTo>
                  <a:lnTo>
                    <a:pt x="0" y="123245"/>
                  </a:lnTo>
                  <a:close/>
                </a:path>
              </a:pathLst>
            </a:custGeom>
            <a:solidFill>
              <a:srgbClr val="B00B39">
                <a:alpha val="19608"/>
              </a:srgbClr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033412" cy="1613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1771209" y="-23943"/>
            <a:ext cx="3923736" cy="389959"/>
            <a:chOff x="0" y="0"/>
            <a:chExt cx="1033412" cy="10270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33412" cy="102705"/>
            </a:xfrm>
            <a:custGeom>
              <a:avLst/>
              <a:gdLst/>
              <a:ahLst/>
              <a:cxnLst/>
              <a:rect l="l" t="t" r="r" b="b"/>
              <a:pathLst>
                <a:path w="1033412" h="102705">
                  <a:moveTo>
                    <a:pt x="0" y="0"/>
                  </a:moveTo>
                  <a:lnTo>
                    <a:pt x="1033412" y="0"/>
                  </a:lnTo>
                  <a:lnTo>
                    <a:pt x="1033412" y="102705"/>
                  </a:lnTo>
                  <a:lnTo>
                    <a:pt x="0" y="102705"/>
                  </a:lnTo>
                  <a:close/>
                </a:path>
              </a:pathLst>
            </a:custGeom>
            <a:solidFill>
              <a:srgbClr val="B00B39">
                <a:alpha val="19608"/>
              </a:srgbClr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1033412" cy="1408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5694945" y="-40855"/>
            <a:ext cx="3923736" cy="389959"/>
            <a:chOff x="0" y="0"/>
            <a:chExt cx="1033412" cy="102705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033412" cy="102705"/>
            </a:xfrm>
            <a:custGeom>
              <a:avLst/>
              <a:gdLst/>
              <a:ahLst/>
              <a:cxnLst/>
              <a:rect l="l" t="t" r="r" b="b"/>
              <a:pathLst>
                <a:path w="1033412" h="102705">
                  <a:moveTo>
                    <a:pt x="0" y="0"/>
                  </a:moveTo>
                  <a:lnTo>
                    <a:pt x="1033412" y="0"/>
                  </a:lnTo>
                  <a:lnTo>
                    <a:pt x="1033412" y="102705"/>
                  </a:lnTo>
                  <a:lnTo>
                    <a:pt x="0" y="102705"/>
                  </a:lnTo>
                  <a:close/>
                </a:path>
              </a:pathLst>
            </a:custGeom>
            <a:solidFill>
              <a:srgbClr val="B00B39">
                <a:alpha val="19608"/>
              </a:srgbClr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1033412" cy="1408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0" name="Freeform 20"/>
          <p:cNvSpPr/>
          <p:nvPr/>
        </p:nvSpPr>
        <p:spPr>
          <a:xfrm>
            <a:off x="9144000" y="1111244"/>
            <a:ext cx="8269913" cy="7194824"/>
          </a:xfrm>
          <a:custGeom>
            <a:avLst/>
            <a:gdLst/>
            <a:ahLst/>
            <a:cxnLst/>
            <a:rect l="l" t="t" r="r" b="b"/>
            <a:pathLst>
              <a:path w="8269913" h="7194824">
                <a:moveTo>
                  <a:pt x="0" y="0"/>
                </a:moveTo>
                <a:lnTo>
                  <a:pt x="8269913" y="0"/>
                </a:lnTo>
                <a:lnTo>
                  <a:pt x="8269913" y="7194824"/>
                </a:lnTo>
                <a:lnTo>
                  <a:pt x="0" y="71948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GR"/>
          </a:p>
        </p:txBody>
      </p:sp>
      <p:sp>
        <p:nvSpPr>
          <p:cNvPr id="21" name="TextBox 21"/>
          <p:cNvSpPr txBox="1"/>
          <p:nvPr/>
        </p:nvSpPr>
        <p:spPr>
          <a:xfrm>
            <a:off x="1146942" y="-12075"/>
            <a:ext cx="1629853" cy="3242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32"/>
              </a:lnSpc>
            </a:pPr>
            <a:r>
              <a:rPr lang="en-US" sz="1951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Introduction 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073241" y="-12074"/>
            <a:ext cx="1941238" cy="3242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32"/>
              </a:lnSpc>
            </a:pPr>
            <a:r>
              <a:rPr lang="en-US" sz="1951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Methodology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358004" y="-24047"/>
            <a:ext cx="1699738" cy="3242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32"/>
              </a:lnSpc>
            </a:pPr>
            <a:r>
              <a:rPr lang="en-US" sz="1951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Results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604201" y="-12075"/>
            <a:ext cx="2576228" cy="3242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32"/>
              </a:lnSpc>
            </a:pPr>
            <a:r>
              <a:rPr lang="en-US" sz="1951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Critical Discussion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6408410" y="-24047"/>
            <a:ext cx="1574789" cy="3242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32"/>
              </a:lnSpc>
            </a:pPr>
            <a:r>
              <a:rPr lang="en-US" sz="1951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Conclusion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28700" y="1886883"/>
            <a:ext cx="7780032" cy="1410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With Whole Slide Images (WSIs), pathology could finally be fully digitalized. This shift made computer-based image analysis faster and more consistent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28700" y="3661058"/>
            <a:ext cx="5928108" cy="548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1">
                <a:solidFill>
                  <a:srgbClr val="A8070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Why is this important?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28700" y="1096610"/>
            <a:ext cx="5500911" cy="573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 b="1" u="sng">
                <a:solidFill>
                  <a:srgbClr val="B00B39"/>
                </a:solidFill>
                <a:latin typeface="Cardo Bold"/>
                <a:ea typeface="Cardo Bold"/>
                <a:cs typeface="Cardo Bold"/>
                <a:sym typeface="Cardo Bold"/>
              </a:rPr>
              <a:t>Context in digital pathology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028700" y="4232089"/>
            <a:ext cx="7935084" cy="953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41" lvl="1" indent="-280670" algn="l">
              <a:lnSpc>
                <a:spcPts val="3640"/>
              </a:lnSpc>
              <a:spcBef>
                <a:spcPct val="0"/>
              </a:spcBef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Digital pathology allows slides to be stored, shared, and analyzed → computational pathology + AI 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28700" y="5587165"/>
            <a:ext cx="5928108" cy="548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1">
                <a:solidFill>
                  <a:srgbClr val="A8070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Deep Learning + Breast Cancer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46942" y="6154220"/>
            <a:ext cx="7005925" cy="3239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Breast cancer is one of the most common and complex diseases affecting women</a:t>
            </a:r>
          </a:p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Deep learning models can automatically detect and segment tumor regions in WSIs → </a:t>
            </a:r>
          </a:p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Faster and more consistent analysis with reduced workload</a:t>
            </a:r>
          </a:p>
          <a:p>
            <a:pPr algn="l">
              <a:lnSpc>
                <a:spcPts val="3640"/>
              </a:lnSpc>
              <a:spcBef>
                <a:spcPct val="0"/>
              </a:spcBef>
            </a:pPr>
            <a:endParaRPr lang="en-US" sz="260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9144000" y="8499592"/>
            <a:ext cx="8269913" cy="1787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i="1" dirty="0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Figure 1: A landscape of the main differences in the workflows of analog and digital histopathology  (The status of digital pathology and associated infrastructure within Alzheimer’s Disease </a:t>
            </a:r>
            <a:r>
              <a:rPr lang="en-US" sz="2000" i="1" dirty="0" err="1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CentersJ</a:t>
            </a:r>
            <a:r>
              <a:rPr lang="en-US" sz="2000" i="1" dirty="0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</a:t>
            </a:r>
            <a:r>
              <a:rPr lang="en-US" sz="2000" i="1" dirty="0" err="1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Neuropathol</a:t>
            </a:r>
            <a:r>
              <a:rPr lang="en-US" sz="2000" i="1" dirty="0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Exp Neurol,2023)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endParaRPr lang="en-US" sz="2000" i="1" dirty="0">
              <a:solidFill>
                <a:srgbClr val="000000"/>
              </a:solidFill>
              <a:latin typeface="Calibri (MS) Italics"/>
              <a:ea typeface="Calibri (MS) Italics"/>
              <a:cs typeface="Calibri (MS) Italics"/>
              <a:sym typeface="Calibri (MS) Itali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78475" cy="366016"/>
            <a:chOff x="0" y="0"/>
            <a:chExt cx="4814084" cy="9639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4084" cy="96399"/>
            </a:xfrm>
            <a:custGeom>
              <a:avLst/>
              <a:gdLst/>
              <a:ahLst/>
              <a:cxnLst/>
              <a:rect l="l" t="t" r="r" b="b"/>
              <a:pathLst>
                <a:path w="4814084" h="96399">
                  <a:moveTo>
                    <a:pt x="0" y="0"/>
                  </a:moveTo>
                  <a:lnTo>
                    <a:pt x="4814084" y="0"/>
                  </a:lnTo>
                  <a:lnTo>
                    <a:pt x="4814084" y="96399"/>
                  </a:lnTo>
                  <a:lnTo>
                    <a:pt x="0" y="96399"/>
                  </a:lnTo>
                  <a:close/>
                </a:path>
              </a:pathLst>
            </a:custGeom>
            <a:solidFill>
              <a:srgbClr val="897993"/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4084" cy="1344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5694945" y="-40855"/>
            <a:ext cx="3923736" cy="389959"/>
            <a:chOff x="0" y="0"/>
            <a:chExt cx="1033412" cy="102705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033412" cy="102705"/>
            </a:xfrm>
            <a:custGeom>
              <a:avLst/>
              <a:gdLst/>
              <a:ahLst/>
              <a:cxnLst/>
              <a:rect l="l" t="t" r="r" b="b"/>
              <a:pathLst>
                <a:path w="1033412" h="102705">
                  <a:moveTo>
                    <a:pt x="0" y="0"/>
                  </a:moveTo>
                  <a:lnTo>
                    <a:pt x="1033412" y="0"/>
                  </a:lnTo>
                  <a:lnTo>
                    <a:pt x="1033412" y="102705"/>
                  </a:lnTo>
                  <a:lnTo>
                    <a:pt x="0" y="102705"/>
                  </a:lnTo>
                  <a:close/>
                </a:path>
              </a:pathLst>
            </a:custGeom>
            <a:solidFill>
              <a:srgbClr val="B00B39">
                <a:alpha val="19608"/>
              </a:srgbClr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1033412" cy="1408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0" name="Freeform 20"/>
          <p:cNvSpPr/>
          <p:nvPr/>
        </p:nvSpPr>
        <p:spPr>
          <a:xfrm>
            <a:off x="10799624" y="2135921"/>
            <a:ext cx="6725429" cy="2712302"/>
          </a:xfrm>
          <a:custGeom>
            <a:avLst/>
            <a:gdLst/>
            <a:ahLst/>
            <a:cxnLst/>
            <a:rect l="l" t="t" r="r" b="b"/>
            <a:pathLst>
              <a:path w="6725429" h="2712302">
                <a:moveTo>
                  <a:pt x="0" y="0"/>
                </a:moveTo>
                <a:lnTo>
                  <a:pt x="6725428" y="0"/>
                </a:lnTo>
                <a:lnTo>
                  <a:pt x="6725428" y="2712303"/>
                </a:lnTo>
                <a:lnTo>
                  <a:pt x="0" y="27123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68037"/>
            </a:stretch>
          </a:blipFill>
        </p:spPr>
        <p:txBody>
          <a:bodyPr/>
          <a:lstStyle/>
          <a:p>
            <a:endParaRPr lang="en-GR"/>
          </a:p>
        </p:txBody>
      </p:sp>
      <p:sp>
        <p:nvSpPr>
          <p:cNvPr id="21" name="Freeform 21"/>
          <p:cNvSpPr/>
          <p:nvPr/>
        </p:nvSpPr>
        <p:spPr>
          <a:xfrm>
            <a:off x="11883373" y="4801842"/>
            <a:ext cx="4557930" cy="2712302"/>
          </a:xfrm>
          <a:custGeom>
            <a:avLst/>
            <a:gdLst/>
            <a:ahLst/>
            <a:cxnLst/>
            <a:rect l="l" t="t" r="r" b="b"/>
            <a:pathLst>
              <a:path w="4557930" h="2712302">
                <a:moveTo>
                  <a:pt x="0" y="0"/>
                </a:moveTo>
                <a:lnTo>
                  <a:pt x="4557930" y="0"/>
                </a:lnTo>
                <a:lnTo>
                  <a:pt x="4557930" y="2712302"/>
                </a:lnTo>
                <a:lnTo>
                  <a:pt x="0" y="27123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47947"/>
            </a:stretch>
          </a:blipFill>
        </p:spPr>
        <p:txBody>
          <a:bodyPr/>
          <a:lstStyle/>
          <a:p>
            <a:endParaRPr lang="en-GR"/>
          </a:p>
        </p:txBody>
      </p:sp>
      <p:sp>
        <p:nvSpPr>
          <p:cNvPr id="27" name="TextBox 27"/>
          <p:cNvSpPr txBox="1"/>
          <p:nvPr/>
        </p:nvSpPr>
        <p:spPr>
          <a:xfrm>
            <a:off x="920874" y="1096610"/>
            <a:ext cx="7994526" cy="5693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619"/>
              </a:lnSpc>
              <a:spcBef>
                <a:spcPct val="0"/>
              </a:spcBef>
            </a:pPr>
            <a:r>
              <a:rPr lang="en-US" sz="3299" b="1" u="sng" dirty="0">
                <a:solidFill>
                  <a:srgbClr val="B00B39"/>
                </a:solidFill>
                <a:latin typeface="Cardo Bold"/>
                <a:ea typeface="Cardo Bold"/>
                <a:cs typeface="Cardo Bold"/>
                <a:sym typeface="Cardo Bold"/>
              </a:rPr>
              <a:t>The Challenge: Domain Shift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20874" y="3992604"/>
            <a:ext cx="9339803" cy="3239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WSIs from different scanners vary in:</a:t>
            </a:r>
          </a:p>
          <a:p>
            <a:pPr marL="1122681" lvl="2" indent="-374227" algn="l">
              <a:lnSpc>
                <a:spcPts val="3640"/>
              </a:lnSpc>
              <a:buFont typeface="Arial"/>
              <a:buChar char="⚬"/>
            </a:pPr>
            <a:r>
              <a:rPr lang="en-US" sz="2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Color, contrast, texture and illumination </a:t>
            </a:r>
          </a:p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These changes don’t affect pathologists - but confuse AI models</a:t>
            </a:r>
          </a:p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Segmentation models learn pixel-level patterns and overfit to one scanner’s “style”</a:t>
            </a:r>
          </a:p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When tested on new scanner →performance drop - </a:t>
            </a:r>
            <a:r>
              <a:rPr lang="en-US" sz="26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domain shift</a:t>
            </a:r>
          </a:p>
          <a:p>
            <a:pPr algn="l">
              <a:lnSpc>
                <a:spcPts val="3640"/>
              </a:lnSpc>
              <a:spcBef>
                <a:spcPct val="0"/>
              </a:spcBef>
            </a:pPr>
            <a:endParaRPr lang="en-US" sz="2600" b="1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0799624" y="7437944"/>
            <a:ext cx="6725429" cy="1435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i="1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Figure 2:  Example of scanner-induced variability in SCORPION dataset (Ryu, H., Lee, J., Jeong, H. et al. SCORPION: Addressing Scanner-Induced Variability in Histopathology, 2024)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endParaRPr lang="en-US" sz="2000" i="1">
              <a:solidFill>
                <a:srgbClr val="000000"/>
              </a:solidFill>
              <a:latin typeface="Calibri (MS) Italics"/>
              <a:ea typeface="Calibri (MS) Italics"/>
              <a:cs typeface="Calibri (MS) Italics"/>
              <a:sym typeface="Calibri (MS) Italics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146942" y="7936589"/>
            <a:ext cx="1379132" cy="9531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 b="1">
                <a:solidFill>
                  <a:srgbClr val="A8070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Objective 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3630763" y="7932603"/>
            <a:ext cx="6440701" cy="462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Scanner-robust, generalizable models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3374600" y="7823787"/>
            <a:ext cx="5234650" cy="722232"/>
            <a:chOff x="0" y="0"/>
            <a:chExt cx="1378673" cy="190218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378673" cy="190218"/>
            </a:xfrm>
            <a:custGeom>
              <a:avLst/>
              <a:gdLst/>
              <a:ahLst/>
              <a:cxnLst/>
              <a:rect l="l" t="t" r="r" b="b"/>
              <a:pathLst>
                <a:path w="1378673" h="190218">
                  <a:moveTo>
                    <a:pt x="75428" y="0"/>
                  </a:moveTo>
                  <a:lnTo>
                    <a:pt x="1303246" y="0"/>
                  </a:lnTo>
                  <a:cubicBezTo>
                    <a:pt x="1323250" y="0"/>
                    <a:pt x="1342436" y="7947"/>
                    <a:pt x="1356581" y="22092"/>
                  </a:cubicBezTo>
                  <a:cubicBezTo>
                    <a:pt x="1370727" y="36238"/>
                    <a:pt x="1378673" y="55423"/>
                    <a:pt x="1378673" y="75428"/>
                  </a:cubicBezTo>
                  <a:lnTo>
                    <a:pt x="1378673" y="114790"/>
                  </a:lnTo>
                  <a:cubicBezTo>
                    <a:pt x="1378673" y="134794"/>
                    <a:pt x="1370727" y="153980"/>
                    <a:pt x="1356581" y="168125"/>
                  </a:cubicBezTo>
                  <a:cubicBezTo>
                    <a:pt x="1342436" y="182271"/>
                    <a:pt x="1323250" y="190218"/>
                    <a:pt x="1303246" y="190218"/>
                  </a:cubicBezTo>
                  <a:lnTo>
                    <a:pt x="75428" y="190218"/>
                  </a:lnTo>
                  <a:cubicBezTo>
                    <a:pt x="55423" y="190218"/>
                    <a:pt x="36238" y="182271"/>
                    <a:pt x="22092" y="168125"/>
                  </a:cubicBezTo>
                  <a:cubicBezTo>
                    <a:pt x="7947" y="153980"/>
                    <a:pt x="0" y="134794"/>
                    <a:pt x="0" y="114790"/>
                  </a:cubicBezTo>
                  <a:lnTo>
                    <a:pt x="0" y="75428"/>
                  </a:lnTo>
                  <a:cubicBezTo>
                    <a:pt x="0" y="55423"/>
                    <a:pt x="7947" y="36238"/>
                    <a:pt x="22092" y="22092"/>
                  </a:cubicBezTo>
                  <a:cubicBezTo>
                    <a:pt x="36238" y="7947"/>
                    <a:pt x="55423" y="0"/>
                    <a:pt x="7542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rnd">
              <a:solidFill>
                <a:srgbClr val="B00B39"/>
              </a:solidFill>
              <a:prstDash val="sysDot"/>
              <a:round/>
            </a:ln>
          </p:spPr>
          <p:txBody>
            <a:bodyPr/>
            <a:lstStyle/>
            <a:p>
              <a:endParaRPr lang="en-GR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38100"/>
              <a:ext cx="1378673" cy="2283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5" name="AutoShape 35"/>
          <p:cNvSpPr/>
          <p:nvPr/>
        </p:nvSpPr>
        <p:spPr>
          <a:xfrm>
            <a:off x="2776794" y="8216449"/>
            <a:ext cx="482724" cy="0"/>
          </a:xfrm>
          <a:prstGeom prst="line">
            <a:avLst/>
          </a:prstGeom>
          <a:ln w="38100" cap="flat">
            <a:solidFill>
              <a:srgbClr val="A80707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GR"/>
          </a:p>
        </p:txBody>
      </p:sp>
      <p:grpSp>
        <p:nvGrpSpPr>
          <p:cNvPr id="53" name="Group 5">
            <a:extLst>
              <a:ext uri="{FF2B5EF4-FFF2-40B4-BE49-F238E27FC236}">
                <a16:creationId xmlns:a16="http://schemas.microsoft.com/office/drawing/2014/main" id="{37722E7F-EC91-5484-2AC9-AAC30FFE5BC3}"/>
              </a:ext>
            </a:extLst>
          </p:cNvPr>
          <p:cNvGrpSpPr/>
          <p:nvPr/>
        </p:nvGrpSpPr>
        <p:grpSpPr>
          <a:xfrm>
            <a:off x="0" y="-55288"/>
            <a:ext cx="3923736" cy="421303"/>
            <a:chOff x="0" y="0"/>
            <a:chExt cx="1033412" cy="110961"/>
          </a:xfrm>
        </p:grpSpPr>
        <p:sp>
          <p:nvSpPr>
            <p:cNvPr id="54" name="Freeform 6">
              <a:extLst>
                <a:ext uri="{FF2B5EF4-FFF2-40B4-BE49-F238E27FC236}">
                  <a16:creationId xmlns:a16="http://schemas.microsoft.com/office/drawing/2014/main" id="{17EC97F7-5C63-F96F-78AC-A61DD636D01A}"/>
                </a:ext>
              </a:extLst>
            </p:cNvPr>
            <p:cNvSpPr/>
            <p:nvPr/>
          </p:nvSpPr>
          <p:spPr>
            <a:xfrm>
              <a:off x="0" y="0"/>
              <a:ext cx="1033412" cy="110961"/>
            </a:xfrm>
            <a:custGeom>
              <a:avLst/>
              <a:gdLst/>
              <a:ahLst/>
              <a:cxnLst/>
              <a:rect l="l" t="t" r="r" b="b"/>
              <a:pathLst>
                <a:path w="1033412" h="110961">
                  <a:moveTo>
                    <a:pt x="0" y="0"/>
                  </a:moveTo>
                  <a:lnTo>
                    <a:pt x="1033412" y="0"/>
                  </a:lnTo>
                  <a:lnTo>
                    <a:pt x="1033412" y="110961"/>
                  </a:lnTo>
                  <a:lnTo>
                    <a:pt x="0" y="110961"/>
                  </a:lnTo>
                  <a:close/>
                </a:path>
              </a:pathLst>
            </a:custGeom>
            <a:solidFill>
              <a:srgbClr val="B00B39"/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55" name="TextBox 7">
              <a:extLst>
                <a:ext uri="{FF2B5EF4-FFF2-40B4-BE49-F238E27FC236}">
                  <a16:creationId xmlns:a16="http://schemas.microsoft.com/office/drawing/2014/main" id="{5B8939E8-7AB9-778C-97CE-9385B32531C6}"/>
                </a:ext>
              </a:extLst>
            </p:cNvPr>
            <p:cNvSpPr txBox="1"/>
            <p:nvPr/>
          </p:nvSpPr>
          <p:spPr>
            <a:xfrm>
              <a:off x="0" y="-38100"/>
              <a:ext cx="1033412" cy="1490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6" name="Group 8">
            <a:extLst>
              <a:ext uri="{FF2B5EF4-FFF2-40B4-BE49-F238E27FC236}">
                <a16:creationId xmlns:a16="http://schemas.microsoft.com/office/drawing/2014/main" id="{727A809C-346B-49DF-7B33-260E0FDF726C}"/>
              </a:ext>
            </a:extLst>
          </p:cNvPr>
          <p:cNvGrpSpPr/>
          <p:nvPr/>
        </p:nvGrpSpPr>
        <p:grpSpPr>
          <a:xfrm>
            <a:off x="3923736" y="-23943"/>
            <a:ext cx="3923736" cy="389959"/>
            <a:chOff x="0" y="0"/>
            <a:chExt cx="1033412" cy="102705"/>
          </a:xfrm>
        </p:grpSpPr>
        <p:sp>
          <p:nvSpPr>
            <p:cNvPr id="57" name="Freeform 9">
              <a:extLst>
                <a:ext uri="{FF2B5EF4-FFF2-40B4-BE49-F238E27FC236}">
                  <a16:creationId xmlns:a16="http://schemas.microsoft.com/office/drawing/2014/main" id="{FC43C84A-6F6B-F4D4-852A-8480940C8B28}"/>
                </a:ext>
              </a:extLst>
            </p:cNvPr>
            <p:cNvSpPr/>
            <p:nvPr/>
          </p:nvSpPr>
          <p:spPr>
            <a:xfrm>
              <a:off x="0" y="0"/>
              <a:ext cx="1033412" cy="102705"/>
            </a:xfrm>
            <a:custGeom>
              <a:avLst/>
              <a:gdLst/>
              <a:ahLst/>
              <a:cxnLst/>
              <a:rect l="l" t="t" r="r" b="b"/>
              <a:pathLst>
                <a:path w="1033412" h="102705">
                  <a:moveTo>
                    <a:pt x="0" y="0"/>
                  </a:moveTo>
                  <a:lnTo>
                    <a:pt x="1033412" y="0"/>
                  </a:lnTo>
                  <a:lnTo>
                    <a:pt x="1033412" y="102705"/>
                  </a:lnTo>
                  <a:lnTo>
                    <a:pt x="0" y="102705"/>
                  </a:lnTo>
                  <a:close/>
                </a:path>
              </a:pathLst>
            </a:custGeom>
            <a:solidFill>
              <a:srgbClr val="B00B39">
                <a:alpha val="19608"/>
              </a:srgbClr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58" name="TextBox 10">
              <a:extLst>
                <a:ext uri="{FF2B5EF4-FFF2-40B4-BE49-F238E27FC236}">
                  <a16:creationId xmlns:a16="http://schemas.microsoft.com/office/drawing/2014/main" id="{A31B8A2F-8F61-D92C-1EFB-B650839EF255}"/>
                </a:ext>
              </a:extLst>
            </p:cNvPr>
            <p:cNvSpPr txBox="1"/>
            <p:nvPr/>
          </p:nvSpPr>
          <p:spPr>
            <a:xfrm>
              <a:off x="0" y="-38100"/>
              <a:ext cx="1033412" cy="1408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9" name="Group 11">
            <a:extLst>
              <a:ext uri="{FF2B5EF4-FFF2-40B4-BE49-F238E27FC236}">
                <a16:creationId xmlns:a16="http://schemas.microsoft.com/office/drawing/2014/main" id="{1E3F44A6-904A-CC31-941A-5E26DF1B4AF6}"/>
              </a:ext>
            </a:extLst>
          </p:cNvPr>
          <p:cNvGrpSpPr/>
          <p:nvPr/>
        </p:nvGrpSpPr>
        <p:grpSpPr>
          <a:xfrm>
            <a:off x="7847472" y="-101928"/>
            <a:ext cx="3923736" cy="467944"/>
            <a:chOff x="0" y="0"/>
            <a:chExt cx="1033412" cy="123245"/>
          </a:xfrm>
        </p:grpSpPr>
        <p:sp>
          <p:nvSpPr>
            <p:cNvPr id="60" name="Freeform 12">
              <a:extLst>
                <a:ext uri="{FF2B5EF4-FFF2-40B4-BE49-F238E27FC236}">
                  <a16:creationId xmlns:a16="http://schemas.microsoft.com/office/drawing/2014/main" id="{D2DC81F1-DC0C-29D0-C802-0C59E9CBE56D}"/>
                </a:ext>
              </a:extLst>
            </p:cNvPr>
            <p:cNvSpPr/>
            <p:nvPr/>
          </p:nvSpPr>
          <p:spPr>
            <a:xfrm>
              <a:off x="0" y="0"/>
              <a:ext cx="1033412" cy="123245"/>
            </a:xfrm>
            <a:custGeom>
              <a:avLst/>
              <a:gdLst/>
              <a:ahLst/>
              <a:cxnLst/>
              <a:rect l="l" t="t" r="r" b="b"/>
              <a:pathLst>
                <a:path w="1033412" h="123245">
                  <a:moveTo>
                    <a:pt x="0" y="0"/>
                  </a:moveTo>
                  <a:lnTo>
                    <a:pt x="1033412" y="0"/>
                  </a:lnTo>
                  <a:lnTo>
                    <a:pt x="1033412" y="123245"/>
                  </a:lnTo>
                  <a:lnTo>
                    <a:pt x="0" y="123245"/>
                  </a:lnTo>
                  <a:close/>
                </a:path>
              </a:pathLst>
            </a:custGeom>
            <a:solidFill>
              <a:srgbClr val="B00B39">
                <a:alpha val="19608"/>
              </a:srgbClr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61" name="TextBox 13">
              <a:extLst>
                <a:ext uri="{FF2B5EF4-FFF2-40B4-BE49-F238E27FC236}">
                  <a16:creationId xmlns:a16="http://schemas.microsoft.com/office/drawing/2014/main" id="{794A20D7-0A48-3BCE-9265-DF487D5A4616}"/>
                </a:ext>
              </a:extLst>
            </p:cNvPr>
            <p:cNvSpPr txBox="1"/>
            <p:nvPr/>
          </p:nvSpPr>
          <p:spPr>
            <a:xfrm>
              <a:off x="0" y="-38100"/>
              <a:ext cx="1033412" cy="1613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2" name="Group 14">
            <a:extLst>
              <a:ext uri="{FF2B5EF4-FFF2-40B4-BE49-F238E27FC236}">
                <a16:creationId xmlns:a16="http://schemas.microsoft.com/office/drawing/2014/main" id="{5224D10B-C87B-46CE-9E99-F1087C1B57F1}"/>
              </a:ext>
            </a:extLst>
          </p:cNvPr>
          <p:cNvGrpSpPr/>
          <p:nvPr/>
        </p:nvGrpSpPr>
        <p:grpSpPr>
          <a:xfrm>
            <a:off x="11771209" y="-23943"/>
            <a:ext cx="3923736" cy="389959"/>
            <a:chOff x="0" y="0"/>
            <a:chExt cx="1033412" cy="102705"/>
          </a:xfrm>
        </p:grpSpPr>
        <p:sp>
          <p:nvSpPr>
            <p:cNvPr id="63" name="Freeform 15">
              <a:extLst>
                <a:ext uri="{FF2B5EF4-FFF2-40B4-BE49-F238E27FC236}">
                  <a16:creationId xmlns:a16="http://schemas.microsoft.com/office/drawing/2014/main" id="{8C7B54F9-A734-B793-3FA1-A92BA1E11F98}"/>
                </a:ext>
              </a:extLst>
            </p:cNvPr>
            <p:cNvSpPr/>
            <p:nvPr/>
          </p:nvSpPr>
          <p:spPr>
            <a:xfrm>
              <a:off x="0" y="0"/>
              <a:ext cx="1033412" cy="102705"/>
            </a:xfrm>
            <a:custGeom>
              <a:avLst/>
              <a:gdLst/>
              <a:ahLst/>
              <a:cxnLst/>
              <a:rect l="l" t="t" r="r" b="b"/>
              <a:pathLst>
                <a:path w="1033412" h="102705">
                  <a:moveTo>
                    <a:pt x="0" y="0"/>
                  </a:moveTo>
                  <a:lnTo>
                    <a:pt x="1033412" y="0"/>
                  </a:lnTo>
                  <a:lnTo>
                    <a:pt x="1033412" y="102705"/>
                  </a:lnTo>
                  <a:lnTo>
                    <a:pt x="0" y="102705"/>
                  </a:lnTo>
                  <a:close/>
                </a:path>
              </a:pathLst>
            </a:custGeom>
            <a:solidFill>
              <a:srgbClr val="B00B39">
                <a:alpha val="19608"/>
              </a:srgbClr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64" name="TextBox 16">
              <a:extLst>
                <a:ext uri="{FF2B5EF4-FFF2-40B4-BE49-F238E27FC236}">
                  <a16:creationId xmlns:a16="http://schemas.microsoft.com/office/drawing/2014/main" id="{431ACF82-EAF9-83DF-71D8-190BC49A1D75}"/>
                </a:ext>
              </a:extLst>
            </p:cNvPr>
            <p:cNvSpPr txBox="1"/>
            <p:nvPr/>
          </p:nvSpPr>
          <p:spPr>
            <a:xfrm>
              <a:off x="0" y="-38100"/>
              <a:ext cx="1033412" cy="1408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5" name="TextBox 21">
            <a:extLst>
              <a:ext uri="{FF2B5EF4-FFF2-40B4-BE49-F238E27FC236}">
                <a16:creationId xmlns:a16="http://schemas.microsoft.com/office/drawing/2014/main" id="{A0E54E8B-4058-788F-7BAD-4407BCFCCFAD}"/>
              </a:ext>
            </a:extLst>
          </p:cNvPr>
          <p:cNvSpPr txBox="1"/>
          <p:nvPr/>
        </p:nvSpPr>
        <p:spPr>
          <a:xfrm>
            <a:off x="1146942" y="-12075"/>
            <a:ext cx="1629853" cy="3242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32"/>
              </a:lnSpc>
            </a:pPr>
            <a:r>
              <a:rPr lang="en-US" sz="1951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Introduction </a:t>
            </a:r>
          </a:p>
        </p:txBody>
      </p:sp>
      <p:sp>
        <p:nvSpPr>
          <p:cNvPr id="66" name="TextBox 22">
            <a:extLst>
              <a:ext uri="{FF2B5EF4-FFF2-40B4-BE49-F238E27FC236}">
                <a16:creationId xmlns:a16="http://schemas.microsoft.com/office/drawing/2014/main" id="{41672300-6E42-76BB-4EFA-72829C223078}"/>
              </a:ext>
            </a:extLst>
          </p:cNvPr>
          <p:cNvSpPr txBox="1"/>
          <p:nvPr/>
        </p:nvSpPr>
        <p:spPr>
          <a:xfrm>
            <a:off x="5073241" y="-12074"/>
            <a:ext cx="1941238" cy="3242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32"/>
              </a:lnSpc>
            </a:pPr>
            <a:r>
              <a:rPr lang="en-US" sz="1951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Methodology</a:t>
            </a:r>
          </a:p>
        </p:txBody>
      </p:sp>
      <p:sp>
        <p:nvSpPr>
          <p:cNvPr id="67" name="TextBox 23">
            <a:extLst>
              <a:ext uri="{FF2B5EF4-FFF2-40B4-BE49-F238E27FC236}">
                <a16:creationId xmlns:a16="http://schemas.microsoft.com/office/drawing/2014/main" id="{8CE68D6D-1D2E-F71A-6E1F-126FBF5B9E1D}"/>
              </a:ext>
            </a:extLst>
          </p:cNvPr>
          <p:cNvSpPr txBox="1"/>
          <p:nvPr/>
        </p:nvSpPr>
        <p:spPr>
          <a:xfrm>
            <a:off x="9358004" y="-24047"/>
            <a:ext cx="1699738" cy="3242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32"/>
              </a:lnSpc>
            </a:pPr>
            <a:r>
              <a:rPr lang="en-US" sz="1951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Results</a:t>
            </a:r>
          </a:p>
        </p:txBody>
      </p:sp>
      <p:sp>
        <p:nvSpPr>
          <p:cNvPr id="68" name="TextBox 24">
            <a:extLst>
              <a:ext uri="{FF2B5EF4-FFF2-40B4-BE49-F238E27FC236}">
                <a16:creationId xmlns:a16="http://schemas.microsoft.com/office/drawing/2014/main" id="{DEF5F464-A65D-95E7-B3F1-6FF29AF4C9A8}"/>
              </a:ext>
            </a:extLst>
          </p:cNvPr>
          <p:cNvSpPr txBox="1"/>
          <p:nvPr/>
        </p:nvSpPr>
        <p:spPr>
          <a:xfrm>
            <a:off x="12604201" y="-12075"/>
            <a:ext cx="2576228" cy="3242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32"/>
              </a:lnSpc>
            </a:pPr>
            <a:r>
              <a:rPr lang="en-US" sz="1951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Critical Discussion</a:t>
            </a:r>
          </a:p>
        </p:txBody>
      </p:sp>
      <p:sp>
        <p:nvSpPr>
          <p:cNvPr id="69" name="TextBox 25">
            <a:extLst>
              <a:ext uri="{FF2B5EF4-FFF2-40B4-BE49-F238E27FC236}">
                <a16:creationId xmlns:a16="http://schemas.microsoft.com/office/drawing/2014/main" id="{F723D721-6A29-D2EA-8692-FAC7560412BB}"/>
              </a:ext>
            </a:extLst>
          </p:cNvPr>
          <p:cNvSpPr txBox="1"/>
          <p:nvPr/>
        </p:nvSpPr>
        <p:spPr>
          <a:xfrm>
            <a:off x="16408410" y="-24047"/>
            <a:ext cx="1574789" cy="3242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32"/>
              </a:lnSpc>
            </a:pPr>
            <a:r>
              <a:rPr lang="en-US" sz="1951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Conclusion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78475" cy="366016"/>
            <a:chOff x="0" y="0"/>
            <a:chExt cx="4814084" cy="9639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4084" cy="96399"/>
            </a:xfrm>
            <a:custGeom>
              <a:avLst/>
              <a:gdLst/>
              <a:ahLst/>
              <a:cxnLst/>
              <a:rect l="l" t="t" r="r" b="b"/>
              <a:pathLst>
                <a:path w="4814084" h="96399">
                  <a:moveTo>
                    <a:pt x="0" y="0"/>
                  </a:moveTo>
                  <a:lnTo>
                    <a:pt x="4814084" y="0"/>
                  </a:lnTo>
                  <a:lnTo>
                    <a:pt x="4814084" y="96399"/>
                  </a:lnTo>
                  <a:lnTo>
                    <a:pt x="0" y="96399"/>
                  </a:lnTo>
                  <a:close/>
                </a:path>
              </a:pathLst>
            </a:custGeom>
            <a:solidFill>
              <a:srgbClr val="897993"/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4084" cy="1344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5694945" y="-40855"/>
            <a:ext cx="3923736" cy="389959"/>
            <a:chOff x="0" y="0"/>
            <a:chExt cx="1033412" cy="102705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033412" cy="102705"/>
            </a:xfrm>
            <a:custGeom>
              <a:avLst/>
              <a:gdLst/>
              <a:ahLst/>
              <a:cxnLst/>
              <a:rect l="l" t="t" r="r" b="b"/>
              <a:pathLst>
                <a:path w="1033412" h="102705">
                  <a:moveTo>
                    <a:pt x="0" y="0"/>
                  </a:moveTo>
                  <a:lnTo>
                    <a:pt x="1033412" y="0"/>
                  </a:lnTo>
                  <a:lnTo>
                    <a:pt x="1033412" y="102705"/>
                  </a:lnTo>
                  <a:lnTo>
                    <a:pt x="0" y="102705"/>
                  </a:lnTo>
                  <a:close/>
                </a:path>
              </a:pathLst>
            </a:custGeom>
            <a:solidFill>
              <a:srgbClr val="B00B39">
                <a:alpha val="19608"/>
              </a:srgbClr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1033412" cy="1408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961868" y="6524245"/>
            <a:ext cx="931196" cy="931196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4BCC0"/>
            </a:solidFill>
            <a:ln w="38100" cap="sq">
              <a:solidFill>
                <a:srgbClr val="A80707"/>
              </a:solidFill>
              <a:prstDash val="solid"/>
              <a:miter/>
            </a:ln>
          </p:spPr>
          <p:txBody>
            <a:bodyPr/>
            <a:lstStyle/>
            <a:p>
              <a:endParaRPr lang="en-GR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3" name="AutoShape 23"/>
          <p:cNvSpPr/>
          <p:nvPr/>
        </p:nvSpPr>
        <p:spPr>
          <a:xfrm flipH="1" flipV="1">
            <a:off x="2427466" y="3512552"/>
            <a:ext cx="0" cy="4886496"/>
          </a:xfrm>
          <a:prstGeom prst="line">
            <a:avLst/>
          </a:prstGeom>
          <a:ln w="38100" cap="flat">
            <a:solidFill>
              <a:srgbClr val="C4BCC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n-GR"/>
          </a:p>
        </p:txBody>
      </p:sp>
      <p:grpSp>
        <p:nvGrpSpPr>
          <p:cNvPr id="24" name="Group 24"/>
          <p:cNvGrpSpPr/>
          <p:nvPr/>
        </p:nvGrpSpPr>
        <p:grpSpPr>
          <a:xfrm>
            <a:off x="1961868" y="2581356"/>
            <a:ext cx="931196" cy="931196"/>
            <a:chOff x="0" y="0"/>
            <a:chExt cx="812800" cy="8128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80707"/>
            </a:solidFill>
            <a:ln w="38100" cap="sq">
              <a:solidFill>
                <a:srgbClr val="A80707"/>
              </a:solidFill>
              <a:prstDash val="solid"/>
              <a:miter/>
            </a:ln>
          </p:spPr>
          <p:txBody>
            <a:bodyPr/>
            <a:lstStyle/>
            <a:p>
              <a:endParaRPr lang="en-GR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961868" y="4552800"/>
            <a:ext cx="931196" cy="931196"/>
            <a:chOff x="0" y="0"/>
            <a:chExt cx="812800" cy="8128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4BCC0"/>
            </a:solidFill>
            <a:ln w="38100" cap="sq">
              <a:solidFill>
                <a:srgbClr val="A80707"/>
              </a:solidFill>
              <a:prstDash val="solid"/>
              <a:miter/>
            </a:ln>
          </p:spPr>
          <p:txBody>
            <a:bodyPr/>
            <a:lstStyle/>
            <a:p>
              <a:endParaRPr lang="en-GR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961868" y="8399048"/>
            <a:ext cx="931196" cy="931196"/>
            <a:chOff x="0" y="0"/>
            <a:chExt cx="812800" cy="8128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4BCC0"/>
            </a:solidFill>
            <a:ln w="38100" cap="sq">
              <a:solidFill>
                <a:srgbClr val="A80707"/>
              </a:solidFill>
              <a:prstDash val="solid"/>
              <a:miter/>
            </a:ln>
          </p:spPr>
          <p:txBody>
            <a:bodyPr/>
            <a:lstStyle/>
            <a:p>
              <a:endParaRPr lang="en-GR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3" name="Freeform 33"/>
          <p:cNvSpPr/>
          <p:nvPr/>
        </p:nvSpPr>
        <p:spPr>
          <a:xfrm>
            <a:off x="9906730" y="2581356"/>
            <a:ext cx="6979012" cy="3463335"/>
          </a:xfrm>
          <a:custGeom>
            <a:avLst/>
            <a:gdLst/>
            <a:ahLst/>
            <a:cxnLst/>
            <a:rect l="l" t="t" r="r" b="b"/>
            <a:pathLst>
              <a:path w="6979012" h="3463335">
                <a:moveTo>
                  <a:pt x="0" y="0"/>
                </a:moveTo>
                <a:lnTo>
                  <a:pt x="6979012" y="0"/>
                </a:lnTo>
                <a:lnTo>
                  <a:pt x="6979012" y="3463334"/>
                </a:lnTo>
                <a:lnTo>
                  <a:pt x="0" y="34633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GR"/>
          </a:p>
        </p:txBody>
      </p:sp>
      <p:sp>
        <p:nvSpPr>
          <p:cNvPr id="39" name="TextBox 39"/>
          <p:cNvSpPr txBox="1"/>
          <p:nvPr/>
        </p:nvSpPr>
        <p:spPr>
          <a:xfrm>
            <a:off x="128974" y="1010066"/>
            <a:ext cx="15436996" cy="573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 b="1" u="sng">
                <a:solidFill>
                  <a:srgbClr val="B00B39"/>
                </a:solidFill>
                <a:latin typeface="Cardo Bold"/>
                <a:ea typeface="Cardo Bold"/>
                <a:cs typeface="Cardo Bold"/>
                <a:sym typeface="Cardo Bold"/>
              </a:rPr>
              <a:t>From CNNs to Foundation Models: Toward Scanner-Robust Pathology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9972143" y="6001095"/>
            <a:ext cx="7264375" cy="1111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056" i="1" dirty="0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Figure 3:  Schematic diagram of a basic convolutional neural network (CNN) architecture, Phung, Van &amp; Rhee, Eun. (2019)</a:t>
            </a:r>
          </a:p>
          <a:p>
            <a:pPr algn="l">
              <a:lnSpc>
                <a:spcPts val="2879"/>
              </a:lnSpc>
              <a:spcBef>
                <a:spcPct val="0"/>
              </a:spcBef>
            </a:pPr>
            <a:endParaRPr lang="en-US" sz="2056" i="1" dirty="0">
              <a:solidFill>
                <a:srgbClr val="000000"/>
              </a:solidFill>
              <a:latin typeface="Calibri (MS) Italics"/>
              <a:ea typeface="Calibri (MS) Italics"/>
              <a:cs typeface="Calibri (MS) Italics"/>
              <a:sym typeface="Calibri (MS) Italics"/>
            </a:endParaRPr>
          </a:p>
        </p:txBody>
      </p:sp>
      <p:sp>
        <p:nvSpPr>
          <p:cNvPr id="41" name="TextBox 41"/>
          <p:cNvSpPr txBox="1"/>
          <p:nvPr/>
        </p:nvSpPr>
        <p:spPr>
          <a:xfrm>
            <a:off x="3266861" y="2744059"/>
            <a:ext cx="6268394" cy="5480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19"/>
              </a:lnSpc>
              <a:spcBef>
                <a:spcPct val="0"/>
              </a:spcBef>
            </a:pPr>
            <a:r>
              <a:rPr lang="en-US" sz="2799" b="1">
                <a:solidFill>
                  <a:srgbClr val="A8070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CNNs (Convolutional Neural Networks)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3265700" y="4756150"/>
            <a:ext cx="6268394" cy="387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897993"/>
                </a:solidFill>
                <a:latin typeface="Calibri (MS)"/>
                <a:ea typeface="Calibri (MS)"/>
                <a:cs typeface="Calibri (MS)"/>
                <a:sym typeface="Calibri (MS)"/>
              </a:rPr>
              <a:t>Vision Transformers (ViTs)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3266861" y="6725048"/>
            <a:ext cx="6268394" cy="387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897993"/>
                </a:solidFill>
                <a:latin typeface="Calibri (MS)"/>
                <a:ea typeface="Calibri (MS)"/>
                <a:cs typeface="Calibri (MS)"/>
                <a:sym typeface="Calibri (MS)"/>
              </a:rPr>
              <a:t>Doma</a:t>
            </a:r>
            <a:r>
              <a:rPr lang="en-US" sz="1999" u="none" strike="noStrike">
                <a:solidFill>
                  <a:srgbClr val="897993"/>
                </a:solidFill>
                <a:latin typeface="Calibri (MS)"/>
                <a:ea typeface="Calibri (MS)"/>
                <a:cs typeface="Calibri (MS)"/>
                <a:sym typeface="Calibri (MS)"/>
              </a:rPr>
              <a:t>in Generalization (DG)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9417857" y="7398292"/>
            <a:ext cx="7841443" cy="1819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Capture fine local details (nuclei, textures)</a:t>
            </a:r>
          </a:p>
          <a:p>
            <a:pPr marL="561341" lvl="1" indent="-280670" algn="l">
              <a:lnSpc>
                <a:spcPts val="3640"/>
              </a:lnSpc>
              <a:spcBef>
                <a:spcPct val="0"/>
              </a:spcBef>
              <a:buFont typeface="Arial"/>
              <a:buChar char="•"/>
            </a:pPr>
            <a:r>
              <a:rPr lang="en-US" sz="26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Miss global tissue context</a:t>
            </a:r>
          </a:p>
          <a:p>
            <a:pPr marL="561341" lvl="1" indent="-280670" algn="l">
              <a:lnSpc>
                <a:spcPts val="3640"/>
              </a:lnSpc>
              <a:spcBef>
                <a:spcPct val="0"/>
              </a:spcBef>
              <a:buFont typeface="Arial"/>
              <a:buChar char="•"/>
            </a:pPr>
            <a:r>
              <a:rPr lang="en-US" sz="26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Sensitive to </a:t>
            </a:r>
            <a:r>
              <a:rPr lang="en-US" sz="26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colour</a:t>
            </a:r>
            <a:r>
              <a:rPr lang="en-US" sz="26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/texture changes → weaker across scanners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3266861" y="8628109"/>
            <a:ext cx="6268394" cy="387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897993"/>
                </a:solidFill>
                <a:latin typeface="Calibri (MS)"/>
                <a:ea typeface="Calibri (MS)"/>
                <a:cs typeface="Calibri (MS)"/>
                <a:sym typeface="Calibri (MS)"/>
              </a:rPr>
              <a:t>Pathology Foundat</a:t>
            </a:r>
            <a:r>
              <a:rPr lang="en-US" sz="1999" u="none" strike="noStrike">
                <a:solidFill>
                  <a:srgbClr val="897993"/>
                </a:solidFill>
                <a:latin typeface="Calibri (MS)"/>
                <a:ea typeface="Calibri (MS)"/>
                <a:cs typeface="Calibri (MS)"/>
                <a:sym typeface="Calibri (MS)"/>
              </a:rPr>
              <a:t>ion Models </a:t>
            </a:r>
          </a:p>
        </p:txBody>
      </p:sp>
      <p:grpSp>
        <p:nvGrpSpPr>
          <p:cNvPr id="63" name="Group 5">
            <a:extLst>
              <a:ext uri="{FF2B5EF4-FFF2-40B4-BE49-F238E27FC236}">
                <a16:creationId xmlns:a16="http://schemas.microsoft.com/office/drawing/2014/main" id="{9FB82D43-3A82-6B37-8CB4-F8B1F4B08513}"/>
              </a:ext>
            </a:extLst>
          </p:cNvPr>
          <p:cNvGrpSpPr/>
          <p:nvPr/>
        </p:nvGrpSpPr>
        <p:grpSpPr>
          <a:xfrm>
            <a:off x="0" y="-55288"/>
            <a:ext cx="3923736" cy="421303"/>
            <a:chOff x="0" y="0"/>
            <a:chExt cx="1033412" cy="110961"/>
          </a:xfrm>
        </p:grpSpPr>
        <p:sp>
          <p:nvSpPr>
            <p:cNvPr id="64" name="Freeform 6">
              <a:extLst>
                <a:ext uri="{FF2B5EF4-FFF2-40B4-BE49-F238E27FC236}">
                  <a16:creationId xmlns:a16="http://schemas.microsoft.com/office/drawing/2014/main" id="{E046F028-633F-1C26-2549-2BF107743CB1}"/>
                </a:ext>
              </a:extLst>
            </p:cNvPr>
            <p:cNvSpPr/>
            <p:nvPr/>
          </p:nvSpPr>
          <p:spPr>
            <a:xfrm>
              <a:off x="0" y="0"/>
              <a:ext cx="1033412" cy="110961"/>
            </a:xfrm>
            <a:custGeom>
              <a:avLst/>
              <a:gdLst/>
              <a:ahLst/>
              <a:cxnLst/>
              <a:rect l="l" t="t" r="r" b="b"/>
              <a:pathLst>
                <a:path w="1033412" h="110961">
                  <a:moveTo>
                    <a:pt x="0" y="0"/>
                  </a:moveTo>
                  <a:lnTo>
                    <a:pt x="1033412" y="0"/>
                  </a:lnTo>
                  <a:lnTo>
                    <a:pt x="1033412" y="110961"/>
                  </a:lnTo>
                  <a:lnTo>
                    <a:pt x="0" y="110961"/>
                  </a:lnTo>
                  <a:close/>
                </a:path>
              </a:pathLst>
            </a:custGeom>
            <a:solidFill>
              <a:srgbClr val="B00B39"/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65" name="TextBox 7">
              <a:extLst>
                <a:ext uri="{FF2B5EF4-FFF2-40B4-BE49-F238E27FC236}">
                  <a16:creationId xmlns:a16="http://schemas.microsoft.com/office/drawing/2014/main" id="{C713E244-C077-A677-9AF3-34C0C71393AB}"/>
                </a:ext>
              </a:extLst>
            </p:cNvPr>
            <p:cNvSpPr txBox="1"/>
            <p:nvPr/>
          </p:nvSpPr>
          <p:spPr>
            <a:xfrm>
              <a:off x="0" y="-38100"/>
              <a:ext cx="1033412" cy="1490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6" name="Group 8">
            <a:extLst>
              <a:ext uri="{FF2B5EF4-FFF2-40B4-BE49-F238E27FC236}">
                <a16:creationId xmlns:a16="http://schemas.microsoft.com/office/drawing/2014/main" id="{726834C2-CD63-4399-3890-909AC5C8978D}"/>
              </a:ext>
            </a:extLst>
          </p:cNvPr>
          <p:cNvGrpSpPr/>
          <p:nvPr/>
        </p:nvGrpSpPr>
        <p:grpSpPr>
          <a:xfrm>
            <a:off x="3923736" y="-23943"/>
            <a:ext cx="3923736" cy="389959"/>
            <a:chOff x="0" y="0"/>
            <a:chExt cx="1033412" cy="102705"/>
          </a:xfrm>
        </p:grpSpPr>
        <p:sp>
          <p:nvSpPr>
            <p:cNvPr id="67" name="Freeform 9">
              <a:extLst>
                <a:ext uri="{FF2B5EF4-FFF2-40B4-BE49-F238E27FC236}">
                  <a16:creationId xmlns:a16="http://schemas.microsoft.com/office/drawing/2014/main" id="{A7F7C222-4C88-9FAB-C108-871C072C0541}"/>
                </a:ext>
              </a:extLst>
            </p:cNvPr>
            <p:cNvSpPr/>
            <p:nvPr/>
          </p:nvSpPr>
          <p:spPr>
            <a:xfrm>
              <a:off x="0" y="0"/>
              <a:ext cx="1033412" cy="102705"/>
            </a:xfrm>
            <a:custGeom>
              <a:avLst/>
              <a:gdLst/>
              <a:ahLst/>
              <a:cxnLst/>
              <a:rect l="l" t="t" r="r" b="b"/>
              <a:pathLst>
                <a:path w="1033412" h="102705">
                  <a:moveTo>
                    <a:pt x="0" y="0"/>
                  </a:moveTo>
                  <a:lnTo>
                    <a:pt x="1033412" y="0"/>
                  </a:lnTo>
                  <a:lnTo>
                    <a:pt x="1033412" y="102705"/>
                  </a:lnTo>
                  <a:lnTo>
                    <a:pt x="0" y="102705"/>
                  </a:lnTo>
                  <a:close/>
                </a:path>
              </a:pathLst>
            </a:custGeom>
            <a:solidFill>
              <a:srgbClr val="B00B39">
                <a:alpha val="19608"/>
              </a:srgbClr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68" name="TextBox 10">
              <a:extLst>
                <a:ext uri="{FF2B5EF4-FFF2-40B4-BE49-F238E27FC236}">
                  <a16:creationId xmlns:a16="http://schemas.microsoft.com/office/drawing/2014/main" id="{D3C1436A-71F0-1340-5D6D-D4722C0E8177}"/>
                </a:ext>
              </a:extLst>
            </p:cNvPr>
            <p:cNvSpPr txBox="1"/>
            <p:nvPr/>
          </p:nvSpPr>
          <p:spPr>
            <a:xfrm>
              <a:off x="0" y="-38100"/>
              <a:ext cx="1033412" cy="1408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9" name="Group 11">
            <a:extLst>
              <a:ext uri="{FF2B5EF4-FFF2-40B4-BE49-F238E27FC236}">
                <a16:creationId xmlns:a16="http://schemas.microsoft.com/office/drawing/2014/main" id="{AC24E4E2-85B7-FA7D-9BD2-8FDF0107C6B1}"/>
              </a:ext>
            </a:extLst>
          </p:cNvPr>
          <p:cNvGrpSpPr/>
          <p:nvPr/>
        </p:nvGrpSpPr>
        <p:grpSpPr>
          <a:xfrm>
            <a:off x="7847472" y="-101928"/>
            <a:ext cx="3923736" cy="467944"/>
            <a:chOff x="0" y="0"/>
            <a:chExt cx="1033412" cy="123245"/>
          </a:xfrm>
        </p:grpSpPr>
        <p:sp>
          <p:nvSpPr>
            <p:cNvPr id="70" name="Freeform 12">
              <a:extLst>
                <a:ext uri="{FF2B5EF4-FFF2-40B4-BE49-F238E27FC236}">
                  <a16:creationId xmlns:a16="http://schemas.microsoft.com/office/drawing/2014/main" id="{32044CF2-98BC-55E8-62DD-1D909B0D50A7}"/>
                </a:ext>
              </a:extLst>
            </p:cNvPr>
            <p:cNvSpPr/>
            <p:nvPr/>
          </p:nvSpPr>
          <p:spPr>
            <a:xfrm>
              <a:off x="0" y="0"/>
              <a:ext cx="1033412" cy="123245"/>
            </a:xfrm>
            <a:custGeom>
              <a:avLst/>
              <a:gdLst/>
              <a:ahLst/>
              <a:cxnLst/>
              <a:rect l="l" t="t" r="r" b="b"/>
              <a:pathLst>
                <a:path w="1033412" h="123245">
                  <a:moveTo>
                    <a:pt x="0" y="0"/>
                  </a:moveTo>
                  <a:lnTo>
                    <a:pt x="1033412" y="0"/>
                  </a:lnTo>
                  <a:lnTo>
                    <a:pt x="1033412" y="123245"/>
                  </a:lnTo>
                  <a:lnTo>
                    <a:pt x="0" y="123245"/>
                  </a:lnTo>
                  <a:close/>
                </a:path>
              </a:pathLst>
            </a:custGeom>
            <a:solidFill>
              <a:srgbClr val="B00B39">
                <a:alpha val="19608"/>
              </a:srgbClr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71" name="TextBox 13">
              <a:extLst>
                <a:ext uri="{FF2B5EF4-FFF2-40B4-BE49-F238E27FC236}">
                  <a16:creationId xmlns:a16="http://schemas.microsoft.com/office/drawing/2014/main" id="{D799CAB5-75F5-BBD3-55EA-3ACC72F09513}"/>
                </a:ext>
              </a:extLst>
            </p:cNvPr>
            <p:cNvSpPr txBox="1"/>
            <p:nvPr/>
          </p:nvSpPr>
          <p:spPr>
            <a:xfrm>
              <a:off x="0" y="-38100"/>
              <a:ext cx="1033412" cy="1613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2" name="Group 14">
            <a:extLst>
              <a:ext uri="{FF2B5EF4-FFF2-40B4-BE49-F238E27FC236}">
                <a16:creationId xmlns:a16="http://schemas.microsoft.com/office/drawing/2014/main" id="{E2151DF8-CF0F-C9D0-C80C-145706CEA0F8}"/>
              </a:ext>
            </a:extLst>
          </p:cNvPr>
          <p:cNvGrpSpPr/>
          <p:nvPr/>
        </p:nvGrpSpPr>
        <p:grpSpPr>
          <a:xfrm>
            <a:off x="11771209" y="-23943"/>
            <a:ext cx="3923736" cy="389959"/>
            <a:chOff x="0" y="0"/>
            <a:chExt cx="1033412" cy="102705"/>
          </a:xfrm>
        </p:grpSpPr>
        <p:sp>
          <p:nvSpPr>
            <p:cNvPr id="73" name="Freeform 15">
              <a:extLst>
                <a:ext uri="{FF2B5EF4-FFF2-40B4-BE49-F238E27FC236}">
                  <a16:creationId xmlns:a16="http://schemas.microsoft.com/office/drawing/2014/main" id="{083506AB-4ABE-7E49-3853-A5699E148D95}"/>
                </a:ext>
              </a:extLst>
            </p:cNvPr>
            <p:cNvSpPr/>
            <p:nvPr/>
          </p:nvSpPr>
          <p:spPr>
            <a:xfrm>
              <a:off x="0" y="0"/>
              <a:ext cx="1033412" cy="102705"/>
            </a:xfrm>
            <a:custGeom>
              <a:avLst/>
              <a:gdLst/>
              <a:ahLst/>
              <a:cxnLst/>
              <a:rect l="l" t="t" r="r" b="b"/>
              <a:pathLst>
                <a:path w="1033412" h="102705">
                  <a:moveTo>
                    <a:pt x="0" y="0"/>
                  </a:moveTo>
                  <a:lnTo>
                    <a:pt x="1033412" y="0"/>
                  </a:lnTo>
                  <a:lnTo>
                    <a:pt x="1033412" y="102705"/>
                  </a:lnTo>
                  <a:lnTo>
                    <a:pt x="0" y="102705"/>
                  </a:lnTo>
                  <a:close/>
                </a:path>
              </a:pathLst>
            </a:custGeom>
            <a:solidFill>
              <a:srgbClr val="B00B39">
                <a:alpha val="19608"/>
              </a:srgbClr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74" name="TextBox 16">
              <a:extLst>
                <a:ext uri="{FF2B5EF4-FFF2-40B4-BE49-F238E27FC236}">
                  <a16:creationId xmlns:a16="http://schemas.microsoft.com/office/drawing/2014/main" id="{D57D9B0E-FF78-E592-EC19-FF58870037A5}"/>
                </a:ext>
              </a:extLst>
            </p:cNvPr>
            <p:cNvSpPr txBox="1"/>
            <p:nvPr/>
          </p:nvSpPr>
          <p:spPr>
            <a:xfrm>
              <a:off x="0" y="-38100"/>
              <a:ext cx="1033412" cy="1408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5" name="TextBox 21">
            <a:extLst>
              <a:ext uri="{FF2B5EF4-FFF2-40B4-BE49-F238E27FC236}">
                <a16:creationId xmlns:a16="http://schemas.microsoft.com/office/drawing/2014/main" id="{A73608A6-43E2-6FF0-4793-9911E040BFE2}"/>
              </a:ext>
            </a:extLst>
          </p:cNvPr>
          <p:cNvSpPr txBox="1"/>
          <p:nvPr/>
        </p:nvSpPr>
        <p:spPr>
          <a:xfrm>
            <a:off x="1146942" y="-12075"/>
            <a:ext cx="1629853" cy="3242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32"/>
              </a:lnSpc>
            </a:pPr>
            <a:r>
              <a:rPr lang="en-US" sz="1951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Introduction </a:t>
            </a:r>
          </a:p>
        </p:txBody>
      </p:sp>
      <p:sp>
        <p:nvSpPr>
          <p:cNvPr id="76" name="TextBox 22">
            <a:extLst>
              <a:ext uri="{FF2B5EF4-FFF2-40B4-BE49-F238E27FC236}">
                <a16:creationId xmlns:a16="http://schemas.microsoft.com/office/drawing/2014/main" id="{86DC44DC-5860-0014-BA45-A2DB811AA185}"/>
              </a:ext>
            </a:extLst>
          </p:cNvPr>
          <p:cNvSpPr txBox="1"/>
          <p:nvPr/>
        </p:nvSpPr>
        <p:spPr>
          <a:xfrm>
            <a:off x="5073241" y="-12074"/>
            <a:ext cx="1941238" cy="3242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32"/>
              </a:lnSpc>
            </a:pPr>
            <a:r>
              <a:rPr lang="en-US" sz="1951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Methodology</a:t>
            </a:r>
          </a:p>
        </p:txBody>
      </p:sp>
      <p:sp>
        <p:nvSpPr>
          <p:cNvPr id="77" name="TextBox 23">
            <a:extLst>
              <a:ext uri="{FF2B5EF4-FFF2-40B4-BE49-F238E27FC236}">
                <a16:creationId xmlns:a16="http://schemas.microsoft.com/office/drawing/2014/main" id="{D20F4AD5-362A-62A5-5111-B738F5F79DBA}"/>
              </a:ext>
            </a:extLst>
          </p:cNvPr>
          <p:cNvSpPr txBox="1"/>
          <p:nvPr/>
        </p:nvSpPr>
        <p:spPr>
          <a:xfrm>
            <a:off x="9358004" y="-24047"/>
            <a:ext cx="1699738" cy="3242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32"/>
              </a:lnSpc>
            </a:pPr>
            <a:r>
              <a:rPr lang="en-US" sz="1951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Results</a:t>
            </a:r>
          </a:p>
        </p:txBody>
      </p:sp>
      <p:sp>
        <p:nvSpPr>
          <p:cNvPr id="78" name="TextBox 24">
            <a:extLst>
              <a:ext uri="{FF2B5EF4-FFF2-40B4-BE49-F238E27FC236}">
                <a16:creationId xmlns:a16="http://schemas.microsoft.com/office/drawing/2014/main" id="{62A51529-9065-3B63-3F64-3EEA97CC9C37}"/>
              </a:ext>
            </a:extLst>
          </p:cNvPr>
          <p:cNvSpPr txBox="1"/>
          <p:nvPr/>
        </p:nvSpPr>
        <p:spPr>
          <a:xfrm>
            <a:off x="12604201" y="-12075"/>
            <a:ext cx="2576228" cy="3242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32"/>
              </a:lnSpc>
            </a:pPr>
            <a:r>
              <a:rPr lang="en-US" sz="1951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Critical Discussion</a:t>
            </a:r>
          </a:p>
        </p:txBody>
      </p:sp>
      <p:sp>
        <p:nvSpPr>
          <p:cNvPr id="79" name="TextBox 25">
            <a:extLst>
              <a:ext uri="{FF2B5EF4-FFF2-40B4-BE49-F238E27FC236}">
                <a16:creationId xmlns:a16="http://schemas.microsoft.com/office/drawing/2014/main" id="{09B49BD3-F5ED-E9F1-E949-CDC2050129F0}"/>
              </a:ext>
            </a:extLst>
          </p:cNvPr>
          <p:cNvSpPr txBox="1"/>
          <p:nvPr/>
        </p:nvSpPr>
        <p:spPr>
          <a:xfrm>
            <a:off x="16408410" y="-24047"/>
            <a:ext cx="1574789" cy="3242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32"/>
              </a:lnSpc>
            </a:pPr>
            <a:r>
              <a:rPr lang="en-US" sz="1951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Conclusion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78475" cy="366016"/>
            <a:chOff x="0" y="0"/>
            <a:chExt cx="4814084" cy="9639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4084" cy="96399"/>
            </a:xfrm>
            <a:custGeom>
              <a:avLst/>
              <a:gdLst/>
              <a:ahLst/>
              <a:cxnLst/>
              <a:rect l="l" t="t" r="r" b="b"/>
              <a:pathLst>
                <a:path w="4814084" h="96399">
                  <a:moveTo>
                    <a:pt x="0" y="0"/>
                  </a:moveTo>
                  <a:lnTo>
                    <a:pt x="4814084" y="0"/>
                  </a:lnTo>
                  <a:lnTo>
                    <a:pt x="4814084" y="96399"/>
                  </a:lnTo>
                  <a:lnTo>
                    <a:pt x="0" y="96399"/>
                  </a:lnTo>
                  <a:close/>
                </a:path>
              </a:pathLst>
            </a:custGeom>
            <a:solidFill>
              <a:srgbClr val="897993"/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4084" cy="1344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-55288"/>
            <a:ext cx="3923736" cy="421303"/>
            <a:chOff x="0" y="0"/>
            <a:chExt cx="1033412" cy="11096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33412" cy="110961"/>
            </a:xfrm>
            <a:custGeom>
              <a:avLst/>
              <a:gdLst/>
              <a:ahLst/>
              <a:cxnLst/>
              <a:rect l="l" t="t" r="r" b="b"/>
              <a:pathLst>
                <a:path w="1033412" h="110961">
                  <a:moveTo>
                    <a:pt x="0" y="0"/>
                  </a:moveTo>
                  <a:lnTo>
                    <a:pt x="1033412" y="0"/>
                  </a:lnTo>
                  <a:lnTo>
                    <a:pt x="1033412" y="110961"/>
                  </a:lnTo>
                  <a:lnTo>
                    <a:pt x="0" y="110961"/>
                  </a:lnTo>
                  <a:close/>
                </a:path>
              </a:pathLst>
            </a:custGeom>
            <a:solidFill>
              <a:srgbClr val="B00B39"/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033412" cy="1490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5694945" y="-40855"/>
            <a:ext cx="3923736" cy="389959"/>
            <a:chOff x="0" y="0"/>
            <a:chExt cx="1033412" cy="102705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033412" cy="102705"/>
            </a:xfrm>
            <a:custGeom>
              <a:avLst/>
              <a:gdLst/>
              <a:ahLst/>
              <a:cxnLst/>
              <a:rect l="l" t="t" r="r" b="b"/>
              <a:pathLst>
                <a:path w="1033412" h="102705">
                  <a:moveTo>
                    <a:pt x="0" y="0"/>
                  </a:moveTo>
                  <a:lnTo>
                    <a:pt x="1033412" y="0"/>
                  </a:lnTo>
                  <a:lnTo>
                    <a:pt x="1033412" y="102705"/>
                  </a:lnTo>
                  <a:lnTo>
                    <a:pt x="0" y="102705"/>
                  </a:lnTo>
                  <a:close/>
                </a:path>
              </a:pathLst>
            </a:custGeom>
            <a:solidFill>
              <a:srgbClr val="B00B39">
                <a:alpha val="19608"/>
              </a:srgbClr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1033412" cy="1408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961868" y="6524245"/>
            <a:ext cx="931196" cy="931196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4BCC0"/>
            </a:solidFill>
            <a:ln w="38100" cap="sq">
              <a:solidFill>
                <a:srgbClr val="A80707"/>
              </a:solidFill>
              <a:prstDash val="solid"/>
              <a:miter/>
            </a:ln>
          </p:spPr>
          <p:txBody>
            <a:bodyPr/>
            <a:lstStyle/>
            <a:p>
              <a:endParaRPr lang="en-GR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3" name="AutoShape 23"/>
          <p:cNvSpPr/>
          <p:nvPr/>
        </p:nvSpPr>
        <p:spPr>
          <a:xfrm flipH="1" flipV="1">
            <a:off x="2427466" y="3512552"/>
            <a:ext cx="0" cy="4886496"/>
          </a:xfrm>
          <a:prstGeom prst="line">
            <a:avLst/>
          </a:prstGeom>
          <a:ln w="38100" cap="flat">
            <a:solidFill>
              <a:srgbClr val="C4BCC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n-GR"/>
          </a:p>
        </p:txBody>
      </p:sp>
      <p:grpSp>
        <p:nvGrpSpPr>
          <p:cNvPr id="24" name="Group 24"/>
          <p:cNvGrpSpPr/>
          <p:nvPr/>
        </p:nvGrpSpPr>
        <p:grpSpPr>
          <a:xfrm>
            <a:off x="1961868" y="2581356"/>
            <a:ext cx="931196" cy="931196"/>
            <a:chOff x="0" y="0"/>
            <a:chExt cx="812800" cy="8128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4BCC0"/>
            </a:solidFill>
            <a:ln w="38100" cap="sq">
              <a:solidFill>
                <a:srgbClr val="A80707"/>
              </a:solidFill>
              <a:prstDash val="solid"/>
              <a:miter/>
            </a:ln>
          </p:spPr>
          <p:txBody>
            <a:bodyPr/>
            <a:lstStyle/>
            <a:p>
              <a:endParaRPr lang="en-GR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961868" y="4552800"/>
            <a:ext cx="931196" cy="931196"/>
            <a:chOff x="0" y="0"/>
            <a:chExt cx="812800" cy="8128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80707"/>
            </a:solidFill>
            <a:ln w="38100" cap="sq">
              <a:solidFill>
                <a:srgbClr val="A80707"/>
              </a:solidFill>
              <a:prstDash val="solid"/>
              <a:miter/>
            </a:ln>
          </p:spPr>
          <p:txBody>
            <a:bodyPr/>
            <a:lstStyle/>
            <a:p>
              <a:endParaRPr lang="en-GR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961868" y="8399048"/>
            <a:ext cx="931196" cy="931196"/>
            <a:chOff x="0" y="0"/>
            <a:chExt cx="812800" cy="8128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4BCC0"/>
            </a:solidFill>
            <a:ln w="38100" cap="sq">
              <a:solidFill>
                <a:srgbClr val="A80707"/>
              </a:solidFill>
              <a:prstDash val="solid"/>
              <a:miter/>
            </a:ln>
          </p:spPr>
          <p:txBody>
            <a:bodyPr/>
            <a:lstStyle/>
            <a:p>
              <a:endParaRPr lang="en-GR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3" name="Freeform 33"/>
          <p:cNvSpPr/>
          <p:nvPr/>
        </p:nvSpPr>
        <p:spPr>
          <a:xfrm>
            <a:off x="9180191" y="1750012"/>
            <a:ext cx="8079109" cy="4160741"/>
          </a:xfrm>
          <a:custGeom>
            <a:avLst/>
            <a:gdLst/>
            <a:ahLst/>
            <a:cxnLst/>
            <a:rect l="l" t="t" r="r" b="b"/>
            <a:pathLst>
              <a:path w="8079109" h="4160741">
                <a:moveTo>
                  <a:pt x="0" y="0"/>
                </a:moveTo>
                <a:lnTo>
                  <a:pt x="8079109" y="0"/>
                </a:lnTo>
                <a:lnTo>
                  <a:pt x="8079109" y="4160742"/>
                </a:lnTo>
                <a:lnTo>
                  <a:pt x="0" y="41607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GR"/>
          </a:p>
        </p:txBody>
      </p:sp>
      <p:sp>
        <p:nvSpPr>
          <p:cNvPr id="39" name="TextBox 39"/>
          <p:cNvSpPr txBox="1"/>
          <p:nvPr/>
        </p:nvSpPr>
        <p:spPr>
          <a:xfrm>
            <a:off x="128974" y="1010066"/>
            <a:ext cx="15436996" cy="573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 b="1" u="sng">
                <a:solidFill>
                  <a:srgbClr val="B00B39"/>
                </a:solidFill>
                <a:latin typeface="Cardo Bold"/>
                <a:ea typeface="Cardo Bold"/>
                <a:cs typeface="Cardo Bold"/>
                <a:sym typeface="Cardo Bold"/>
              </a:rPr>
              <a:t>From CNNs to Foundation Models: Toward Scanner-Robust Pathology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9535255" y="5850282"/>
            <a:ext cx="7701264" cy="7488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056" i="1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Figure 4:  ViT architecture, Phung, Van &amp; Rhee, Eun. (2019). </a:t>
            </a:r>
          </a:p>
          <a:p>
            <a:pPr algn="l">
              <a:lnSpc>
                <a:spcPts val="2879"/>
              </a:lnSpc>
              <a:spcBef>
                <a:spcPct val="0"/>
              </a:spcBef>
            </a:pPr>
            <a:endParaRPr lang="en-US" sz="2056" i="1">
              <a:solidFill>
                <a:srgbClr val="000000"/>
              </a:solidFill>
              <a:latin typeface="Calibri (MS) Italics"/>
              <a:ea typeface="Calibri (MS) Italics"/>
              <a:cs typeface="Calibri (MS) Italics"/>
              <a:sym typeface="Calibri (MS) Italics"/>
            </a:endParaRPr>
          </a:p>
        </p:txBody>
      </p:sp>
      <p:sp>
        <p:nvSpPr>
          <p:cNvPr id="41" name="TextBox 41"/>
          <p:cNvSpPr txBox="1"/>
          <p:nvPr/>
        </p:nvSpPr>
        <p:spPr>
          <a:xfrm>
            <a:off x="3266861" y="2782159"/>
            <a:ext cx="6268394" cy="387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99"/>
              </a:lnSpc>
              <a:spcBef>
                <a:spcPct val="0"/>
              </a:spcBef>
            </a:pPr>
            <a:r>
              <a:rPr lang="en-US" sz="1999" u="none" strike="noStrike">
                <a:solidFill>
                  <a:srgbClr val="897993"/>
                </a:solidFill>
                <a:latin typeface="Calibri (MS)"/>
                <a:ea typeface="Calibri (MS)"/>
                <a:cs typeface="Calibri (MS)"/>
                <a:sym typeface="Calibri (MS)"/>
              </a:rPr>
              <a:t>CNNs (Convolutional Neural Networks)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3266861" y="4682483"/>
            <a:ext cx="6268394" cy="5480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19"/>
              </a:lnSpc>
              <a:spcBef>
                <a:spcPct val="0"/>
              </a:spcBef>
            </a:pPr>
            <a:r>
              <a:rPr lang="en-US" sz="2799" b="1" u="none" strike="noStrike">
                <a:solidFill>
                  <a:srgbClr val="A8070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Vision Transformers (ViTs)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3266861" y="6725048"/>
            <a:ext cx="6268394" cy="387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897993"/>
                </a:solidFill>
                <a:latin typeface="Calibri (MS)"/>
                <a:ea typeface="Calibri (MS)"/>
                <a:cs typeface="Calibri (MS)"/>
                <a:sym typeface="Calibri (MS)"/>
              </a:rPr>
              <a:t>Doma</a:t>
            </a:r>
            <a:r>
              <a:rPr lang="en-US" sz="1999" u="none" strike="noStrike">
                <a:solidFill>
                  <a:srgbClr val="897993"/>
                </a:solidFill>
                <a:latin typeface="Calibri (MS)"/>
                <a:ea typeface="Calibri (MS)"/>
                <a:cs typeface="Calibri (MS)"/>
                <a:sym typeface="Calibri (MS)"/>
              </a:rPr>
              <a:t>in Generalization (DG)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3266861" y="8628109"/>
            <a:ext cx="6268394" cy="387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897993"/>
                </a:solidFill>
                <a:latin typeface="Calibri (MS)"/>
                <a:ea typeface="Calibri (MS)"/>
                <a:cs typeface="Calibri (MS)"/>
                <a:sym typeface="Calibri (MS)"/>
              </a:rPr>
              <a:t>Pathology Foundat</a:t>
            </a:r>
            <a:r>
              <a:rPr lang="en-US" sz="1999" u="none" strike="noStrike">
                <a:solidFill>
                  <a:srgbClr val="897993"/>
                </a:solidFill>
                <a:latin typeface="Calibri (MS)"/>
                <a:ea typeface="Calibri (MS)"/>
                <a:cs typeface="Calibri (MS)"/>
                <a:sym typeface="Calibri (MS)"/>
              </a:rPr>
              <a:t>ion Models 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9417857" y="6904436"/>
            <a:ext cx="7841443" cy="2277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Use self-attention to model long-range structure</a:t>
            </a:r>
          </a:p>
          <a:p>
            <a:pPr marL="561341" lvl="1" indent="-280670" algn="l">
              <a:lnSpc>
                <a:spcPts val="3640"/>
              </a:lnSpc>
              <a:spcBef>
                <a:spcPct val="0"/>
              </a:spcBef>
              <a:buFont typeface="Arial"/>
              <a:buChar char="•"/>
            </a:pPr>
            <a:r>
              <a:rPr lang="en-US" sz="26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Capture global + local information</a:t>
            </a:r>
          </a:p>
          <a:p>
            <a:pPr marL="561341" lvl="1" indent="-280670" algn="l">
              <a:lnSpc>
                <a:spcPts val="3640"/>
              </a:lnSpc>
              <a:spcBef>
                <a:spcPct val="0"/>
              </a:spcBef>
              <a:buFont typeface="Arial"/>
              <a:buChar char="•"/>
            </a:pPr>
            <a:r>
              <a:rPr lang="en-US" sz="26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More resilient to scanner variation and stain differences</a:t>
            </a:r>
          </a:p>
        </p:txBody>
      </p:sp>
      <p:grpSp>
        <p:nvGrpSpPr>
          <p:cNvPr id="46" name="Group 2">
            <a:extLst>
              <a:ext uri="{FF2B5EF4-FFF2-40B4-BE49-F238E27FC236}">
                <a16:creationId xmlns:a16="http://schemas.microsoft.com/office/drawing/2014/main" id="{6AE01FD3-A4EC-755E-AAA2-2655A05C7D92}"/>
              </a:ext>
            </a:extLst>
          </p:cNvPr>
          <p:cNvGrpSpPr/>
          <p:nvPr/>
        </p:nvGrpSpPr>
        <p:grpSpPr>
          <a:xfrm>
            <a:off x="0" y="0"/>
            <a:ext cx="18278475" cy="366016"/>
            <a:chOff x="0" y="0"/>
            <a:chExt cx="4814084" cy="96399"/>
          </a:xfrm>
        </p:grpSpPr>
        <p:sp>
          <p:nvSpPr>
            <p:cNvPr id="47" name="Freeform 3">
              <a:extLst>
                <a:ext uri="{FF2B5EF4-FFF2-40B4-BE49-F238E27FC236}">
                  <a16:creationId xmlns:a16="http://schemas.microsoft.com/office/drawing/2014/main" id="{A096F626-ADCF-05CA-3804-5B8A8A2BD882}"/>
                </a:ext>
              </a:extLst>
            </p:cNvPr>
            <p:cNvSpPr/>
            <p:nvPr/>
          </p:nvSpPr>
          <p:spPr>
            <a:xfrm>
              <a:off x="0" y="0"/>
              <a:ext cx="4814084" cy="96399"/>
            </a:xfrm>
            <a:custGeom>
              <a:avLst/>
              <a:gdLst/>
              <a:ahLst/>
              <a:cxnLst/>
              <a:rect l="l" t="t" r="r" b="b"/>
              <a:pathLst>
                <a:path w="4814084" h="96399">
                  <a:moveTo>
                    <a:pt x="0" y="0"/>
                  </a:moveTo>
                  <a:lnTo>
                    <a:pt x="4814084" y="0"/>
                  </a:lnTo>
                  <a:lnTo>
                    <a:pt x="4814084" y="96399"/>
                  </a:lnTo>
                  <a:lnTo>
                    <a:pt x="0" y="96399"/>
                  </a:lnTo>
                  <a:close/>
                </a:path>
              </a:pathLst>
            </a:custGeom>
            <a:solidFill>
              <a:srgbClr val="897993"/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48" name="TextBox 4">
              <a:extLst>
                <a:ext uri="{FF2B5EF4-FFF2-40B4-BE49-F238E27FC236}">
                  <a16:creationId xmlns:a16="http://schemas.microsoft.com/office/drawing/2014/main" id="{C374FBAD-BD0A-2320-CDE8-64C6772FACE6}"/>
                </a:ext>
              </a:extLst>
            </p:cNvPr>
            <p:cNvSpPr txBox="1"/>
            <p:nvPr/>
          </p:nvSpPr>
          <p:spPr>
            <a:xfrm>
              <a:off x="0" y="-38100"/>
              <a:ext cx="4814084" cy="1344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49" name="Group 5">
            <a:extLst>
              <a:ext uri="{FF2B5EF4-FFF2-40B4-BE49-F238E27FC236}">
                <a16:creationId xmlns:a16="http://schemas.microsoft.com/office/drawing/2014/main" id="{BB4524C4-112A-4DB7-4A72-3BD84956B5C9}"/>
              </a:ext>
            </a:extLst>
          </p:cNvPr>
          <p:cNvGrpSpPr/>
          <p:nvPr/>
        </p:nvGrpSpPr>
        <p:grpSpPr>
          <a:xfrm>
            <a:off x="0" y="-55288"/>
            <a:ext cx="3923736" cy="421303"/>
            <a:chOff x="0" y="0"/>
            <a:chExt cx="1033412" cy="110961"/>
          </a:xfrm>
        </p:grpSpPr>
        <p:sp>
          <p:nvSpPr>
            <p:cNvPr id="50" name="Freeform 6">
              <a:extLst>
                <a:ext uri="{FF2B5EF4-FFF2-40B4-BE49-F238E27FC236}">
                  <a16:creationId xmlns:a16="http://schemas.microsoft.com/office/drawing/2014/main" id="{B7B2ECB4-5505-9D29-29A8-F82C4F352AD8}"/>
                </a:ext>
              </a:extLst>
            </p:cNvPr>
            <p:cNvSpPr/>
            <p:nvPr/>
          </p:nvSpPr>
          <p:spPr>
            <a:xfrm>
              <a:off x="0" y="0"/>
              <a:ext cx="1033412" cy="110961"/>
            </a:xfrm>
            <a:custGeom>
              <a:avLst/>
              <a:gdLst/>
              <a:ahLst/>
              <a:cxnLst/>
              <a:rect l="l" t="t" r="r" b="b"/>
              <a:pathLst>
                <a:path w="1033412" h="110961">
                  <a:moveTo>
                    <a:pt x="0" y="0"/>
                  </a:moveTo>
                  <a:lnTo>
                    <a:pt x="1033412" y="0"/>
                  </a:lnTo>
                  <a:lnTo>
                    <a:pt x="1033412" y="110961"/>
                  </a:lnTo>
                  <a:lnTo>
                    <a:pt x="0" y="110961"/>
                  </a:lnTo>
                  <a:close/>
                </a:path>
              </a:pathLst>
            </a:custGeom>
            <a:solidFill>
              <a:srgbClr val="B00B39"/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51" name="TextBox 7">
              <a:extLst>
                <a:ext uri="{FF2B5EF4-FFF2-40B4-BE49-F238E27FC236}">
                  <a16:creationId xmlns:a16="http://schemas.microsoft.com/office/drawing/2014/main" id="{94BCFCB3-932D-0697-F6FF-CBFF5EAFA900}"/>
                </a:ext>
              </a:extLst>
            </p:cNvPr>
            <p:cNvSpPr txBox="1"/>
            <p:nvPr/>
          </p:nvSpPr>
          <p:spPr>
            <a:xfrm>
              <a:off x="0" y="-38100"/>
              <a:ext cx="1033412" cy="1490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2" name="Group 8">
            <a:extLst>
              <a:ext uri="{FF2B5EF4-FFF2-40B4-BE49-F238E27FC236}">
                <a16:creationId xmlns:a16="http://schemas.microsoft.com/office/drawing/2014/main" id="{A4F2D72A-2563-28E6-67BF-AA5F7AC38E52}"/>
              </a:ext>
            </a:extLst>
          </p:cNvPr>
          <p:cNvGrpSpPr/>
          <p:nvPr/>
        </p:nvGrpSpPr>
        <p:grpSpPr>
          <a:xfrm>
            <a:off x="3923736" y="-23943"/>
            <a:ext cx="3923736" cy="389959"/>
            <a:chOff x="0" y="0"/>
            <a:chExt cx="1033412" cy="102705"/>
          </a:xfrm>
        </p:grpSpPr>
        <p:sp>
          <p:nvSpPr>
            <p:cNvPr id="53" name="Freeform 9">
              <a:extLst>
                <a:ext uri="{FF2B5EF4-FFF2-40B4-BE49-F238E27FC236}">
                  <a16:creationId xmlns:a16="http://schemas.microsoft.com/office/drawing/2014/main" id="{9306A60A-E745-7FBC-4872-A44EA78AF5A5}"/>
                </a:ext>
              </a:extLst>
            </p:cNvPr>
            <p:cNvSpPr/>
            <p:nvPr/>
          </p:nvSpPr>
          <p:spPr>
            <a:xfrm>
              <a:off x="0" y="0"/>
              <a:ext cx="1033412" cy="102705"/>
            </a:xfrm>
            <a:custGeom>
              <a:avLst/>
              <a:gdLst/>
              <a:ahLst/>
              <a:cxnLst/>
              <a:rect l="l" t="t" r="r" b="b"/>
              <a:pathLst>
                <a:path w="1033412" h="102705">
                  <a:moveTo>
                    <a:pt x="0" y="0"/>
                  </a:moveTo>
                  <a:lnTo>
                    <a:pt x="1033412" y="0"/>
                  </a:lnTo>
                  <a:lnTo>
                    <a:pt x="1033412" y="102705"/>
                  </a:lnTo>
                  <a:lnTo>
                    <a:pt x="0" y="102705"/>
                  </a:lnTo>
                  <a:close/>
                </a:path>
              </a:pathLst>
            </a:custGeom>
            <a:solidFill>
              <a:srgbClr val="B00B39">
                <a:alpha val="19608"/>
              </a:srgbClr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54" name="TextBox 10">
              <a:extLst>
                <a:ext uri="{FF2B5EF4-FFF2-40B4-BE49-F238E27FC236}">
                  <a16:creationId xmlns:a16="http://schemas.microsoft.com/office/drawing/2014/main" id="{C3315608-498E-71EC-4013-4A04C8D97379}"/>
                </a:ext>
              </a:extLst>
            </p:cNvPr>
            <p:cNvSpPr txBox="1"/>
            <p:nvPr/>
          </p:nvSpPr>
          <p:spPr>
            <a:xfrm>
              <a:off x="0" y="-38100"/>
              <a:ext cx="1033412" cy="1408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5" name="Group 11">
            <a:extLst>
              <a:ext uri="{FF2B5EF4-FFF2-40B4-BE49-F238E27FC236}">
                <a16:creationId xmlns:a16="http://schemas.microsoft.com/office/drawing/2014/main" id="{CBFACD9A-020C-90AA-319F-03AA736F0BEB}"/>
              </a:ext>
            </a:extLst>
          </p:cNvPr>
          <p:cNvGrpSpPr/>
          <p:nvPr/>
        </p:nvGrpSpPr>
        <p:grpSpPr>
          <a:xfrm>
            <a:off x="7847472" y="-101928"/>
            <a:ext cx="3923736" cy="467944"/>
            <a:chOff x="0" y="0"/>
            <a:chExt cx="1033412" cy="123245"/>
          </a:xfrm>
        </p:grpSpPr>
        <p:sp>
          <p:nvSpPr>
            <p:cNvPr id="56" name="Freeform 12">
              <a:extLst>
                <a:ext uri="{FF2B5EF4-FFF2-40B4-BE49-F238E27FC236}">
                  <a16:creationId xmlns:a16="http://schemas.microsoft.com/office/drawing/2014/main" id="{E8B8D499-3A04-5EA0-6431-7104155BACF0}"/>
                </a:ext>
              </a:extLst>
            </p:cNvPr>
            <p:cNvSpPr/>
            <p:nvPr/>
          </p:nvSpPr>
          <p:spPr>
            <a:xfrm>
              <a:off x="0" y="0"/>
              <a:ext cx="1033412" cy="123245"/>
            </a:xfrm>
            <a:custGeom>
              <a:avLst/>
              <a:gdLst/>
              <a:ahLst/>
              <a:cxnLst/>
              <a:rect l="l" t="t" r="r" b="b"/>
              <a:pathLst>
                <a:path w="1033412" h="123245">
                  <a:moveTo>
                    <a:pt x="0" y="0"/>
                  </a:moveTo>
                  <a:lnTo>
                    <a:pt x="1033412" y="0"/>
                  </a:lnTo>
                  <a:lnTo>
                    <a:pt x="1033412" y="123245"/>
                  </a:lnTo>
                  <a:lnTo>
                    <a:pt x="0" y="123245"/>
                  </a:lnTo>
                  <a:close/>
                </a:path>
              </a:pathLst>
            </a:custGeom>
            <a:solidFill>
              <a:srgbClr val="B00B39">
                <a:alpha val="19608"/>
              </a:srgbClr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57" name="TextBox 13">
              <a:extLst>
                <a:ext uri="{FF2B5EF4-FFF2-40B4-BE49-F238E27FC236}">
                  <a16:creationId xmlns:a16="http://schemas.microsoft.com/office/drawing/2014/main" id="{21AD6744-D84F-E00A-36B3-11CF58924C08}"/>
                </a:ext>
              </a:extLst>
            </p:cNvPr>
            <p:cNvSpPr txBox="1"/>
            <p:nvPr/>
          </p:nvSpPr>
          <p:spPr>
            <a:xfrm>
              <a:off x="0" y="-38100"/>
              <a:ext cx="1033412" cy="1613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8" name="Group 14">
            <a:extLst>
              <a:ext uri="{FF2B5EF4-FFF2-40B4-BE49-F238E27FC236}">
                <a16:creationId xmlns:a16="http://schemas.microsoft.com/office/drawing/2014/main" id="{E56DCC97-AC38-0AEF-5551-274F762F5D5D}"/>
              </a:ext>
            </a:extLst>
          </p:cNvPr>
          <p:cNvGrpSpPr/>
          <p:nvPr/>
        </p:nvGrpSpPr>
        <p:grpSpPr>
          <a:xfrm>
            <a:off x="11771209" y="-23943"/>
            <a:ext cx="3923736" cy="389959"/>
            <a:chOff x="0" y="0"/>
            <a:chExt cx="1033412" cy="102705"/>
          </a:xfrm>
        </p:grpSpPr>
        <p:sp>
          <p:nvSpPr>
            <p:cNvPr id="59" name="Freeform 15">
              <a:extLst>
                <a:ext uri="{FF2B5EF4-FFF2-40B4-BE49-F238E27FC236}">
                  <a16:creationId xmlns:a16="http://schemas.microsoft.com/office/drawing/2014/main" id="{5C3480AF-DA06-9C0D-3641-98C7D1E172BB}"/>
                </a:ext>
              </a:extLst>
            </p:cNvPr>
            <p:cNvSpPr/>
            <p:nvPr/>
          </p:nvSpPr>
          <p:spPr>
            <a:xfrm>
              <a:off x="0" y="0"/>
              <a:ext cx="1033412" cy="102705"/>
            </a:xfrm>
            <a:custGeom>
              <a:avLst/>
              <a:gdLst/>
              <a:ahLst/>
              <a:cxnLst/>
              <a:rect l="l" t="t" r="r" b="b"/>
              <a:pathLst>
                <a:path w="1033412" h="102705">
                  <a:moveTo>
                    <a:pt x="0" y="0"/>
                  </a:moveTo>
                  <a:lnTo>
                    <a:pt x="1033412" y="0"/>
                  </a:lnTo>
                  <a:lnTo>
                    <a:pt x="1033412" y="102705"/>
                  </a:lnTo>
                  <a:lnTo>
                    <a:pt x="0" y="102705"/>
                  </a:lnTo>
                  <a:close/>
                </a:path>
              </a:pathLst>
            </a:custGeom>
            <a:solidFill>
              <a:srgbClr val="B00B39">
                <a:alpha val="19608"/>
              </a:srgbClr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60" name="TextBox 16">
              <a:extLst>
                <a:ext uri="{FF2B5EF4-FFF2-40B4-BE49-F238E27FC236}">
                  <a16:creationId xmlns:a16="http://schemas.microsoft.com/office/drawing/2014/main" id="{228D6F36-8A92-BEAD-E77C-A08CCA35F6D9}"/>
                </a:ext>
              </a:extLst>
            </p:cNvPr>
            <p:cNvSpPr txBox="1"/>
            <p:nvPr/>
          </p:nvSpPr>
          <p:spPr>
            <a:xfrm>
              <a:off x="0" y="-38100"/>
              <a:ext cx="1033412" cy="1408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1" name="TextBox 21">
            <a:extLst>
              <a:ext uri="{FF2B5EF4-FFF2-40B4-BE49-F238E27FC236}">
                <a16:creationId xmlns:a16="http://schemas.microsoft.com/office/drawing/2014/main" id="{3F5B0B19-8CC3-6C9D-C8D5-0AB38B8C9A58}"/>
              </a:ext>
            </a:extLst>
          </p:cNvPr>
          <p:cNvSpPr txBox="1"/>
          <p:nvPr/>
        </p:nvSpPr>
        <p:spPr>
          <a:xfrm>
            <a:off x="1146942" y="-12075"/>
            <a:ext cx="1629853" cy="3242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32"/>
              </a:lnSpc>
            </a:pPr>
            <a:r>
              <a:rPr lang="en-US" sz="1951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Introduction </a:t>
            </a:r>
          </a:p>
        </p:txBody>
      </p:sp>
      <p:sp>
        <p:nvSpPr>
          <p:cNvPr id="62" name="TextBox 22">
            <a:extLst>
              <a:ext uri="{FF2B5EF4-FFF2-40B4-BE49-F238E27FC236}">
                <a16:creationId xmlns:a16="http://schemas.microsoft.com/office/drawing/2014/main" id="{83E08F16-AE97-5C0F-EB1F-05EF33401800}"/>
              </a:ext>
            </a:extLst>
          </p:cNvPr>
          <p:cNvSpPr txBox="1"/>
          <p:nvPr/>
        </p:nvSpPr>
        <p:spPr>
          <a:xfrm>
            <a:off x="5073241" y="-12074"/>
            <a:ext cx="1941238" cy="3242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32"/>
              </a:lnSpc>
            </a:pPr>
            <a:r>
              <a:rPr lang="en-US" sz="1951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Methodology</a:t>
            </a:r>
          </a:p>
        </p:txBody>
      </p:sp>
      <p:sp>
        <p:nvSpPr>
          <p:cNvPr id="63" name="TextBox 23">
            <a:extLst>
              <a:ext uri="{FF2B5EF4-FFF2-40B4-BE49-F238E27FC236}">
                <a16:creationId xmlns:a16="http://schemas.microsoft.com/office/drawing/2014/main" id="{93F02F62-2053-61A6-5B18-4E56AA421E89}"/>
              </a:ext>
            </a:extLst>
          </p:cNvPr>
          <p:cNvSpPr txBox="1"/>
          <p:nvPr/>
        </p:nvSpPr>
        <p:spPr>
          <a:xfrm>
            <a:off x="9358004" y="-24047"/>
            <a:ext cx="1699738" cy="3242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32"/>
              </a:lnSpc>
            </a:pPr>
            <a:r>
              <a:rPr lang="en-US" sz="1951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Results</a:t>
            </a:r>
          </a:p>
        </p:txBody>
      </p:sp>
      <p:sp>
        <p:nvSpPr>
          <p:cNvPr id="64" name="TextBox 24">
            <a:extLst>
              <a:ext uri="{FF2B5EF4-FFF2-40B4-BE49-F238E27FC236}">
                <a16:creationId xmlns:a16="http://schemas.microsoft.com/office/drawing/2014/main" id="{828782F0-C83F-914B-58C1-20CAD21133EC}"/>
              </a:ext>
            </a:extLst>
          </p:cNvPr>
          <p:cNvSpPr txBox="1"/>
          <p:nvPr/>
        </p:nvSpPr>
        <p:spPr>
          <a:xfrm>
            <a:off x="12604201" y="-12075"/>
            <a:ext cx="2576228" cy="3242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32"/>
              </a:lnSpc>
            </a:pPr>
            <a:r>
              <a:rPr lang="en-US" sz="1951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Critical Discussion</a:t>
            </a:r>
          </a:p>
        </p:txBody>
      </p:sp>
      <p:sp>
        <p:nvSpPr>
          <p:cNvPr id="65" name="TextBox 25">
            <a:extLst>
              <a:ext uri="{FF2B5EF4-FFF2-40B4-BE49-F238E27FC236}">
                <a16:creationId xmlns:a16="http://schemas.microsoft.com/office/drawing/2014/main" id="{F412C223-1B5D-0808-716D-B1DDF6AC7ABB}"/>
              </a:ext>
            </a:extLst>
          </p:cNvPr>
          <p:cNvSpPr txBox="1"/>
          <p:nvPr/>
        </p:nvSpPr>
        <p:spPr>
          <a:xfrm>
            <a:off x="16408410" y="-24047"/>
            <a:ext cx="1574789" cy="3242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32"/>
              </a:lnSpc>
            </a:pPr>
            <a:r>
              <a:rPr lang="en-US" sz="1951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Conclusion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78475" cy="366016"/>
            <a:chOff x="0" y="0"/>
            <a:chExt cx="4814084" cy="9639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4084" cy="96399"/>
            </a:xfrm>
            <a:custGeom>
              <a:avLst/>
              <a:gdLst/>
              <a:ahLst/>
              <a:cxnLst/>
              <a:rect l="l" t="t" r="r" b="b"/>
              <a:pathLst>
                <a:path w="4814084" h="96399">
                  <a:moveTo>
                    <a:pt x="0" y="0"/>
                  </a:moveTo>
                  <a:lnTo>
                    <a:pt x="4814084" y="0"/>
                  </a:lnTo>
                  <a:lnTo>
                    <a:pt x="4814084" y="96399"/>
                  </a:lnTo>
                  <a:lnTo>
                    <a:pt x="0" y="96399"/>
                  </a:lnTo>
                  <a:close/>
                </a:path>
              </a:pathLst>
            </a:custGeom>
            <a:solidFill>
              <a:srgbClr val="897993"/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4084" cy="1344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-55288"/>
            <a:ext cx="3923736" cy="421303"/>
            <a:chOff x="0" y="0"/>
            <a:chExt cx="1033412" cy="11096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33412" cy="110961"/>
            </a:xfrm>
            <a:custGeom>
              <a:avLst/>
              <a:gdLst/>
              <a:ahLst/>
              <a:cxnLst/>
              <a:rect l="l" t="t" r="r" b="b"/>
              <a:pathLst>
                <a:path w="1033412" h="110961">
                  <a:moveTo>
                    <a:pt x="0" y="0"/>
                  </a:moveTo>
                  <a:lnTo>
                    <a:pt x="1033412" y="0"/>
                  </a:lnTo>
                  <a:lnTo>
                    <a:pt x="1033412" y="110961"/>
                  </a:lnTo>
                  <a:lnTo>
                    <a:pt x="0" y="110961"/>
                  </a:lnTo>
                  <a:close/>
                </a:path>
              </a:pathLst>
            </a:custGeom>
            <a:solidFill>
              <a:srgbClr val="B00B39"/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033412" cy="1490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5694945" y="-40855"/>
            <a:ext cx="3923736" cy="389959"/>
            <a:chOff x="0" y="0"/>
            <a:chExt cx="1033412" cy="102705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033412" cy="102705"/>
            </a:xfrm>
            <a:custGeom>
              <a:avLst/>
              <a:gdLst/>
              <a:ahLst/>
              <a:cxnLst/>
              <a:rect l="l" t="t" r="r" b="b"/>
              <a:pathLst>
                <a:path w="1033412" h="102705">
                  <a:moveTo>
                    <a:pt x="0" y="0"/>
                  </a:moveTo>
                  <a:lnTo>
                    <a:pt x="1033412" y="0"/>
                  </a:lnTo>
                  <a:lnTo>
                    <a:pt x="1033412" y="102705"/>
                  </a:lnTo>
                  <a:lnTo>
                    <a:pt x="0" y="102705"/>
                  </a:lnTo>
                  <a:close/>
                </a:path>
              </a:pathLst>
            </a:custGeom>
            <a:solidFill>
              <a:srgbClr val="B00B39">
                <a:alpha val="19608"/>
              </a:srgbClr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1033412" cy="1408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0" name="AutoShape 20"/>
          <p:cNvSpPr/>
          <p:nvPr/>
        </p:nvSpPr>
        <p:spPr>
          <a:xfrm flipV="1">
            <a:off x="2427466" y="3512552"/>
            <a:ext cx="0" cy="4938582"/>
          </a:xfrm>
          <a:prstGeom prst="line">
            <a:avLst/>
          </a:prstGeom>
          <a:ln w="38100" cap="flat">
            <a:solidFill>
              <a:srgbClr val="C4BCC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n-GR"/>
          </a:p>
        </p:txBody>
      </p:sp>
      <p:grpSp>
        <p:nvGrpSpPr>
          <p:cNvPr id="21" name="Group 21"/>
          <p:cNvGrpSpPr/>
          <p:nvPr/>
        </p:nvGrpSpPr>
        <p:grpSpPr>
          <a:xfrm>
            <a:off x="1961868" y="6524245"/>
            <a:ext cx="931196" cy="931196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80707"/>
            </a:solidFill>
            <a:ln w="38100" cap="sq">
              <a:solidFill>
                <a:srgbClr val="A80707"/>
              </a:solidFill>
              <a:prstDash val="solid"/>
              <a:miter/>
            </a:ln>
          </p:spPr>
          <p:txBody>
            <a:bodyPr/>
            <a:lstStyle/>
            <a:p>
              <a:endParaRPr lang="en-GR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961868" y="2581356"/>
            <a:ext cx="931196" cy="931196"/>
            <a:chOff x="0" y="0"/>
            <a:chExt cx="812800" cy="8128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4BCC0"/>
            </a:solidFill>
            <a:ln w="38100" cap="sq">
              <a:solidFill>
                <a:srgbClr val="A80707"/>
              </a:solidFill>
              <a:prstDash val="solid"/>
              <a:miter/>
            </a:ln>
          </p:spPr>
          <p:txBody>
            <a:bodyPr/>
            <a:lstStyle/>
            <a:p>
              <a:endParaRPr lang="en-GR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961868" y="4552800"/>
            <a:ext cx="931196" cy="931196"/>
            <a:chOff x="0" y="0"/>
            <a:chExt cx="812800" cy="8128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4BCC0"/>
            </a:solidFill>
            <a:ln w="38100" cap="sq">
              <a:solidFill>
                <a:srgbClr val="A80707"/>
              </a:solidFill>
              <a:prstDash val="solid"/>
              <a:miter/>
            </a:ln>
          </p:spPr>
          <p:txBody>
            <a:bodyPr/>
            <a:lstStyle/>
            <a:p>
              <a:endParaRPr lang="en-GR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961868" y="8399048"/>
            <a:ext cx="931196" cy="931196"/>
            <a:chOff x="0" y="0"/>
            <a:chExt cx="812800" cy="8128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4BCC0"/>
            </a:solidFill>
            <a:ln w="38100" cap="sq">
              <a:solidFill>
                <a:srgbClr val="A80707"/>
              </a:solidFill>
              <a:prstDash val="solid"/>
              <a:miter/>
            </a:ln>
          </p:spPr>
          <p:txBody>
            <a:bodyPr/>
            <a:lstStyle/>
            <a:p>
              <a:endParaRPr lang="en-GR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128974" y="1010066"/>
            <a:ext cx="15436996" cy="573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 b="1" u="sng">
                <a:solidFill>
                  <a:srgbClr val="B00B39"/>
                </a:solidFill>
                <a:latin typeface="Cardo Bold"/>
                <a:ea typeface="Cardo Bold"/>
                <a:cs typeface="Cardo Bold"/>
                <a:sym typeface="Cardo Bold"/>
              </a:rPr>
              <a:t>From CNNs to Foundation Models: Toward Scanner-Robust Pathology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3266861" y="2782159"/>
            <a:ext cx="6268394" cy="387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99"/>
              </a:lnSpc>
              <a:spcBef>
                <a:spcPct val="0"/>
              </a:spcBef>
            </a:pPr>
            <a:r>
              <a:rPr lang="en-US" sz="1999" u="none" strike="noStrike">
                <a:solidFill>
                  <a:srgbClr val="897993"/>
                </a:solidFill>
                <a:latin typeface="Calibri (MS)"/>
                <a:ea typeface="Calibri (MS)"/>
                <a:cs typeface="Calibri (MS)"/>
                <a:sym typeface="Calibri (MS)"/>
              </a:rPr>
              <a:t>CNNs (Convolutional Neural Networks)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3266861" y="4605649"/>
            <a:ext cx="6268394" cy="387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99"/>
              </a:lnSpc>
              <a:spcBef>
                <a:spcPct val="0"/>
              </a:spcBef>
            </a:pPr>
            <a:r>
              <a:rPr lang="en-US" sz="1999" u="none" strike="noStrike">
                <a:solidFill>
                  <a:srgbClr val="897993"/>
                </a:solidFill>
                <a:latin typeface="Calibri (MS)"/>
                <a:ea typeface="Calibri (MS)"/>
                <a:cs typeface="Calibri (MS)"/>
                <a:sym typeface="Calibri (MS)"/>
              </a:rPr>
              <a:t>Vision Transformers (ViTs)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3266861" y="6686948"/>
            <a:ext cx="6268394" cy="5480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19"/>
              </a:lnSpc>
              <a:spcBef>
                <a:spcPct val="0"/>
              </a:spcBef>
            </a:pPr>
            <a:r>
              <a:rPr lang="en-US" sz="2799" b="1" u="none" strike="noStrike">
                <a:solidFill>
                  <a:srgbClr val="A8070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Domain Generalization (DG)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9417857" y="4088267"/>
            <a:ext cx="7841443" cy="2734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41" lvl="1" indent="-280670" algn="l">
              <a:lnSpc>
                <a:spcPts val="3640"/>
              </a:lnSpc>
              <a:spcBef>
                <a:spcPct val="0"/>
              </a:spcBef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Learn features that remain stable across scanners</a:t>
            </a:r>
          </a:p>
          <a:p>
            <a:pPr marL="561341" lvl="1" indent="-280670" algn="l">
              <a:lnSpc>
                <a:spcPts val="3640"/>
              </a:lnSpc>
              <a:spcBef>
                <a:spcPct val="0"/>
              </a:spcBef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Aim: rely on tissue morphology, not scanner appearance</a:t>
            </a:r>
          </a:p>
          <a:p>
            <a:pPr marL="561341" lvl="1" indent="-280670" algn="l">
              <a:lnSpc>
                <a:spcPts val="3640"/>
              </a:lnSpc>
              <a:spcBef>
                <a:spcPct val="0"/>
              </a:spcBef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Helps models perform well on unseen domains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3266861" y="8628109"/>
            <a:ext cx="6268394" cy="387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897993"/>
                </a:solidFill>
                <a:latin typeface="Calibri (MS)"/>
                <a:ea typeface="Calibri (MS)"/>
                <a:cs typeface="Calibri (MS)"/>
                <a:sym typeface="Calibri (MS)"/>
              </a:rPr>
              <a:t>Pathology Foundat</a:t>
            </a:r>
            <a:r>
              <a:rPr lang="en-US" sz="1999" u="none" strike="noStrike">
                <a:solidFill>
                  <a:srgbClr val="897993"/>
                </a:solidFill>
                <a:latin typeface="Calibri (MS)"/>
                <a:ea typeface="Calibri (MS)"/>
                <a:cs typeface="Calibri (MS)"/>
                <a:sym typeface="Calibri (MS)"/>
              </a:rPr>
              <a:t>ion Models </a:t>
            </a:r>
          </a:p>
        </p:txBody>
      </p:sp>
      <p:grpSp>
        <p:nvGrpSpPr>
          <p:cNvPr id="44" name="Group 2">
            <a:extLst>
              <a:ext uri="{FF2B5EF4-FFF2-40B4-BE49-F238E27FC236}">
                <a16:creationId xmlns:a16="http://schemas.microsoft.com/office/drawing/2014/main" id="{025A4BC0-A86B-22C6-F682-F7DFE7797680}"/>
              </a:ext>
            </a:extLst>
          </p:cNvPr>
          <p:cNvGrpSpPr/>
          <p:nvPr/>
        </p:nvGrpSpPr>
        <p:grpSpPr>
          <a:xfrm>
            <a:off x="0" y="0"/>
            <a:ext cx="18278475" cy="366016"/>
            <a:chOff x="0" y="0"/>
            <a:chExt cx="4814084" cy="96399"/>
          </a:xfrm>
        </p:grpSpPr>
        <p:sp>
          <p:nvSpPr>
            <p:cNvPr id="45" name="Freeform 3">
              <a:extLst>
                <a:ext uri="{FF2B5EF4-FFF2-40B4-BE49-F238E27FC236}">
                  <a16:creationId xmlns:a16="http://schemas.microsoft.com/office/drawing/2014/main" id="{51CCFEFA-37C8-F2DF-A658-E47126D10EC4}"/>
                </a:ext>
              </a:extLst>
            </p:cNvPr>
            <p:cNvSpPr/>
            <p:nvPr/>
          </p:nvSpPr>
          <p:spPr>
            <a:xfrm>
              <a:off x="0" y="0"/>
              <a:ext cx="4814084" cy="96399"/>
            </a:xfrm>
            <a:custGeom>
              <a:avLst/>
              <a:gdLst/>
              <a:ahLst/>
              <a:cxnLst/>
              <a:rect l="l" t="t" r="r" b="b"/>
              <a:pathLst>
                <a:path w="4814084" h="96399">
                  <a:moveTo>
                    <a:pt x="0" y="0"/>
                  </a:moveTo>
                  <a:lnTo>
                    <a:pt x="4814084" y="0"/>
                  </a:lnTo>
                  <a:lnTo>
                    <a:pt x="4814084" y="96399"/>
                  </a:lnTo>
                  <a:lnTo>
                    <a:pt x="0" y="96399"/>
                  </a:lnTo>
                  <a:close/>
                </a:path>
              </a:pathLst>
            </a:custGeom>
            <a:solidFill>
              <a:srgbClr val="897993"/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46" name="TextBox 4">
              <a:extLst>
                <a:ext uri="{FF2B5EF4-FFF2-40B4-BE49-F238E27FC236}">
                  <a16:creationId xmlns:a16="http://schemas.microsoft.com/office/drawing/2014/main" id="{6D683F16-F88E-21CC-DA04-32E5B5908A60}"/>
                </a:ext>
              </a:extLst>
            </p:cNvPr>
            <p:cNvSpPr txBox="1"/>
            <p:nvPr/>
          </p:nvSpPr>
          <p:spPr>
            <a:xfrm>
              <a:off x="0" y="-38100"/>
              <a:ext cx="4814084" cy="1344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47" name="Group 5">
            <a:extLst>
              <a:ext uri="{FF2B5EF4-FFF2-40B4-BE49-F238E27FC236}">
                <a16:creationId xmlns:a16="http://schemas.microsoft.com/office/drawing/2014/main" id="{1284C7AB-75B7-16D3-9EB6-75E620186C59}"/>
              </a:ext>
            </a:extLst>
          </p:cNvPr>
          <p:cNvGrpSpPr/>
          <p:nvPr/>
        </p:nvGrpSpPr>
        <p:grpSpPr>
          <a:xfrm>
            <a:off x="0" y="-55288"/>
            <a:ext cx="3923736" cy="421303"/>
            <a:chOff x="0" y="0"/>
            <a:chExt cx="1033412" cy="110961"/>
          </a:xfrm>
        </p:grpSpPr>
        <p:sp>
          <p:nvSpPr>
            <p:cNvPr id="48" name="Freeform 6">
              <a:extLst>
                <a:ext uri="{FF2B5EF4-FFF2-40B4-BE49-F238E27FC236}">
                  <a16:creationId xmlns:a16="http://schemas.microsoft.com/office/drawing/2014/main" id="{C156F06F-AA06-4430-27E7-A4B9665886A5}"/>
                </a:ext>
              </a:extLst>
            </p:cNvPr>
            <p:cNvSpPr/>
            <p:nvPr/>
          </p:nvSpPr>
          <p:spPr>
            <a:xfrm>
              <a:off x="0" y="0"/>
              <a:ext cx="1033412" cy="110961"/>
            </a:xfrm>
            <a:custGeom>
              <a:avLst/>
              <a:gdLst/>
              <a:ahLst/>
              <a:cxnLst/>
              <a:rect l="l" t="t" r="r" b="b"/>
              <a:pathLst>
                <a:path w="1033412" h="110961">
                  <a:moveTo>
                    <a:pt x="0" y="0"/>
                  </a:moveTo>
                  <a:lnTo>
                    <a:pt x="1033412" y="0"/>
                  </a:lnTo>
                  <a:lnTo>
                    <a:pt x="1033412" y="110961"/>
                  </a:lnTo>
                  <a:lnTo>
                    <a:pt x="0" y="110961"/>
                  </a:lnTo>
                  <a:close/>
                </a:path>
              </a:pathLst>
            </a:custGeom>
            <a:solidFill>
              <a:srgbClr val="B00B39"/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49" name="TextBox 7">
              <a:extLst>
                <a:ext uri="{FF2B5EF4-FFF2-40B4-BE49-F238E27FC236}">
                  <a16:creationId xmlns:a16="http://schemas.microsoft.com/office/drawing/2014/main" id="{400393B6-0EB5-3B8B-94F4-599F5C465FDA}"/>
                </a:ext>
              </a:extLst>
            </p:cNvPr>
            <p:cNvSpPr txBox="1"/>
            <p:nvPr/>
          </p:nvSpPr>
          <p:spPr>
            <a:xfrm>
              <a:off x="0" y="-38100"/>
              <a:ext cx="1033412" cy="1490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0" name="Group 8">
            <a:extLst>
              <a:ext uri="{FF2B5EF4-FFF2-40B4-BE49-F238E27FC236}">
                <a16:creationId xmlns:a16="http://schemas.microsoft.com/office/drawing/2014/main" id="{278EB2CB-D4D6-DC8D-69CA-85FC64CC201A}"/>
              </a:ext>
            </a:extLst>
          </p:cNvPr>
          <p:cNvGrpSpPr/>
          <p:nvPr/>
        </p:nvGrpSpPr>
        <p:grpSpPr>
          <a:xfrm>
            <a:off x="3923736" y="-23943"/>
            <a:ext cx="3923736" cy="389959"/>
            <a:chOff x="0" y="0"/>
            <a:chExt cx="1033412" cy="102705"/>
          </a:xfrm>
        </p:grpSpPr>
        <p:sp>
          <p:nvSpPr>
            <p:cNvPr id="51" name="Freeform 9">
              <a:extLst>
                <a:ext uri="{FF2B5EF4-FFF2-40B4-BE49-F238E27FC236}">
                  <a16:creationId xmlns:a16="http://schemas.microsoft.com/office/drawing/2014/main" id="{ED4C6DA2-B8CB-9441-1342-5FE8DF2CE184}"/>
                </a:ext>
              </a:extLst>
            </p:cNvPr>
            <p:cNvSpPr/>
            <p:nvPr/>
          </p:nvSpPr>
          <p:spPr>
            <a:xfrm>
              <a:off x="0" y="0"/>
              <a:ext cx="1033412" cy="102705"/>
            </a:xfrm>
            <a:custGeom>
              <a:avLst/>
              <a:gdLst/>
              <a:ahLst/>
              <a:cxnLst/>
              <a:rect l="l" t="t" r="r" b="b"/>
              <a:pathLst>
                <a:path w="1033412" h="102705">
                  <a:moveTo>
                    <a:pt x="0" y="0"/>
                  </a:moveTo>
                  <a:lnTo>
                    <a:pt x="1033412" y="0"/>
                  </a:lnTo>
                  <a:lnTo>
                    <a:pt x="1033412" y="102705"/>
                  </a:lnTo>
                  <a:lnTo>
                    <a:pt x="0" y="102705"/>
                  </a:lnTo>
                  <a:close/>
                </a:path>
              </a:pathLst>
            </a:custGeom>
            <a:solidFill>
              <a:srgbClr val="B00B39">
                <a:alpha val="19608"/>
              </a:srgbClr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52" name="TextBox 10">
              <a:extLst>
                <a:ext uri="{FF2B5EF4-FFF2-40B4-BE49-F238E27FC236}">
                  <a16:creationId xmlns:a16="http://schemas.microsoft.com/office/drawing/2014/main" id="{88697653-1D14-5445-62A9-1445534DFA32}"/>
                </a:ext>
              </a:extLst>
            </p:cNvPr>
            <p:cNvSpPr txBox="1"/>
            <p:nvPr/>
          </p:nvSpPr>
          <p:spPr>
            <a:xfrm>
              <a:off x="0" y="-38100"/>
              <a:ext cx="1033412" cy="1408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3" name="Group 11">
            <a:extLst>
              <a:ext uri="{FF2B5EF4-FFF2-40B4-BE49-F238E27FC236}">
                <a16:creationId xmlns:a16="http://schemas.microsoft.com/office/drawing/2014/main" id="{DCDD0BA6-F4A3-C404-ACD1-AE600443B57A}"/>
              </a:ext>
            </a:extLst>
          </p:cNvPr>
          <p:cNvGrpSpPr/>
          <p:nvPr/>
        </p:nvGrpSpPr>
        <p:grpSpPr>
          <a:xfrm>
            <a:off x="7847472" y="-101928"/>
            <a:ext cx="3923736" cy="467944"/>
            <a:chOff x="0" y="0"/>
            <a:chExt cx="1033412" cy="123245"/>
          </a:xfrm>
        </p:grpSpPr>
        <p:sp>
          <p:nvSpPr>
            <p:cNvPr id="54" name="Freeform 12">
              <a:extLst>
                <a:ext uri="{FF2B5EF4-FFF2-40B4-BE49-F238E27FC236}">
                  <a16:creationId xmlns:a16="http://schemas.microsoft.com/office/drawing/2014/main" id="{70CC2BC8-9EBA-32D0-EA86-911DFEB53EA5}"/>
                </a:ext>
              </a:extLst>
            </p:cNvPr>
            <p:cNvSpPr/>
            <p:nvPr/>
          </p:nvSpPr>
          <p:spPr>
            <a:xfrm>
              <a:off x="0" y="0"/>
              <a:ext cx="1033412" cy="123245"/>
            </a:xfrm>
            <a:custGeom>
              <a:avLst/>
              <a:gdLst/>
              <a:ahLst/>
              <a:cxnLst/>
              <a:rect l="l" t="t" r="r" b="b"/>
              <a:pathLst>
                <a:path w="1033412" h="123245">
                  <a:moveTo>
                    <a:pt x="0" y="0"/>
                  </a:moveTo>
                  <a:lnTo>
                    <a:pt x="1033412" y="0"/>
                  </a:lnTo>
                  <a:lnTo>
                    <a:pt x="1033412" y="123245"/>
                  </a:lnTo>
                  <a:lnTo>
                    <a:pt x="0" y="123245"/>
                  </a:lnTo>
                  <a:close/>
                </a:path>
              </a:pathLst>
            </a:custGeom>
            <a:solidFill>
              <a:srgbClr val="B00B39">
                <a:alpha val="19608"/>
              </a:srgbClr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55" name="TextBox 13">
              <a:extLst>
                <a:ext uri="{FF2B5EF4-FFF2-40B4-BE49-F238E27FC236}">
                  <a16:creationId xmlns:a16="http://schemas.microsoft.com/office/drawing/2014/main" id="{F4CF4C15-3B4B-A676-7E23-50D0823E474B}"/>
                </a:ext>
              </a:extLst>
            </p:cNvPr>
            <p:cNvSpPr txBox="1"/>
            <p:nvPr/>
          </p:nvSpPr>
          <p:spPr>
            <a:xfrm>
              <a:off x="0" y="-38100"/>
              <a:ext cx="1033412" cy="1613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6" name="Group 14">
            <a:extLst>
              <a:ext uri="{FF2B5EF4-FFF2-40B4-BE49-F238E27FC236}">
                <a16:creationId xmlns:a16="http://schemas.microsoft.com/office/drawing/2014/main" id="{8F216E22-2ED9-3C37-1BA0-30B1383269F0}"/>
              </a:ext>
            </a:extLst>
          </p:cNvPr>
          <p:cNvGrpSpPr/>
          <p:nvPr/>
        </p:nvGrpSpPr>
        <p:grpSpPr>
          <a:xfrm>
            <a:off x="11771209" y="-23943"/>
            <a:ext cx="3923736" cy="389959"/>
            <a:chOff x="0" y="0"/>
            <a:chExt cx="1033412" cy="102705"/>
          </a:xfrm>
        </p:grpSpPr>
        <p:sp>
          <p:nvSpPr>
            <p:cNvPr id="57" name="Freeform 15">
              <a:extLst>
                <a:ext uri="{FF2B5EF4-FFF2-40B4-BE49-F238E27FC236}">
                  <a16:creationId xmlns:a16="http://schemas.microsoft.com/office/drawing/2014/main" id="{08D8FBF2-E607-E394-4E40-5C4A7B19440B}"/>
                </a:ext>
              </a:extLst>
            </p:cNvPr>
            <p:cNvSpPr/>
            <p:nvPr/>
          </p:nvSpPr>
          <p:spPr>
            <a:xfrm>
              <a:off x="0" y="0"/>
              <a:ext cx="1033412" cy="102705"/>
            </a:xfrm>
            <a:custGeom>
              <a:avLst/>
              <a:gdLst/>
              <a:ahLst/>
              <a:cxnLst/>
              <a:rect l="l" t="t" r="r" b="b"/>
              <a:pathLst>
                <a:path w="1033412" h="102705">
                  <a:moveTo>
                    <a:pt x="0" y="0"/>
                  </a:moveTo>
                  <a:lnTo>
                    <a:pt x="1033412" y="0"/>
                  </a:lnTo>
                  <a:lnTo>
                    <a:pt x="1033412" y="102705"/>
                  </a:lnTo>
                  <a:lnTo>
                    <a:pt x="0" y="102705"/>
                  </a:lnTo>
                  <a:close/>
                </a:path>
              </a:pathLst>
            </a:custGeom>
            <a:solidFill>
              <a:srgbClr val="B00B39">
                <a:alpha val="19608"/>
              </a:srgbClr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58" name="TextBox 16">
              <a:extLst>
                <a:ext uri="{FF2B5EF4-FFF2-40B4-BE49-F238E27FC236}">
                  <a16:creationId xmlns:a16="http://schemas.microsoft.com/office/drawing/2014/main" id="{1007EC99-7AB5-73D9-7030-B1CC84765079}"/>
                </a:ext>
              </a:extLst>
            </p:cNvPr>
            <p:cNvSpPr txBox="1"/>
            <p:nvPr/>
          </p:nvSpPr>
          <p:spPr>
            <a:xfrm>
              <a:off x="0" y="-38100"/>
              <a:ext cx="1033412" cy="1408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9" name="TextBox 21">
            <a:extLst>
              <a:ext uri="{FF2B5EF4-FFF2-40B4-BE49-F238E27FC236}">
                <a16:creationId xmlns:a16="http://schemas.microsoft.com/office/drawing/2014/main" id="{1C34FC6F-E382-2728-D7A3-F81CEC945DFD}"/>
              </a:ext>
            </a:extLst>
          </p:cNvPr>
          <p:cNvSpPr txBox="1"/>
          <p:nvPr/>
        </p:nvSpPr>
        <p:spPr>
          <a:xfrm>
            <a:off x="1146942" y="-12075"/>
            <a:ext cx="1629853" cy="3242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32"/>
              </a:lnSpc>
            </a:pPr>
            <a:r>
              <a:rPr lang="en-US" sz="1951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Introduction </a:t>
            </a:r>
          </a:p>
        </p:txBody>
      </p:sp>
      <p:sp>
        <p:nvSpPr>
          <p:cNvPr id="60" name="TextBox 22">
            <a:extLst>
              <a:ext uri="{FF2B5EF4-FFF2-40B4-BE49-F238E27FC236}">
                <a16:creationId xmlns:a16="http://schemas.microsoft.com/office/drawing/2014/main" id="{76B47B10-F834-213B-2F9D-FDBA53CFD65A}"/>
              </a:ext>
            </a:extLst>
          </p:cNvPr>
          <p:cNvSpPr txBox="1"/>
          <p:nvPr/>
        </p:nvSpPr>
        <p:spPr>
          <a:xfrm>
            <a:off x="5073241" y="-12074"/>
            <a:ext cx="1941238" cy="3242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32"/>
              </a:lnSpc>
            </a:pPr>
            <a:r>
              <a:rPr lang="en-US" sz="1951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Methodology</a:t>
            </a:r>
          </a:p>
        </p:txBody>
      </p:sp>
      <p:sp>
        <p:nvSpPr>
          <p:cNvPr id="61" name="TextBox 23">
            <a:extLst>
              <a:ext uri="{FF2B5EF4-FFF2-40B4-BE49-F238E27FC236}">
                <a16:creationId xmlns:a16="http://schemas.microsoft.com/office/drawing/2014/main" id="{A8FF9C0A-6023-1B8B-815B-F4F91B9B8284}"/>
              </a:ext>
            </a:extLst>
          </p:cNvPr>
          <p:cNvSpPr txBox="1"/>
          <p:nvPr/>
        </p:nvSpPr>
        <p:spPr>
          <a:xfrm>
            <a:off x="9358004" y="-24047"/>
            <a:ext cx="1699738" cy="3242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32"/>
              </a:lnSpc>
            </a:pPr>
            <a:r>
              <a:rPr lang="en-US" sz="1951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Results</a:t>
            </a:r>
          </a:p>
        </p:txBody>
      </p:sp>
      <p:sp>
        <p:nvSpPr>
          <p:cNvPr id="62" name="TextBox 24">
            <a:extLst>
              <a:ext uri="{FF2B5EF4-FFF2-40B4-BE49-F238E27FC236}">
                <a16:creationId xmlns:a16="http://schemas.microsoft.com/office/drawing/2014/main" id="{AA02EEFC-A24F-1115-C5C9-41BF671F22E2}"/>
              </a:ext>
            </a:extLst>
          </p:cNvPr>
          <p:cNvSpPr txBox="1"/>
          <p:nvPr/>
        </p:nvSpPr>
        <p:spPr>
          <a:xfrm>
            <a:off x="12604201" y="-12075"/>
            <a:ext cx="2576228" cy="3242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32"/>
              </a:lnSpc>
            </a:pPr>
            <a:r>
              <a:rPr lang="en-US" sz="1951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Critical Discussion</a:t>
            </a:r>
          </a:p>
        </p:txBody>
      </p:sp>
      <p:sp>
        <p:nvSpPr>
          <p:cNvPr id="63" name="TextBox 25">
            <a:extLst>
              <a:ext uri="{FF2B5EF4-FFF2-40B4-BE49-F238E27FC236}">
                <a16:creationId xmlns:a16="http://schemas.microsoft.com/office/drawing/2014/main" id="{B08F04A7-5068-E0F5-733F-3023F49C2513}"/>
              </a:ext>
            </a:extLst>
          </p:cNvPr>
          <p:cNvSpPr txBox="1"/>
          <p:nvPr/>
        </p:nvSpPr>
        <p:spPr>
          <a:xfrm>
            <a:off x="16408410" y="-24047"/>
            <a:ext cx="1574789" cy="3242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32"/>
              </a:lnSpc>
            </a:pPr>
            <a:r>
              <a:rPr lang="en-US" sz="1951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Conclusion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78475" cy="366016"/>
            <a:chOff x="0" y="0"/>
            <a:chExt cx="4814084" cy="9639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4084" cy="96399"/>
            </a:xfrm>
            <a:custGeom>
              <a:avLst/>
              <a:gdLst/>
              <a:ahLst/>
              <a:cxnLst/>
              <a:rect l="l" t="t" r="r" b="b"/>
              <a:pathLst>
                <a:path w="4814084" h="96399">
                  <a:moveTo>
                    <a:pt x="0" y="0"/>
                  </a:moveTo>
                  <a:lnTo>
                    <a:pt x="4814084" y="0"/>
                  </a:lnTo>
                  <a:lnTo>
                    <a:pt x="4814084" y="96399"/>
                  </a:lnTo>
                  <a:lnTo>
                    <a:pt x="0" y="96399"/>
                  </a:lnTo>
                  <a:close/>
                </a:path>
              </a:pathLst>
            </a:custGeom>
            <a:solidFill>
              <a:srgbClr val="897993"/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4084" cy="1344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-55288"/>
            <a:ext cx="3923736" cy="421303"/>
            <a:chOff x="0" y="0"/>
            <a:chExt cx="1033412" cy="11096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33412" cy="110961"/>
            </a:xfrm>
            <a:custGeom>
              <a:avLst/>
              <a:gdLst/>
              <a:ahLst/>
              <a:cxnLst/>
              <a:rect l="l" t="t" r="r" b="b"/>
              <a:pathLst>
                <a:path w="1033412" h="110961">
                  <a:moveTo>
                    <a:pt x="0" y="0"/>
                  </a:moveTo>
                  <a:lnTo>
                    <a:pt x="1033412" y="0"/>
                  </a:lnTo>
                  <a:lnTo>
                    <a:pt x="1033412" y="110961"/>
                  </a:lnTo>
                  <a:lnTo>
                    <a:pt x="0" y="110961"/>
                  </a:lnTo>
                  <a:close/>
                </a:path>
              </a:pathLst>
            </a:custGeom>
            <a:solidFill>
              <a:srgbClr val="B00B39"/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033412" cy="1490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5694945" y="-40855"/>
            <a:ext cx="3923736" cy="389959"/>
            <a:chOff x="0" y="0"/>
            <a:chExt cx="1033412" cy="102705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033412" cy="102705"/>
            </a:xfrm>
            <a:custGeom>
              <a:avLst/>
              <a:gdLst/>
              <a:ahLst/>
              <a:cxnLst/>
              <a:rect l="l" t="t" r="r" b="b"/>
              <a:pathLst>
                <a:path w="1033412" h="102705">
                  <a:moveTo>
                    <a:pt x="0" y="0"/>
                  </a:moveTo>
                  <a:lnTo>
                    <a:pt x="1033412" y="0"/>
                  </a:lnTo>
                  <a:lnTo>
                    <a:pt x="1033412" y="102705"/>
                  </a:lnTo>
                  <a:lnTo>
                    <a:pt x="0" y="102705"/>
                  </a:lnTo>
                  <a:close/>
                </a:path>
              </a:pathLst>
            </a:custGeom>
            <a:solidFill>
              <a:srgbClr val="B00B39">
                <a:alpha val="19608"/>
              </a:srgbClr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1033412" cy="1408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961868" y="6524245"/>
            <a:ext cx="931196" cy="931196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4BCC0"/>
            </a:solidFill>
            <a:ln w="38100" cap="sq">
              <a:solidFill>
                <a:srgbClr val="A80707"/>
              </a:solidFill>
              <a:prstDash val="solid"/>
              <a:miter/>
            </a:ln>
          </p:spPr>
          <p:txBody>
            <a:bodyPr/>
            <a:lstStyle/>
            <a:p>
              <a:endParaRPr lang="en-GR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3" name="AutoShape 23"/>
          <p:cNvSpPr/>
          <p:nvPr/>
        </p:nvSpPr>
        <p:spPr>
          <a:xfrm flipH="1" flipV="1">
            <a:off x="2427466" y="3512552"/>
            <a:ext cx="0" cy="4886496"/>
          </a:xfrm>
          <a:prstGeom prst="line">
            <a:avLst/>
          </a:prstGeom>
          <a:ln w="38100" cap="flat">
            <a:solidFill>
              <a:srgbClr val="C4BCC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n-GR"/>
          </a:p>
        </p:txBody>
      </p:sp>
      <p:grpSp>
        <p:nvGrpSpPr>
          <p:cNvPr id="24" name="Group 24"/>
          <p:cNvGrpSpPr/>
          <p:nvPr/>
        </p:nvGrpSpPr>
        <p:grpSpPr>
          <a:xfrm>
            <a:off x="1961868" y="2581356"/>
            <a:ext cx="931196" cy="931196"/>
            <a:chOff x="0" y="0"/>
            <a:chExt cx="812800" cy="8128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4BCC0"/>
            </a:solidFill>
            <a:ln w="38100" cap="sq">
              <a:solidFill>
                <a:srgbClr val="A80707"/>
              </a:solidFill>
              <a:prstDash val="solid"/>
              <a:miter/>
            </a:ln>
          </p:spPr>
          <p:txBody>
            <a:bodyPr/>
            <a:lstStyle/>
            <a:p>
              <a:endParaRPr lang="en-GR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961868" y="4552800"/>
            <a:ext cx="931196" cy="931196"/>
            <a:chOff x="0" y="0"/>
            <a:chExt cx="812800" cy="8128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4BCC0"/>
            </a:solidFill>
            <a:ln w="38100" cap="sq">
              <a:solidFill>
                <a:srgbClr val="A80707"/>
              </a:solidFill>
              <a:prstDash val="solid"/>
              <a:miter/>
            </a:ln>
          </p:spPr>
          <p:txBody>
            <a:bodyPr/>
            <a:lstStyle/>
            <a:p>
              <a:endParaRPr lang="en-GR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961868" y="8399048"/>
            <a:ext cx="931196" cy="931196"/>
            <a:chOff x="0" y="0"/>
            <a:chExt cx="812800" cy="8128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80707"/>
            </a:solidFill>
            <a:ln w="38100" cap="sq">
              <a:solidFill>
                <a:srgbClr val="A80707"/>
              </a:solidFill>
              <a:prstDash val="solid"/>
              <a:miter/>
            </a:ln>
          </p:spPr>
          <p:txBody>
            <a:bodyPr/>
            <a:lstStyle/>
            <a:p>
              <a:endParaRPr lang="en-GR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16408411" y="-24047"/>
            <a:ext cx="1355548" cy="342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2"/>
              </a:lnSpc>
            </a:pPr>
            <a:r>
              <a:rPr lang="en-US" sz="1951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Conclusion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28974" y="1010066"/>
            <a:ext cx="15436996" cy="573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 b="1" u="sng">
                <a:solidFill>
                  <a:srgbClr val="B00B39"/>
                </a:solidFill>
                <a:latin typeface="Cardo Bold"/>
                <a:ea typeface="Cardo Bold"/>
                <a:cs typeface="Cardo Bold"/>
                <a:sym typeface="Cardo Bold"/>
              </a:rPr>
              <a:t>From CNNs to Foundation Models: Toward Scanner-Robust Pathology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3266861" y="2782159"/>
            <a:ext cx="6268394" cy="387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99"/>
              </a:lnSpc>
              <a:spcBef>
                <a:spcPct val="0"/>
              </a:spcBef>
            </a:pPr>
            <a:r>
              <a:rPr lang="en-US" sz="1999" u="none" strike="noStrike">
                <a:solidFill>
                  <a:srgbClr val="897993"/>
                </a:solidFill>
                <a:latin typeface="Calibri (MS)"/>
                <a:ea typeface="Calibri (MS)"/>
                <a:cs typeface="Calibri (MS)"/>
                <a:sym typeface="Calibri (MS)"/>
              </a:rPr>
              <a:t>CNNs (Convolutional Neural Networks)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3266861" y="4605649"/>
            <a:ext cx="6268394" cy="387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99"/>
              </a:lnSpc>
              <a:spcBef>
                <a:spcPct val="0"/>
              </a:spcBef>
            </a:pPr>
            <a:r>
              <a:rPr lang="en-US" sz="1999" u="none" strike="noStrike">
                <a:solidFill>
                  <a:srgbClr val="897993"/>
                </a:solidFill>
                <a:latin typeface="Calibri (MS)"/>
                <a:ea typeface="Calibri (MS)"/>
                <a:cs typeface="Calibri (MS)"/>
                <a:sym typeface="Calibri (MS)"/>
              </a:rPr>
              <a:t>Vision Transformers (ViTs)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3266861" y="6725048"/>
            <a:ext cx="6268394" cy="387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99"/>
              </a:lnSpc>
              <a:spcBef>
                <a:spcPct val="0"/>
              </a:spcBef>
            </a:pPr>
            <a:r>
              <a:rPr lang="en-US" sz="1999" u="none" strike="noStrike">
                <a:solidFill>
                  <a:srgbClr val="897993"/>
                </a:solidFill>
                <a:latin typeface="Calibri (MS)"/>
                <a:ea typeface="Calibri (MS)"/>
                <a:cs typeface="Calibri (MS)"/>
                <a:sym typeface="Calibri (MS)"/>
              </a:rPr>
              <a:t>Domain Generalization (DG)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9214262" y="4684093"/>
            <a:ext cx="7841443" cy="1817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Large </a:t>
            </a:r>
            <a:r>
              <a:rPr lang="en-US" sz="26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ViT</a:t>
            </a:r>
            <a:r>
              <a:rPr lang="en-US" sz="26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-based encoders (UNI, Virchow2, Midnight)</a:t>
            </a:r>
          </a:p>
          <a:p>
            <a:pPr marL="561341" lvl="1" indent="-280670" algn="l">
              <a:lnSpc>
                <a:spcPts val="3640"/>
              </a:lnSpc>
              <a:spcBef>
                <a:spcPct val="0"/>
              </a:spcBef>
              <a:buFont typeface="Arial"/>
              <a:buChar char="•"/>
            </a:pPr>
            <a:r>
              <a:rPr lang="en-US" sz="26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Pretrained on millions of WSI patches with self-supervised learning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3266861" y="8590009"/>
            <a:ext cx="6268394" cy="5480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19"/>
              </a:lnSpc>
              <a:spcBef>
                <a:spcPct val="0"/>
              </a:spcBef>
            </a:pPr>
            <a:r>
              <a:rPr lang="en-US" sz="2799" b="1" u="none" strike="noStrike">
                <a:solidFill>
                  <a:srgbClr val="A8070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Pathology Foundation Models </a:t>
            </a:r>
          </a:p>
        </p:txBody>
      </p:sp>
      <p:grpSp>
        <p:nvGrpSpPr>
          <p:cNvPr id="44" name="Group 2">
            <a:extLst>
              <a:ext uri="{FF2B5EF4-FFF2-40B4-BE49-F238E27FC236}">
                <a16:creationId xmlns:a16="http://schemas.microsoft.com/office/drawing/2014/main" id="{C9049315-042C-5D85-F3AC-17B31614DA2D}"/>
              </a:ext>
            </a:extLst>
          </p:cNvPr>
          <p:cNvGrpSpPr/>
          <p:nvPr/>
        </p:nvGrpSpPr>
        <p:grpSpPr>
          <a:xfrm>
            <a:off x="0" y="0"/>
            <a:ext cx="18278475" cy="366016"/>
            <a:chOff x="0" y="0"/>
            <a:chExt cx="4814084" cy="96399"/>
          </a:xfrm>
        </p:grpSpPr>
        <p:sp>
          <p:nvSpPr>
            <p:cNvPr id="45" name="Freeform 3">
              <a:extLst>
                <a:ext uri="{FF2B5EF4-FFF2-40B4-BE49-F238E27FC236}">
                  <a16:creationId xmlns:a16="http://schemas.microsoft.com/office/drawing/2014/main" id="{FE051C07-DFB5-B889-160B-DC47CB168EF6}"/>
                </a:ext>
              </a:extLst>
            </p:cNvPr>
            <p:cNvSpPr/>
            <p:nvPr/>
          </p:nvSpPr>
          <p:spPr>
            <a:xfrm>
              <a:off x="0" y="0"/>
              <a:ext cx="4814084" cy="96399"/>
            </a:xfrm>
            <a:custGeom>
              <a:avLst/>
              <a:gdLst/>
              <a:ahLst/>
              <a:cxnLst/>
              <a:rect l="l" t="t" r="r" b="b"/>
              <a:pathLst>
                <a:path w="4814084" h="96399">
                  <a:moveTo>
                    <a:pt x="0" y="0"/>
                  </a:moveTo>
                  <a:lnTo>
                    <a:pt x="4814084" y="0"/>
                  </a:lnTo>
                  <a:lnTo>
                    <a:pt x="4814084" y="96399"/>
                  </a:lnTo>
                  <a:lnTo>
                    <a:pt x="0" y="96399"/>
                  </a:lnTo>
                  <a:close/>
                </a:path>
              </a:pathLst>
            </a:custGeom>
            <a:solidFill>
              <a:srgbClr val="897993"/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46" name="TextBox 4">
              <a:extLst>
                <a:ext uri="{FF2B5EF4-FFF2-40B4-BE49-F238E27FC236}">
                  <a16:creationId xmlns:a16="http://schemas.microsoft.com/office/drawing/2014/main" id="{44CFCC5F-FE4F-653B-3092-36D9F8BFF521}"/>
                </a:ext>
              </a:extLst>
            </p:cNvPr>
            <p:cNvSpPr txBox="1"/>
            <p:nvPr/>
          </p:nvSpPr>
          <p:spPr>
            <a:xfrm>
              <a:off x="0" y="-38100"/>
              <a:ext cx="4814084" cy="1344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47" name="Group 5">
            <a:extLst>
              <a:ext uri="{FF2B5EF4-FFF2-40B4-BE49-F238E27FC236}">
                <a16:creationId xmlns:a16="http://schemas.microsoft.com/office/drawing/2014/main" id="{6EE71B29-333C-EBB7-F75A-36E6AF382443}"/>
              </a:ext>
            </a:extLst>
          </p:cNvPr>
          <p:cNvGrpSpPr/>
          <p:nvPr/>
        </p:nvGrpSpPr>
        <p:grpSpPr>
          <a:xfrm>
            <a:off x="0" y="-55288"/>
            <a:ext cx="3923736" cy="421303"/>
            <a:chOff x="0" y="0"/>
            <a:chExt cx="1033412" cy="110961"/>
          </a:xfrm>
        </p:grpSpPr>
        <p:sp>
          <p:nvSpPr>
            <p:cNvPr id="48" name="Freeform 6">
              <a:extLst>
                <a:ext uri="{FF2B5EF4-FFF2-40B4-BE49-F238E27FC236}">
                  <a16:creationId xmlns:a16="http://schemas.microsoft.com/office/drawing/2014/main" id="{5CCE5588-3EC4-97B6-4973-2B1B446581AB}"/>
                </a:ext>
              </a:extLst>
            </p:cNvPr>
            <p:cNvSpPr/>
            <p:nvPr/>
          </p:nvSpPr>
          <p:spPr>
            <a:xfrm>
              <a:off x="0" y="0"/>
              <a:ext cx="1033412" cy="110961"/>
            </a:xfrm>
            <a:custGeom>
              <a:avLst/>
              <a:gdLst/>
              <a:ahLst/>
              <a:cxnLst/>
              <a:rect l="l" t="t" r="r" b="b"/>
              <a:pathLst>
                <a:path w="1033412" h="110961">
                  <a:moveTo>
                    <a:pt x="0" y="0"/>
                  </a:moveTo>
                  <a:lnTo>
                    <a:pt x="1033412" y="0"/>
                  </a:lnTo>
                  <a:lnTo>
                    <a:pt x="1033412" y="110961"/>
                  </a:lnTo>
                  <a:lnTo>
                    <a:pt x="0" y="110961"/>
                  </a:lnTo>
                  <a:close/>
                </a:path>
              </a:pathLst>
            </a:custGeom>
            <a:solidFill>
              <a:srgbClr val="B00B39"/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49" name="TextBox 7">
              <a:extLst>
                <a:ext uri="{FF2B5EF4-FFF2-40B4-BE49-F238E27FC236}">
                  <a16:creationId xmlns:a16="http://schemas.microsoft.com/office/drawing/2014/main" id="{AEA34395-EA7C-53A4-5D7C-379CB32BA175}"/>
                </a:ext>
              </a:extLst>
            </p:cNvPr>
            <p:cNvSpPr txBox="1"/>
            <p:nvPr/>
          </p:nvSpPr>
          <p:spPr>
            <a:xfrm>
              <a:off x="0" y="-38100"/>
              <a:ext cx="1033412" cy="1490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0" name="Group 8">
            <a:extLst>
              <a:ext uri="{FF2B5EF4-FFF2-40B4-BE49-F238E27FC236}">
                <a16:creationId xmlns:a16="http://schemas.microsoft.com/office/drawing/2014/main" id="{CEFC9FBB-CBED-301E-2857-A1A1CDB9B593}"/>
              </a:ext>
            </a:extLst>
          </p:cNvPr>
          <p:cNvGrpSpPr/>
          <p:nvPr/>
        </p:nvGrpSpPr>
        <p:grpSpPr>
          <a:xfrm>
            <a:off x="3923736" y="-23943"/>
            <a:ext cx="3923736" cy="389959"/>
            <a:chOff x="0" y="0"/>
            <a:chExt cx="1033412" cy="102705"/>
          </a:xfrm>
        </p:grpSpPr>
        <p:sp>
          <p:nvSpPr>
            <p:cNvPr id="51" name="Freeform 9">
              <a:extLst>
                <a:ext uri="{FF2B5EF4-FFF2-40B4-BE49-F238E27FC236}">
                  <a16:creationId xmlns:a16="http://schemas.microsoft.com/office/drawing/2014/main" id="{39138DC2-34AF-2150-B605-609F17C60D69}"/>
                </a:ext>
              </a:extLst>
            </p:cNvPr>
            <p:cNvSpPr/>
            <p:nvPr/>
          </p:nvSpPr>
          <p:spPr>
            <a:xfrm>
              <a:off x="0" y="0"/>
              <a:ext cx="1033412" cy="102705"/>
            </a:xfrm>
            <a:custGeom>
              <a:avLst/>
              <a:gdLst/>
              <a:ahLst/>
              <a:cxnLst/>
              <a:rect l="l" t="t" r="r" b="b"/>
              <a:pathLst>
                <a:path w="1033412" h="102705">
                  <a:moveTo>
                    <a:pt x="0" y="0"/>
                  </a:moveTo>
                  <a:lnTo>
                    <a:pt x="1033412" y="0"/>
                  </a:lnTo>
                  <a:lnTo>
                    <a:pt x="1033412" y="102705"/>
                  </a:lnTo>
                  <a:lnTo>
                    <a:pt x="0" y="102705"/>
                  </a:lnTo>
                  <a:close/>
                </a:path>
              </a:pathLst>
            </a:custGeom>
            <a:solidFill>
              <a:srgbClr val="B00B39">
                <a:alpha val="19608"/>
              </a:srgbClr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52" name="TextBox 10">
              <a:extLst>
                <a:ext uri="{FF2B5EF4-FFF2-40B4-BE49-F238E27FC236}">
                  <a16:creationId xmlns:a16="http://schemas.microsoft.com/office/drawing/2014/main" id="{743CAB3B-AAF9-137C-7E18-7E7046E49A58}"/>
                </a:ext>
              </a:extLst>
            </p:cNvPr>
            <p:cNvSpPr txBox="1"/>
            <p:nvPr/>
          </p:nvSpPr>
          <p:spPr>
            <a:xfrm>
              <a:off x="0" y="-38100"/>
              <a:ext cx="1033412" cy="1408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3" name="Group 11">
            <a:extLst>
              <a:ext uri="{FF2B5EF4-FFF2-40B4-BE49-F238E27FC236}">
                <a16:creationId xmlns:a16="http://schemas.microsoft.com/office/drawing/2014/main" id="{FF76AD4D-D0F8-FAAA-765C-DCA938E0E718}"/>
              </a:ext>
            </a:extLst>
          </p:cNvPr>
          <p:cNvGrpSpPr/>
          <p:nvPr/>
        </p:nvGrpSpPr>
        <p:grpSpPr>
          <a:xfrm>
            <a:off x="7847472" y="-101928"/>
            <a:ext cx="3923736" cy="467944"/>
            <a:chOff x="0" y="0"/>
            <a:chExt cx="1033412" cy="123245"/>
          </a:xfrm>
        </p:grpSpPr>
        <p:sp>
          <p:nvSpPr>
            <p:cNvPr id="54" name="Freeform 12">
              <a:extLst>
                <a:ext uri="{FF2B5EF4-FFF2-40B4-BE49-F238E27FC236}">
                  <a16:creationId xmlns:a16="http://schemas.microsoft.com/office/drawing/2014/main" id="{E82EE89A-2FBB-E274-91EC-4D4067122686}"/>
                </a:ext>
              </a:extLst>
            </p:cNvPr>
            <p:cNvSpPr/>
            <p:nvPr/>
          </p:nvSpPr>
          <p:spPr>
            <a:xfrm>
              <a:off x="0" y="0"/>
              <a:ext cx="1033412" cy="123245"/>
            </a:xfrm>
            <a:custGeom>
              <a:avLst/>
              <a:gdLst/>
              <a:ahLst/>
              <a:cxnLst/>
              <a:rect l="l" t="t" r="r" b="b"/>
              <a:pathLst>
                <a:path w="1033412" h="123245">
                  <a:moveTo>
                    <a:pt x="0" y="0"/>
                  </a:moveTo>
                  <a:lnTo>
                    <a:pt x="1033412" y="0"/>
                  </a:lnTo>
                  <a:lnTo>
                    <a:pt x="1033412" y="123245"/>
                  </a:lnTo>
                  <a:lnTo>
                    <a:pt x="0" y="123245"/>
                  </a:lnTo>
                  <a:close/>
                </a:path>
              </a:pathLst>
            </a:custGeom>
            <a:solidFill>
              <a:srgbClr val="B00B39">
                <a:alpha val="19608"/>
              </a:srgbClr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55" name="TextBox 13">
              <a:extLst>
                <a:ext uri="{FF2B5EF4-FFF2-40B4-BE49-F238E27FC236}">
                  <a16:creationId xmlns:a16="http://schemas.microsoft.com/office/drawing/2014/main" id="{2DC4B2A3-4764-CEBA-3331-F7DC5A42D9C8}"/>
                </a:ext>
              </a:extLst>
            </p:cNvPr>
            <p:cNvSpPr txBox="1"/>
            <p:nvPr/>
          </p:nvSpPr>
          <p:spPr>
            <a:xfrm>
              <a:off x="0" y="-38100"/>
              <a:ext cx="1033412" cy="1613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6" name="Group 14">
            <a:extLst>
              <a:ext uri="{FF2B5EF4-FFF2-40B4-BE49-F238E27FC236}">
                <a16:creationId xmlns:a16="http://schemas.microsoft.com/office/drawing/2014/main" id="{BB1A15F9-99C7-2990-F33D-A5526EA3C11C}"/>
              </a:ext>
            </a:extLst>
          </p:cNvPr>
          <p:cNvGrpSpPr/>
          <p:nvPr/>
        </p:nvGrpSpPr>
        <p:grpSpPr>
          <a:xfrm>
            <a:off x="11771209" y="-23943"/>
            <a:ext cx="3923736" cy="389959"/>
            <a:chOff x="0" y="0"/>
            <a:chExt cx="1033412" cy="102705"/>
          </a:xfrm>
        </p:grpSpPr>
        <p:sp>
          <p:nvSpPr>
            <p:cNvPr id="57" name="Freeform 15">
              <a:extLst>
                <a:ext uri="{FF2B5EF4-FFF2-40B4-BE49-F238E27FC236}">
                  <a16:creationId xmlns:a16="http://schemas.microsoft.com/office/drawing/2014/main" id="{330384B0-AFE8-379D-7E0C-51C6D53C70E2}"/>
                </a:ext>
              </a:extLst>
            </p:cNvPr>
            <p:cNvSpPr/>
            <p:nvPr/>
          </p:nvSpPr>
          <p:spPr>
            <a:xfrm>
              <a:off x="0" y="0"/>
              <a:ext cx="1033412" cy="102705"/>
            </a:xfrm>
            <a:custGeom>
              <a:avLst/>
              <a:gdLst/>
              <a:ahLst/>
              <a:cxnLst/>
              <a:rect l="l" t="t" r="r" b="b"/>
              <a:pathLst>
                <a:path w="1033412" h="102705">
                  <a:moveTo>
                    <a:pt x="0" y="0"/>
                  </a:moveTo>
                  <a:lnTo>
                    <a:pt x="1033412" y="0"/>
                  </a:lnTo>
                  <a:lnTo>
                    <a:pt x="1033412" y="102705"/>
                  </a:lnTo>
                  <a:lnTo>
                    <a:pt x="0" y="102705"/>
                  </a:lnTo>
                  <a:close/>
                </a:path>
              </a:pathLst>
            </a:custGeom>
            <a:solidFill>
              <a:srgbClr val="B00B39">
                <a:alpha val="19608"/>
              </a:srgbClr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58" name="TextBox 16">
              <a:extLst>
                <a:ext uri="{FF2B5EF4-FFF2-40B4-BE49-F238E27FC236}">
                  <a16:creationId xmlns:a16="http://schemas.microsoft.com/office/drawing/2014/main" id="{6255D079-2197-E591-47F6-AB35B7ABF92D}"/>
                </a:ext>
              </a:extLst>
            </p:cNvPr>
            <p:cNvSpPr txBox="1"/>
            <p:nvPr/>
          </p:nvSpPr>
          <p:spPr>
            <a:xfrm>
              <a:off x="0" y="-38100"/>
              <a:ext cx="1033412" cy="1408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9" name="TextBox 21">
            <a:extLst>
              <a:ext uri="{FF2B5EF4-FFF2-40B4-BE49-F238E27FC236}">
                <a16:creationId xmlns:a16="http://schemas.microsoft.com/office/drawing/2014/main" id="{B3D260BC-DF4D-2BF1-3839-AD985BD00386}"/>
              </a:ext>
            </a:extLst>
          </p:cNvPr>
          <p:cNvSpPr txBox="1"/>
          <p:nvPr/>
        </p:nvSpPr>
        <p:spPr>
          <a:xfrm>
            <a:off x="1146942" y="-12075"/>
            <a:ext cx="1629853" cy="3242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32"/>
              </a:lnSpc>
            </a:pPr>
            <a:r>
              <a:rPr lang="en-US" sz="1951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Introduction </a:t>
            </a:r>
          </a:p>
        </p:txBody>
      </p:sp>
      <p:sp>
        <p:nvSpPr>
          <p:cNvPr id="60" name="TextBox 22">
            <a:extLst>
              <a:ext uri="{FF2B5EF4-FFF2-40B4-BE49-F238E27FC236}">
                <a16:creationId xmlns:a16="http://schemas.microsoft.com/office/drawing/2014/main" id="{B0F39310-F54E-3121-09E2-D3C3962D8D72}"/>
              </a:ext>
            </a:extLst>
          </p:cNvPr>
          <p:cNvSpPr txBox="1"/>
          <p:nvPr/>
        </p:nvSpPr>
        <p:spPr>
          <a:xfrm>
            <a:off x="5073241" y="-12074"/>
            <a:ext cx="1941238" cy="3242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32"/>
              </a:lnSpc>
            </a:pPr>
            <a:r>
              <a:rPr lang="en-US" sz="1951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Methodology</a:t>
            </a:r>
          </a:p>
        </p:txBody>
      </p:sp>
      <p:sp>
        <p:nvSpPr>
          <p:cNvPr id="61" name="TextBox 23">
            <a:extLst>
              <a:ext uri="{FF2B5EF4-FFF2-40B4-BE49-F238E27FC236}">
                <a16:creationId xmlns:a16="http://schemas.microsoft.com/office/drawing/2014/main" id="{82C5EFA2-9695-C0A3-8C01-36253FFAAD46}"/>
              </a:ext>
            </a:extLst>
          </p:cNvPr>
          <p:cNvSpPr txBox="1"/>
          <p:nvPr/>
        </p:nvSpPr>
        <p:spPr>
          <a:xfrm>
            <a:off x="9358004" y="-24047"/>
            <a:ext cx="1699738" cy="3242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32"/>
              </a:lnSpc>
            </a:pPr>
            <a:r>
              <a:rPr lang="en-US" sz="1951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Results</a:t>
            </a:r>
          </a:p>
        </p:txBody>
      </p:sp>
      <p:sp>
        <p:nvSpPr>
          <p:cNvPr id="62" name="TextBox 24">
            <a:extLst>
              <a:ext uri="{FF2B5EF4-FFF2-40B4-BE49-F238E27FC236}">
                <a16:creationId xmlns:a16="http://schemas.microsoft.com/office/drawing/2014/main" id="{5084765B-E411-A7C5-CF1E-6ED09F2E42D5}"/>
              </a:ext>
            </a:extLst>
          </p:cNvPr>
          <p:cNvSpPr txBox="1"/>
          <p:nvPr/>
        </p:nvSpPr>
        <p:spPr>
          <a:xfrm>
            <a:off x="12604201" y="-12075"/>
            <a:ext cx="2576228" cy="3242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32"/>
              </a:lnSpc>
            </a:pPr>
            <a:r>
              <a:rPr lang="en-US" sz="1951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Critical Discussion</a:t>
            </a:r>
          </a:p>
        </p:txBody>
      </p:sp>
      <p:sp>
        <p:nvSpPr>
          <p:cNvPr id="63" name="TextBox 25">
            <a:extLst>
              <a:ext uri="{FF2B5EF4-FFF2-40B4-BE49-F238E27FC236}">
                <a16:creationId xmlns:a16="http://schemas.microsoft.com/office/drawing/2014/main" id="{B9EC0288-1706-6344-389F-422EED35F6FF}"/>
              </a:ext>
            </a:extLst>
          </p:cNvPr>
          <p:cNvSpPr txBox="1"/>
          <p:nvPr/>
        </p:nvSpPr>
        <p:spPr>
          <a:xfrm>
            <a:off x="16408410" y="-24047"/>
            <a:ext cx="1574789" cy="3242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32"/>
              </a:lnSpc>
            </a:pPr>
            <a:r>
              <a:rPr lang="en-US" sz="1951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Conclusion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78475" cy="366016"/>
            <a:chOff x="0" y="0"/>
            <a:chExt cx="4814084" cy="9639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4084" cy="96399"/>
            </a:xfrm>
            <a:custGeom>
              <a:avLst/>
              <a:gdLst/>
              <a:ahLst/>
              <a:cxnLst/>
              <a:rect l="l" t="t" r="r" b="b"/>
              <a:pathLst>
                <a:path w="4814084" h="96399">
                  <a:moveTo>
                    <a:pt x="0" y="0"/>
                  </a:moveTo>
                  <a:lnTo>
                    <a:pt x="4814084" y="0"/>
                  </a:lnTo>
                  <a:lnTo>
                    <a:pt x="4814084" y="96399"/>
                  </a:lnTo>
                  <a:lnTo>
                    <a:pt x="0" y="96399"/>
                  </a:lnTo>
                  <a:close/>
                </a:path>
              </a:pathLst>
            </a:custGeom>
            <a:solidFill>
              <a:srgbClr val="897993"/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4084" cy="1344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-55288"/>
            <a:ext cx="3923736" cy="421303"/>
            <a:chOff x="0" y="0"/>
            <a:chExt cx="1033412" cy="11096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33412" cy="110961"/>
            </a:xfrm>
            <a:custGeom>
              <a:avLst/>
              <a:gdLst/>
              <a:ahLst/>
              <a:cxnLst/>
              <a:rect l="l" t="t" r="r" b="b"/>
              <a:pathLst>
                <a:path w="1033412" h="110961">
                  <a:moveTo>
                    <a:pt x="0" y="0"/>
                  </a:moveTo>
                  <a:lnTo>
                    <a:pt x="1033412" y="0"/>
                  </a:lnTo>
                  <a:lnTo>
                    <a:pt x="1033412" y="110961"/>
                  </a:lnTo>
                  <a:lnTo>
                    <a:pt x="0" y="110961"/>
                  </a:lnTo>
                  <a:close/>
                </a:path>
              </a:pathLst>
            </a:custGeom>
            <a:solidFill>
              <a:srgbClr val="B00B39"/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033412" cy="1490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5694945" y="-40855"/>
            <a:ext cx="3923736" cy="389959"/>
            <a:chOff x="0" y="0"/>
            <a:chExt cx="1033412" cy="102705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033412" cy="102705"/>
            </a:xfrm>
            <a:custGeom>
              <a:avLst/>
              <a:gdLst/>
              <a:ahLst/>
              <a:cxnLst/>
              <a:rect l="l" t="t" r="r" b="b"/>
              <a:pathLst>
                <a:path w="1033412" h="102705">
                  <a:moveTo>
                    <a:pt x="0" y="0"/>
                  </a:moveTo>
                  <a:lnTo>
                    <a:pt x="1033412" y="0"/>
                  </a:lnTo>
                  <a:lnTo>
                    <a:pt x="1033412" y="102705"/>
                  </a:lnTo>
                  <a:lnTo>
                    <a:pt x="0" y="102705"/>
                  </a:lnTo>
                  <a:close/>
                </a:path>
              </a:pathLst>
            </a:custGeom>
            <a:solidFill>
              <a:srgbClr val="B00B39">
                <a:alpha val="19608"/>
              </a:srgbClr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1033412" cy="1408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0" name="Freeform 20"/>
          <p:cNvSpPr/>
          <p:nvPr/>
        </p:nvSpPr>
        <p:spPr>
          <a:xfrm>
            <a:off x="9084825" y="2797362"/>
            <a:ext cx="8241150" cy="4378111"/>
          </a:xfrm>
          <a:custGeom>
            <a:avLst/>
            <a:gdLst/>
            <a:ahLst/>
            <a:cxnLst/>
            <a:rect l="l" t="t" r="r" b="b"/>
            <a:pathLst>
              <a:path w="8241150" h="4378111">
                <a:moveTo>
                  <a:pt x="0" y="0"/>
                </a:moveTo>
                <a:lnTo>
                  <a:pt x="8241150" y="0"/>
                </a:lnTo>
                <a:lnTo>
                  <a:pt x="8241150" y="4378111"/>
                </a:lnTo>
                <a:lnTo>
                  <a:pt x="0" y="43781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GR"/>
          </a:p>
        </p:txBody>
      </p:sp>
      <p:sp>
        <p:nvSpPr>
          <p:cNvPr id="26" name="TextBox 26"/>
          <p:cNvSpPr txBox="1"/>
          <p:nvPr/>
        </p:nvSpPr>
        <p:spPr>
          <a:xfrm>
            <a:off x="1146942" y="1217557"/>
            <a:ext cx="15436996" cy="573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619"/>
              </a:lnSpc>
              <a:spcBef>
                <a:spcPct val="0"/>
              </a:spcBef>
            </a:pPr>
            <a:r>
              <a:rPr lang="en-US" sz="3299" b="1" u="sng" dirty="0">
                <a:solidFill>
                  <a:srgbClr val="B00B39"/>
                </a:solidFill>
                <a:latin typeface="Cardo Bold"/>
                <a:ea typeface="Cardo Bold"/>
                <a:cs typeface="Cardo Bold"/>
                <a:sym typeface="Cardo Bold"/>
              </a:rPr>
              <a:t>DeepLabv3+: A Strong Baseline for Medical Image Segmentation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327352" y="7099273"/>
            <a:ext cx="7133585" cy="1473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056" i="1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Figure 5:  DeepLabv3+ architecture, Chen et al., Encoder-Decoder with Atrous Separable Convolution for Semantic Image Segmentation, ECCV 2018.</a:t>
            </a:r>
          </a:p>
          <a:p>
            <a:pPr algn="l">
              <a:lnSpc>
                <a:spcPts val="2879"/>
              </a:lnSpc>
              <a:spcBef>
                <a:spcPct val="0"/>
              </a:spcBef>
            </a:pPr>
            <a:endParaRPr lang="en-US" sz="2056" i="1">
              <a:solidFill>
                <a:srgbClr val="000000"/>
              </a:solidFill>
              <a:latin typeface="Calibri (MS) Italics"/>
              <a:ea typeface="Calibri (MS) Italics"/>
              <a:cs typeface="Calibri (MS) Italics"/>
              <a:sym typeface="Calibri (MS) Italics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1146942" y="3896986"/>
            <a:ext cx="8488966" cy="3663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41" lvl="1" indent="-280670">
              <a:lnSpc>
                <a:spcPts val="3640"/>
              </a:lnSpc>
              <a:spcBef>
                <a:spcPct val="0"/>
              </a:spcBef>
              <a:buFont typeface="Arial"/>
              <a:buChar char="•"/>
            </a:pPr>
            <a:r>
              <a:rPr lang="en-US" sz="26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Used in natural &amp; medical image segmentation tasks</a:t>
            </a:r>
          </a:p>
          <a:p>
            <a:pPr marL="561341" lvl="1" indent="-280670">
              <a:lnSpc>
                <a:spcPts val="3640"/>
              </a:lnSpc>
              <a:spcBef>
                <a:spcPct val="0"/>
              </a:spcBef>
              <a:buFont typeface="Arial"/>
              <a:buChar char="•"/>
            </a:pPr>
            <a:r>
              <a:rPr lang="en-US" sz="26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Combines local details + global context </a:t>
            </a:r>
            <a:endParaRPr lang="en-US" sz="2600" u="none" strike="noStrike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561341" lvl="1" indent="-280670" algn="l">
              <a:lnSpc>
                <a:spcPts val="3640"/>
              </a:lnSpc>
              <a:spcBef>
                <a:spcPct val="0"/>
              </a:spcBef>
              <a:buFont typeface="Arial"/>
              <a:buChar char="•"/>
            </a:pPr>
            <a:r>
              <a:rPr lang="en-US" sz="2600" u="none" strike="noStrik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Uses </a:t>
            </a:r>
            <a:r>
              <a:rPr lang="en-US" sz="2600" u="none" strike="noStrik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Atrous</a:t>
            </a:r>
            <a:r>
              <a:rPr lang="en-US" sz="2600" u="none" strike="noStrik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Spatial Pyramid Pooling (ASPP) to capture multi-scale features</a:t>
            </a:r>
          </a:p>
          <a:p>
            <a:pPr marL="561341" lvl="1" indent="-280670">
              <a:lnSpc>
                <a:spcPts val="3640"/>
              </a:lnSpc>
              <a:spcBef>
                <a:spcPct val="0"/>
              </a:spcBef>
              <a:buFont typeface="Arial"/>
              <a:buChar char="•"/>
            </a:pPr>
            <a:r>
              <a:rPr lang="en-GB" sz="2600" dirty="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Computationally efficient for WSIs</a:t>
            </a:r>
            <a:endParaRPr lang="en-US" sz="260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561341" lvl="1" indent="-280670" algn="l">
              <a:lnSpc>
                <a:spcPts val="3640"/>
              </a:lnSpc>
              <a:spcBef>
                <a:spcPct val="0"/>
              </a:spcBef>
              <a:buFont typeface="Arial"/>
              <a:buChar char="•"/>
            </a:pPr>
            <a:r>
              <a:rPr lang="en-US" sz="2600" u="none" strike="noStrik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Strong baseline decoder for transformer-based encoders (e.g., </a:t>
            </a:r>
            <a:r>
              <a:rPr lang="en-US" sz="2600" u="none" strike="noStrik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ViT</a:t>
            </a:r>
            <a:r>
              <a:rPr lang="en-US" sz="2600" u="none" strike="noStrik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)</a:t>
            </a:r>
          </a:p>
        </p:txBody>
      </p:sp>
      <p:grpSp>
        <p:nvGrpSpPr>
          <p:cNvPr id="29" name="Group 2">
            <a:extLst>
              <a:ext uri="{FF2B5EF4-FFF2-40B4-BE49-F238E27FC236}">
                <a16:creationId xmlns:a16="http://schemas.microsoft.com/office/drawing/2014/main" id="{D159FC98-36E8-C96A-9D62-8CC575169983}"/>
              </a:ext>
            </a:extLst>
          </p:cNvPr>
          <p:cNvGrpSpPr/>
          <p:nvPr/>
        </p:nvGrpSpPr>
        <p:grpSpPr>
          <a:xfrm>
            <a:off x="0" y="0"/>
            <a:ext cx="18278475" cy="366016"/>
            <a:chOff x="0" y="0"/>
            <a:chExt cx="4814084" cy="96399"/>
          </a:xfrm>
        </p:grpSpPr>
        <p:sp>
          <p:nvSpPr>
            <p:cNvPr id="30" name="Freeform 3">
              <a:extLst>
                <a:ext uri="{FF2B5EF4-FFF2-40B4-BE49-F238E27FC236}">
                  <a16:creationId xmlns:a16="http://schemas.microsoft.com/office/drawing/2014/main" id="{1C8261DA-E69A-D88D-18DA-85193FDAF7E4}"/>
                </a:ext>
              </a:extLst>
            </p:cNvPr>
            <p:cNvSpPr/>
            <p:nvPr/>
          </p:nvSpPr>
          <p:spPr>
            <a:xfrm>
              <a:off x="0" y="0"/>
              <a:ext cx="4814084" cy="96399"/>
            </a:xfrm>
            <a:custGeom>
              <a:avLst/>
              <a:gdLst/>
              <a:ahLst/>
              <a:cxnLst/>
              <a:rect l="l" t="t" r="r" b="b"/>
              <a:pathLst>
                <a:path w="4814084" h="96399">
                  <a:moveTo>
                    <a:pt x="0" y="0"/>
                  </a:moveTo>
                  <a:lnTo>
                    <a:pt x="4814084" y="0"/>
                  </a:lnTo>
                  <a:lnTo>
                    <a:pt x="4814084" y="96399"/>
                  </a:lnTo>
                  <a:lnTo>
                    <a:pt x="0" y="96399"/>
                  </a:lnTo>
                  <a:close/>
                </a:path>
              </a:pathLst>
            </a:custGeom>
            <a:solidFill>
              <a:srgbClr val="897993"/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31" name="TextBox 4">
              <a:extLst>
                <a:ext uri="{FF2B5EF4-FFF2-40B4-BE49-F238E27FC236}">
                  <a16:creationId xmlns:a16="http://schemas.microsoft.com/office/drawing/2014/main" id="{A426154E-3471-0CB9-E8E9-E87911E75E4B}"/>
                </a:ext>
              </a:extLst>
            </p:cNvPr>
            <p:cNvSpPr txBox="1"/>
            <p:nvPr/>
          </p:nvSpPr>
          <p:spPr>
            <a:xfrm>
              <a:off x="0" y="-38100"/>
              <a:ext cx="4814084" cy="1344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2" name="Group 5">
            <a:extLst>
              <a:ext uri="{FF2B5EF4-FFF2-40B4-BE49-F238E27FC236}">
                <a16:creationId xmlns:a16="http://schemas.microsoft.com/office/drawing/2014/main" id="{43939EF5-B79F-4B86-7E2F-DD701A83DA58}"/>
              </a:ext>
            </a:extLst>
          </p:cNvPr>
          <p:cNvGrpSpPr/>
          <p:nvPr/>
        </p:nvGrpSpPr>
        <p:grpSpPr>
          <a:xfrm>
            <a:off x="0" y="-55288"/>
            <a:ext cx="3923736" cy="421303"/>
            <a:chOff x="0" y="0"/>
            <a:chExt cx="1033412" cy="110961"/>
          </a:xfrm>
        </p:grpSpPr>
        <p:sp>
          <p:nvSpPr>
            <p:cNvPr id="33" name="Freeform 6">
              <a:extLst>
                <a:ext uri="{FF2B5EF4-FFF2-40B4-BE49-F238E27FC236}">
                  <a16:creationId xmlns:a16="http://schemas.microsoft.com/office/drawing/2014/main" id="{511CC76E-3543-0646-5F8D-A08DF204ABF8}"/>
                </a:ext>
              </a:extLst>
            </p:cNvPr>
            <p:cNvSpPr/>
            <p:nvPr/>
          </p:nvSpPr>
          <p:spPr>
            <a:xfrm>
              <a:off x="0" y="0"/>
              <a:ext cx="1033412" cy="110961"/>
            </a:xfrm>
            <a:custGeom>
              <a:avLst/>
              <a:gdLst/>
              <a:ahLst/>
              <a:cxnLst/>
              <a:rect l="l" t="t" r="r" b="b"/>
              <a:pathLst>
                <a:path w="1033412" h="110961">
                  <a:moveTo>
                    <a:pt x="0" y="0"/>
                  </a:moveTo>
                  <a:lnTo>
                    <a:pt x="1033412" y="0"/>
                  </a:lnTo>
                  <a:lnTo>
                    <a:pt x="1033412" y="110961"/>
                  </a:lnTo>
                  <a:lnTo>
                    <a:pt x="0" y="110961"/>
                  </a:lnTo>
                  <a:close/>
                </a:path>
              </a:pathLst>
            </a:custGeom>
            <a:solidFill>
              <a:srgbClr val="B00B39"/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34" name="TextBox 7">
              <a:extLst>
                <a:ext uri="{FF2B5EF4-FFF2-40B4-BE49-F238E27FC236}">
                  <a16:creationId xmlns:a16="http://schemas.microsoft.com/office/drawing/2014/main" id="{62898E09-BB41-CB67-C599-0DFBE62D8541}"/>
                </a:ext>
              </a:extLst>
            </p:cNvPr>
            <p:cNvSpPr txBox="1"/>
            <p:nvPr/>
          </p:nvSpPr>
          <p:spPr>
            <a:xfrm>
              <a:off x="0" y="-38100"/>
              <a:ext cx="1033412" cy="1490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5" name="Group 8">
            <a:extLst>
              <a:ext uri="{FF2B5EF4-FFF2-40B4-BE49-F238E27FC236}">
                <a16:creationId xmlns:a16="http://schemas.microsoft.com/office/drawing/2014/main" id="{406D1FA5-20F8-6327-78E1-935DF674AA83}"/>
              </a:ext>
            </a:extLst>
          </p:cNvPr>
          <p:cNvGrpSpPr/>
          <p:nvPr/>
        </p:nvGrpSpPr>
        <p:grpSpPr>
          <a:xfrm>
            <a:off x="3923736" y="-23943"/>
            <a:ext cx="3923736" cy="389959"/>
            <a:chOff x="0" y="0"/>
            <a:chExt cx="1033412" cy="102705"/>
          </a:xfrm>
        </p:grpSpPr>
        <p:sp>
          <p:nvSpPr>
            <p:cNvPr id="36" name="Freeform 9">
              <a:extLst>
                <a:ext uri="{FF2B5EF4-FFF2-40B4-BE49-F238E27FC236}">
                  <a16:creationId xmlns:a16="http://schemas.microsoft.com/office/drawing/2014/main" id="{28FB4E9A-3B1F-0DB1-065D-CF18BDBD5C98}"/>
                </a:ext>
              </a:extLst>
            </p:cNvPr>
            <p:cNvSpPr/>
            <p:nvPr/>
          </p:nvSpPr>
          <p:spPr>
            <a:xfrm>
              <a:off x="0" y="0"/>
              <a:ext cx="1033412" cy="102705"/>
            </a:xfrm>
            <a:custGeom>
              <a:avLst/>
              <a:gdLst/>
              <a:ahLst/>
              <a:cxnLst/>
              <a:rect l="l" t="t" r="r" b="b"/>
              <a:pathLst>
                <a:path w="1033412" h="102705">
                  <a:moveTo>
                    <a:pt x="0" y="0"/>
                  </a:moveTo>
                  <a:lnTo>
                    <a:pt x="1033412" y="0"/>
                  </a:lnTo>
                  <a:lnTo>
                    <a:pt x="1033412" y="102705"/>
                  </a:lnTo>
                  <a:lnTo>
                    <a:pt x="0" y="102705"/>
                  </a:lnTo>
                  <a:close/>
                </a:path>
              </a:pathLst>
            </a:custGeom>
            <a:solidFill>
              <a:srgbClr val="B00B39">
                <a:alpha val="19608"/>
              </a:srgbClr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37" name="TextBox 10">
              <a:extLst>
                <a:ext uri="{FF2B5EF4-FFF2-40B4-BE49-F238E27FC236}">
                  <a16:creationId xmlns:a16="http://schemas.microsoft.com/office/drawing/2014/main" id="{B2421A99-EA42-0441-539F-512708224206}"/>
                </a:ext>
              </a:extLst>
            </p:cNvPr>
            <p:cNvSpPr txBox="1"/>
            <p:nvPr/>
          </p:nvSpPr>
          <p:spPr>
            <a:xfrm>
              <a:off x="0" y="-38100"/>
              <a:ext cx="1033412" cy="1408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8" name="Group 11">
            <a:extLst>
              <a:ext uri="{FF2B5EF4-FFF2-40B4-BE49-F238E27FC236}">
                <a16:creationId xmlns:a16="http://schemas.microsoft.com/office/drawing/2014/main" id="{9ADE9F66-F39A-8C3B-542C-1F96130FACAA}"/>
              </a:ext>
            </a:extLst>
          </p:cNvPr>
          <p:cNvGrpSpPr/>
          <p:nvPr/>
        </p:nvGrpSpPr>
        <p:grpSpPr>
          <a:xfrm>
            <a:off x="7847472" y="-101928"/>
            <a:ext cx="3923736" cy="467944"/>
            <a:chOff x="0" y="0"/>
            <a:chExt cx="1033412" cy="123245"/>
          </a:xfrm>
        </p:grpSpPr>
        <p:sp>
          <p:nvSpPr>
            <p:cNvPr id="39" name="Freeform 12">
              <a:extLst>
                <a:ext uri="{FF2B5EF4-FFF2-40B4-BE49-F238E27FC236}">
                  <a16:creationId xmlns:a16="http://schemas.microsoft.com/office/drawing/2014/main" id="{FAF2D5FF-CAB0-1F0B-B3F8-E2A045D9F495}"/>
                </a:ext>
              </a:extLst>
            </p:cNvPr>
            <p:cNvSpPr/>
            <p:nvPr/>
          </p:nvSpPr>
          <p:spPr>
            <a:xfrm>
              <a:off x="0" y="0"/>
              <a:ext cx="1033412" cy="123245"/>
            </a:xfrm>
            <a:custGeom>
              <a:avLst/>
              <a:gdLst/>
              <a:ahLst/>
              <a:cxnLst/>
              <a:rect l="l" t="t" r="r" b="b"/>
              <a:pathLst>
                <a:path w="1033412" h="123245">
                  <a:moveTo>
                    <a:pt x="0" y="0"/>
                  </a:moveTo>
                  <a:lnTo>
                    <a:pt x="1033412" y="0"/>
                  </a:lnTo>
                  <a:lnTo>
                    <a:pt x="1033412" y="123245"/>
                  </a:lnTo>
                  <a:lnTo>
                    <a:pt x="0" y="123245"/>
                  </a:lnTo>
                  <a:close/>
                </a:path>
              </a:pathLst>
            </a:custGeom>
            <a:solidFill>
              <a:srgbClr val="B00B39">
                <a:alpha val="19608"/>
              </a:srgbClr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40" name="TextBox 13">
              <a:extLst>
                <a:ext uri="{FF2B5EF4-FFF2-40B4-BE49-F238E27FC236}">
                  <a16:creationId xmlns:a16="http://schemas.microsoft.com/office/drawing/2014/main" id="{42F0D6C7-3351-1ED9-CEB6-BF8E38653774}"/>
                </a:ext>
              </a:extLst>
            </p:cNvPr>
            <p:cNvSpPr txBox="1"/>
            <p:nvPr/>
          </p:nvSpPr>
          <p:spPr>
            <a:xfrm>
              <a:off x="0" y="-38100"/>
              <a:ext cx="1033412" cy="1613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41" name="Group 14">
            <a:extLst>
              <a:ext uri="{FF2B5EF4-FFF2-40B4-BE49-F238E27FC236}">
                <a16:creationId xmlns:a16="http://schemas.microsoft.com/office/drawing/2014/main" id="{9DF8DEC1-8B2A-B71C-AFC1-5641C666ED72}"/>
              </a:ext>
            </a:extLst>
          </p:cNvPr>
          <p:cNvGrpSpPr/>
          <p:nvPr/>
        </p:nvGrpSpPr>
        <p:grpSpPr>
          <a:xfrm>
            <a:off x="11771209" y="-23943"/>
            <a:ext cx="3923736" cy="389959"/>
            <a:chOff x="0" y="0"/>
            <a:chExt cx="1033412" cy="102705"/>
          </a:xfrm>
        </p:grpSpPr>
        <p:sp>
          <p:nvSpPr>
            <p:cNvPr id="42" name="Freeform 15">
              <a:extLst>
                <a:ext uri="{FF2B5EF4-FFF2-40B4-BE49-F238E27FC236}">
                  <a16:creationId xmlns:a16="http://schemas.microsoft.com/office/drawing/2014/main" id="{E87E07D7-DDF9-2B8B-9FCB-0B8B3B3E66C4}"/>
                </a:ext>
              </a:extLst>
            </p:cNvPr>
            <p:cNvSpPr/>
            <p:nvPr/>
          </p:nvSpPr>
          <p:spPr>
            <a:xfrm>
              <a:off x="0" y="0"/>
              <a:ext cx="1033412" cy="102705"/>
            </a:xfrm>
            <a:custGeom>
              <a:avLst/>
              <a:gdLst/>
              <a:ahLst/>
              <a:cxnLst/>
              <a:rect l="l" t="t" r="r" b="b"/>
              <a:pathLst>
                <a:path w="1033412" h="102705">
                  <a:moveTo>
                    <a:pt x="0" y="0"/>
                  </a:moveTo>
                  <a:lnTo>
                    <a:pt x="1033412" y="0"/>
                  </a:lnTo>
                  <a:lnTo>
                    <a:pt x="1033412" y="102705"/>
                  </a:lnTo>
                  <a:lnTo>
                    <a:pt x="0" y="102705"/>
                  </a:lnTo>
                  <a:close/>
                </a:path>
              </a:pathLst>
            </a:custGeom>
            <a:solidFill>
              <a:srgbClr val="B00B39">
                <a:alpha val="19608"/>
              </a:srgbClr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43" name="TextBox 16">
              <a:extLst>
                <a:ext uri="{FF2B5EF4-FFF2-40B4-BE49-F238E27FC236}">
                  <a16:creationId xmlns:a16="http://schemas.microsoft.com/office/drawing/2014/main" id="{6EF8DEC3-2EF3-62B3-CAB0-101F9E39F16A}"/>
                </a:ext>
              </a:extLst>
            </p:cNvPr>
            <p:cNvSpPr txBox="1"/>
            <p:nvPr/>
          </p:nvSpPr>
          <p:spPr>
            <a:xfrm>
              <a:off x="0" y="-38100"/>
              <a:ext cx="1033412" cy="1408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44" name="TextBox 21">
            <a:extLst>
              <a:ext uri="{FF2B5EF4-FFF2-40B4-BE49-F238E27FC236}">
                <a16:creationId xmlns:a16="http://schemas.microsoft.com/office/drawing/2014/main" id="{58D6C447-0606-B048-C696-8C64443C273A}"/>
              </a:ext>
            </a:extLst>
          </p:cNvPr>
          <p:cNvSpPr txBox="1"/>
          <p:nvPr/>
        </p:nvSpPr>
        <p:spPr>
          <a:xfrm>
            <a:off x="1146942" y="-12075"/>
            <a:ext cx="1629853" cy="3242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32"/>
              </a:lnSpc>
            </a:pPr>
            <a:r>
              <a:rPr lang="en-US" sz="1951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Introduction </a:t>
            </a:r>
          </a:p>
        </p:txBody>
      </p:sp>
      <p:sp>
        <p:nvSpPr>
          <p:cNvPr id="45" name="TextBox 22">
            <a:extLst>
              <a:ext uri="{FF2B5EF4-FFF2-40B4-BE49-F238E27FC236}">
                <a16:creationId xmlns:a16="http://schemas.microsoft.com/office/drawing/2014/main" id="{8AFDD457-CF9C-359A-B91D-DDDF1316B631}"/>
              </a:ext>
            </a:extLst>
          </p:cNvPr>
          <p:cNvSpPr txBox="1"/>
          <p:nvPr/>
        </p:nvSpPr>
        <p:spPr>
          <a:xfrm>
            <a:off x="5073241" y="-12074"/>
            <a:ext cx="1941238" cy="3242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32"/>
              </a:lnSpc>
            </a:pPr>
            <a:r>
              <a:rPr lang="en-US" sz="1951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Methodology</a:t>
            </a:r>
          </a:p>
        </p:txBody>
      </p:sp>
      <p:sp>
        <p:nvSpPr>
          <p:cNvPr id="46" name="TextBox 23">
            <a:extLst>
              <a:ext uri="{FF2B5EF4-FFF2-40B4-BE49-F238E27FC236}">
                <a16:creationId xmlns:a16="http://schemas.microsoft.com/office/drawing/2014/main" id="{36A88425-388D-AB1C-8B97-28F2E366EC08}"/>
              </a:ext>
            </a:extLst>
          </p:cNvPr>
          <p:cNvSpPr txBox="1"/>
          <p:nvPr/>
        </p:nvSpPr>
        <p:spPr>
          <a:xfrm>
            <a:off x="9358004" y="-24047"/>
            <a:ext cx="1699738" cy="3242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32"/>
              </a:lnSpc>
            </a:pPr>
            <a:r>
              <a:rPr lang="en-US" sz="1951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Results</a:t>
            </a:r>
          </a:p>
        </p:txBody>
      </p:sp>
      <p:sp>
        <p:nvSpPr>
          <p:cNvPr id="47" name="TextBox 24">
            <a:extLst>
              <a:ext uri="{FF2B5EF4-FFF2-40B4-BE49-F238E27FC236}">
                <a16:creationId xmlns:a16="http://schemas.microsoft.com/office/drawing/2014/main" id="{EA9A6B1D-FB48-4DA8-1C9A-81AD72C85C12}"/>
              </a:ext>
            </a:extLst>
          </p:cNvPr>
          <p:cNvSpPr txBox="1"/>
          <p:nvPr/>
        </p:nvSpPr>
        <p:spPr>
          <a:xfrm>
            <a:off x="12604201" y="-12075"/>
            <a:ext cx="2576228" cy="3242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32"/>
              </a:lnSpc>
            </a:pPr>
            <a:r>
              <a:rPr lang="en-US" sz="1951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Critical Discussion</a:t>
            </a:r>
          </a:p>
        </p:txBody>
      </p:sp>
      <p:sp>
        <p:nvSpPr>
          <p:cNvPr id="48" name="TextBox 25">
            <a:extLst>
              <a:ext uri="{FF2B5EF4-FFF2-40B4-BE49-F238E27FC236}">
                <a16:creationId xmlns:a16="http://schemas.microsoft.com/office/drawing/2014/main" id="{5938A887-7D98-EB87-2A26-45E6D5866F98}"/>
              </a:ext>
            </a:extLst>
          </p:cNvPr>
          <p:cNvSpPr txBox="1"/>
          <p:nvPr/>
        </p:nvSpPr>
        <p:spPr>
          <a:xfrm>
            <a:off x="16408410" y="-24047"/>
            <a:ext cx="1574789" cy="3242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32"/>
              </a:lnSpc>
            </a:pPr>
            <a:r>
              <a:rPr lang="en-US" sz="1951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Conclusion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78475" cy="366016"/>
            <a:chOff x="0" y="0"/>
            <a:chExt cx="4814084" cy="9639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4084" cy="96399"/>
            </a:xfrm>
            <a:custGeom>
              <a:avLst/>
              <a:gdLst/>
              <a:ahLst/>
              <a:cxnLst/>
              <a:rect l="l" t="t" r="r" b="b"/>
              <a:pathLst>
                <a:path w="4814084" h="96399">
                  <a:moveTo>
                    <a:pt x="0" y="0"/>
                  </a:moveTo>
                  <a:lnTo>
                    <a:pt x="4814084" y="0"/>
                  </a:lnTo>
                  <a:lnTo>
                    <a:pt x="4814084" y="96399"/>
                  </a:lnTo>
                  <a:lnTo>
                    <a:pt x="0" y="96399"/>
                  </a:lnTo>
                  <a:close/>
                </a:path>
              </a:pathLst>
            </a:custGeom>
            <a:solidFill>
              <a:srgbClr val="897993"/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4084" cy="1344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-55288"/>
            <a:ext cx="3923736" cy="421303"/>
            <a:chOff x="0" y="0"/>
            <a:chExt cx="1033412" cy="11096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33412" cy="110961"/>
            </a:xfrm>
            <a:custGeom>
              <a:avLst/>
              <a:gdLst/>
              <a:ahLst/>
              <a:cxnLst/>
              <a:rect l="l" t="t" r="r" b="b"/>
              <a:pathLst>
                <a:path w="1033412" h="110961">
                  <a:moveTo>
                    <a:pt x="0" y="0"/>
                  </a:moveTo>
                  <a:lnTo>
                    <a:pt x="1033412" y="0"/>
                  </a:lnTo>
                  <a:lnTo>
                    <a:pt x="1033412" y="110961"/>
                  </a:lnTo>
                  <a:lnTo>
                    <a:pt x="0" y="110961"/>
                  </a:lnTo>
                  <a:close/>
                </a:path>
              </a:pathLst>
            </a:custGeom>
            <a:solidFill>
              <a:srgbClr val="B00B39">
                <a:alpha val="19608"/>
              </a:srgbClr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033412" cy="1490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923736" y="-23943"/>
            <a:ext cx="3923736" cy="389959"/>
            <a:chOff x="0" y="0"/>
            <a:chExt cx="1033412" cy="10270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33412" cy="102705"/>
            </a:xfrm>
            <a:custGeom>
              <a:avLst/>
              <a:gdLst/>
              <a:ahLst/>
              <a:cxnLst/>
              <a:rect l="l" t="t" r="r" b="b"/>
              <a:pathLst>
                <a:path w="1033412" h="102705">
                  <a:moveTo>
                    <a:pt x="0" y="0"/>
                  </a:moveTo>
                  <a:lnTo>
                    <a:pt x="1033412" y="0"/>
                  </a:lnTo>
                  <a:lnTo>
                    <a:pt x="1033412" y="102705"/>
                  </a:lnTo>
                  <a:lnTo>
                    <a:pt x="0" y="102705"/>
                  </a:lnTo>
                  <a:close/>
                </a:path>
              </a:pathLst>
            </a:custGeom>
            <a:solidFill>
              <a:srgbClr val="B00B39"/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033412" cy="1408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847472" y="-101928"/>
            <a:ext cx="3923736" cy="467944"/>
            <a:chOff x="0" y="0"/>
            <a:chExt cx="1033412" cy="12324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33412" cy="123245"/>
            </a:xfrm>
            <a:custGeom>
              <a:avLst/>
              <a:gdLst/>
              <a:ahLst/>
              <a:cxnLst/>
              <a:rect l="l" t="t" r="r" b="b"/>
              <a:pathLst>
                <a:path w="1033412" h="123245">
                  <a:moveTo>
                    <a:pt x="0" y="0"/>
                  </a:moveTo>
                  <a:lnTo>
                    <a:pt x="1033412" y="0"/>
                  </a:lnTo>
                  <a:lnTo>
                    <a:pt x="1033412" y="123245"/>
                  </a:lnTo>
                  <a:lnTo>
                    <a:pt x="0" y="123245"/>
                  </a:lnTo>
                  <a:close/>
                </a:path>
              </a:pathLst>
            </a:custGeom>
            <a:solidFill>
              <a:srgbClr val="B00B39">
                <a:alpha val="19608"/>
              </a:srgbClr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033412" cy="1613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1771209" y="-23943"/>
            <a:ext cx="3923736" cy="389959"/>
            <a:chOff x="0" y="0"/>
            <a:chExt cx="1033412" cy="10270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33412" cy="102705"/>
            </a:xfrm>
            <a:custGeom>
              <a:avLst/>
              <a:gdLst/>
              <a:ahLst/>
              <a:cxnLst/>
              <a:rect l="l" t="t" r="r" b="b"/>
              <a:pathLst>
                <a:path w="1033412" h="102705">
                  <a:moveTo>
                    <a:pt x="0" y="0"/>
                  </a:moveTo>
                  <a:lnTo>
                    <a:pt x="1033412" y="0"/>
                  </a:lnTo>
                  <a:lnTo>
                    <a:pt x="1033412" y="102705"/>
                  </a:lnTo>
                  <a:lnTo>
                    <a:pt x="0" y="102705"/>
                  </a:lnTo>
                  <a:close/>
                </a:path>
              </a:pathLst>
            </a:custGeom>
            <a:solidFill>
              <a:srgbClr val="B00B39">
                <a:alpha val="19608"/>
              </a:srgbClr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1033412" cy="1408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5694945" y="-40855"/>
            <a:ext cx="3923736" cy="389959"/>
            <a:chOff x="0" y="0"/>
            <a:chExt cx="1033412" cy="102705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033412" cy="102705"/>
            </a:xfrm>
            <a:custGeom>
              <a:avLst/>
              <a:gdLst/>
              <a:ahLst/>
              <a:cxnLst/>
              <a:rect l="l" t="t" r="r" b="b"/>
              <a:pathLst>
                <a:path w="1033412" h="102705">
                  <a:moveTo>
                    <a:pt x="0" y="0"/>
                  </a:moveTo>
                  <a:lnTo>
                    <a:pt x="1033412" y="0"/>
                  </a:lnTo>
                  <a:lnTo>
                    <a:pt x="1033412" y="102705"/>
                  </a:lnTo>
                  <a:lnTo>
                    <a:pt x="0" y="102705"/>
                  </a:lnTo>
                  <a:close/>
                </a:path>
              </a:pathLst>
            </a:custGeom>
            <a:solidFill>
              <a:srgbClr val="B00B39">
                <a:alpha val="19608"/>
              </a:srgbClr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1033412" cy="1408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0" name="Freeform 20"/>
          <p:cNvSpPr/>
          <p:nvPr/>
        </p:nvSpPr>
        <p:spPr>
          <a:xfrm>
            <a:off x="10398296" y="1748768"/>
            <a:ext cx="6998623" cy="6972378"/>
          </a:xfrm>
          <a:custGeom>
            <a:avLst/>
            <a:gdLst/>
            <a:ahLst/>
            <a:cxnLst/>
            <a:rect l="l" t="t" r="r" b="b"/>
            <a:pathLst>
              <a:path w="6998623" h="6972378">
                <a:moveTo>
                  <a:pt x="0" y="0"/>
                </a:moveTo>
                <a:lnTo>
                  <a:pt x="6998623" y="0"/>
                </a:lnTo>
                <a:lnTo>
                  <a:pt x="6998623" y="6972378"/>
                </a:lnTo>
                <a:lnTo>
                  <a:pt x="0" y="69723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GR"/>
          </a:p>
        </p:txBody>
      </p:sp>
      <p:sp>
        <p:nvSpPr>
          <p:cNvPr id="21" name="Freeform 21"/>
          <p:cNvSpPr/>
          <p:nvPr/>
        </p:nvSpPr>
        <p:spPr>
          <a:xfrm>
            <a:off x="1028700" y="3908911"/>
            <a:ext cx="9113735" cy="2996140"/>
          </a:xfrm>
          <a:custGeom>
            <a:avLst/>
            <a:gdLst/>
            <a:ahLst/>
            <a:cxnLst/>
            <a:rect l="l" t="t" r="r" b="b"/>
            <a:pathLst>
              <a:path w="9113735" h="2996140">
                <a:moveTo>
                  <a:pt x="0" y="0"/>
                </a:moveTo>
                <a:lnTo>
                  <a:pt x="9113735" y="0"/>
                </a:lnTo>
                <a:lnTo>
                  <a:pt x="9113735" y="2996140"/>
                </a:lnTo>
                <a:lnTo>
                  <a:pt x="0" y="29961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GR"/>
          </a:p>
        </p:txBody>
      </p:sp>
      <p:sp>
        <p:nvSpPr>
          <p:cNvPr id="22" name="TextBox 22"/>
          <p:cNvSpPr txBox="1"/>
          <p:nvPr/>
        </p:nvSpPr>
        <p:spPr>
          <a:xfrm>
            <a:off x="1146942" y="-12075"/>
            <a:ext cx="1629853" cy="342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2"/>
              </a:lnSpc>
            </a:pPr>
            <a:r>
              <a:rPr lang="en-US" sz="1951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Introduction 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073241" y="-12075"/>
            <a:ext cx="1941238" cy="3305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32"/>
              </a:lnSpc>
            </a:pPr>
            <a:r>
              <a:rPr lang="en-US" sz="1951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Methodology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358004" y="-24047"/>
            <a:ext cx="1082526" cy="3242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32"/>
              </a:lnSpc>
            </a:pPr>
            <a:r>
              <a:rPr lang="en-US" sz="1951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Results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2604201" y="-12075"/>
            <a:ext cx="2788199" cy="3242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32"/>
              </a:lnSpc>
            </a:pPr>
            <a:r>
              <a:rPr lang="en-US" sz="1951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Critical Discussion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6408410" y="-24047"/>
            <a:ext cx="1498589" cy="3242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32"/>
              </a:lnSpc>
            </a:pPr>
            <a:r>
              <a:rPr lang="en-US" sz="1951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Conclusion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28700" y="952500"/>
            <a:ext cx="15436996" cy="573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19"/>
              </a:lnSpc>
              <a:spcBef>
                <a:spcPct val="0"/>
              </a:spcBef>
            </a:pPr>
            <a:r>
              <a:rPr lang="en-US" sz="3299" b="1" u="sng">
                <a:solidFill>
                  <a:srgbClr val="B00B39"/>
                </a:solidFill>
                <a:latin typeface="Cardo Bold"/>
                <a:ea typeface="Cardo Bold"/>
                <a:cs typeface="Cardo Bold"/>
                <a:sym typeface="Cardo Bold"/>
              </a:rPr>
              <a:t>Dataset: COSAS 2024 Challenge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78475" cy="366016"/>
            <a:chOff x="0" y="0"/>
            <a:chExt cx="4814084" cy="9639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4084" cy="96399"/>
            </a:xfrm>
            <a:custGeom>
              <a:avLst/>
              <a:gdLst/>
              <a:ahLst/>
              <a:cxnLst/>
              <a:rect l="l" t="t" r="r" b="b"/>
              <a:pathLst>
                <a:path w="4814084" h="96399">
                  <a:moveTo>
                    <a:pt x="0" y="0"/>
                  </a:moveTo>
                  <a:lnTo>
                    <a:pt x="4814084" y="0"/>
                  </a:lnTo>
                  <a:lnTo>
                    <a:pt x="4814084" y="96399"/>
                  </a:lnTo>
                  <a:lnTo>
                    <a:pt x="0" y="96399"/>
                  </a:lnTo>
                  <a:close/>
                </a:path>
              </a:pathLst>
            </a:custGeom>
            <a:solidFill>
              <a:srgbClr val="897993"/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4084" cy="1344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-55288"/>
            <a:ext cx="3923736" cy="421303"/>
            <a:chOff x="0" y="0"/>
            <a:chExt cx="1033412" cy="11096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33412" cy="110961"/>
            </a:xfrm>
            <a:custGeom>
              <a:avLst/>
              <a:gdLst/>
              <a:ahLst/>
              <a:cxnLst/>
              <a:rect l="l" t="t" r="r" b="b"/>
              <a:pathLst>
                <a:path w="1033412" h="110961">
                  <a:moveTo>
                    <a:pt x="0" y="0"/>
                  </a:moveTo>
                  <a:lnTo>
                    <a:pt x="1033412" y="0"/>
                  </a:lnTo>
                  <a:lnTo>
                    <a:pt x="1033412" y="110961"/>
                  </a:lnTo>
                  <a:lnTo>
                    <a:pt x="0" y="110961"/>
                  </a:lnTo>
                  <a:close/>
                </a:path>
              </a:pathLst>
            </a:custGeom>
            <a:solidFill>
              <a:srgbClr val="B00B39">
                <a:alpha val="19608"/>
              </a:srgbClr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033412" cy="1490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5694945" y="-40855"/>
            <a:ext cx="3923736" cy="389959"/>
            <a:chOff x="0" y="0"/>
            <a:chExt cx="1033412" cy="102705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033412" cy="102705"/>
            </a:xfrm>
            <a:custGeom>
              <a:avLst/>
              <a:gdLst/>
              <a:ahLst/>
              <a:cxnLst/>
              <a:rect l="l" t="t" r="r" b="b"/>
              <a:pathLst>
                <a:path w="1033412" h="102705">
                  <a:moveTo>
                    <a:pt x="0" y="0"/>
                  </a:moveTo>
                  <a:lnTo>
                    <a:pt x="1033412" y="0"/>
                  </a:lnTo>
                  <a:lnTo>
                    <a:pt x="1033412" y="102705"/>
                  </a:lnTo>
                  <a:lnTo>
                    <a:pt x="0" y="102705"/>
                  </a:lnTo>
                  <a:close/>
                </a:path>
              </a:pathLst>
            </a:custGeom>
            <a:solidFill>
              <a:srgbClr val="B00B39">
                <a:alpha val="19608"/>
              </a:srgbClr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1033412" cy="1408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0" name="Freeform 20"/>
          <p:cNvSpPr/>
          <p:nvPr/>
        </p:nvSpPr>
        <p:spPr>
          <a:xfrm>
            <a:off x="1015055" y="3418086"/>
            <a:ext cx="11067982" cy="3953139"/>
          </a:xfrm>
          <a:custGeom>
            <a:avLst/>
            <a:gdLst/>
            <a:ahLst/>
            <a:cxnLst/>
            <a:rect l="l" t="t" r="r" b="b"/>
            <a:pathLst>
              <a:path w="11067982" h="5824526">
                <a:moveTo>
                  <a:pt x="0" y="0"/>
                </a:moveTo>
                <a:lnTo>
                  <a:pt x="11067982" y="0"/>
                </a:lnTo>
                <a:lnTo>
                  <a:pt x="11067982" y="5824525"/>
                </a:lnTo>
                <a:lnTo>
                  <a:pt x="0" y="58245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971" b="-45368"/>
            </a:stretch>
          </a:blipFill>
        </p:spPr>
        <p:txBody>
          <a:bodyPr/>
          <a:lstStyle/>
          <a:p>
            <a:endParaRPr lang="en-GR"/>
          </a:p>
        </p:txBody>
      </p:sp>
      <p:sp>
        <p:nvSpPr>
          <p:cNvPr id="21" name="Freeform 21"/>
          <p:cNvSpPr/>
          <p:nvPr/>
        </p:nvSpPr>
        <p:spPr>
          <a:xfrm>
            <a:off x="12435682" y="1248125"/>
            <a:ext cx="2157891" cy="2147101"/>
          </a:xfrm>
          <a:custGeom>
            <a:avLst/>
            <a:gdLst/>
            <a:ahLst/>
            <a:cxnLst/>
            <a:rect l="l" t="t" r="r" b="b"/>
            <a:pathLst>
              <a:path w="2157891" h="2147101">
                <a:moveTo>
                  <a:pt x="0" y="0"/>
                </a:moveTo>
                <a:lnTo>
                  <a:pt x="2157890" y="0"/>
                </a:lnTo>
                <a:lnTo>
                  <a:pt x="2157890" y="2147101"/>
                </a:lnTo>
                <a:lnTo>
                  <a:pt x="0" y="214710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GR"/>
          </a:p>
        </p:txBody>
      </p:sp>
      <p:sp>
        <p:nvSpPr>
          <p:cNvPr id="22" name="Freeform 22"/>
          <p:cNvSpPr/>
          <p:nvPr/>
        </p:nvSpPr>
        <p:spPr>
          <a:xfrm>
            <a:off x="15195275" y="3843759"/>
            <a:ext cx="2274823" cy="2157891"/>
          </a:xfrm>
          <a:custGeom>
            <a:avLst/>
            <a:gdLst/>
            <a:ahLst/>
            <a:cxnLst/>
            <a:rect l="l" t="t" r="r" b="b"/>
            <a:pathLst>
              <a:path w="2274823" h="2157891">
                <a:moveTo>
                  <a:pt x="0" y="0"/>
                </a:moveTo>
                <a:lnTo>
                  <a:pt x="2274824" y="0"/>
                </a:lnTo>
                <a:lnTo>
                  <a:pt x="2274824" y="2157890"/>
                </a:lnTo>
                <a:lnTo>
                  <a:pt x="0" y="215789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b="-9668"/>
            </a:stretch>
          </a:blipFill>
        </p:spPr>
        <p:txBody>
          <a:bodyPr/>
          <a:lstStyle/>
          <a:p>
            <a:endParaRPr lang="en-GR"/>
          </a:p>
        </p:txBody>
      </p:sp>
      <p:sp>
        <p:nvSpPr>
          <p:cNvPr id="23" name="Freeform 23"/>
          <p:cNvSpPr/>
          <p:nvPr/>
        </p:nvSpPr>
        <p:spPr>
          <a:xfrm>
            <a:off x="15195275" y="1285037"/>
            <a:ext cx="2157891" cy="2073278"/>
          </a:xfrm>
          <a:custGeom>
            <a:avLst/>
            <a:gdLst/>
            <a:ahLst/>
            <a:cxnLst/>
            <a:rect l="l" t="t" r="r" b="b"/>
            <a:pathLst>
              <a:path w="2157891" h="2073278">
                <a:moveTo>
                  <a:pt x="0" y="0"/>
                </a:moveTo>
                <a:lnTo>
                  <a:pt x="2157891" y="0"/>
                </a:lnTo>
                <a:lnTo>
                  <a:pt x="2157891" y="2073277"/>
                </a:lnTo>
                <a:lnTo>
                  <a:pt x="0" y="207327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6642" b="-6642"/>
            </a:stretch>
          </a:blipFill>
        </p:spPr>
        <p:txBody>
          <a:bodyPr/>
          <a:lstStyle/>
          <a:p>
            <a:endParaRPr lang="en-GR"/>
          </a:p>
        </p:txBody>
      </p:sp>
      <p:sp>
        <p:nvSpPr>
          <p:cNvPr id="24" name="Freeform 24"/>
          <p:cNvSpPr/>
          <p:nvPr/>
        </p:nvSpPr>
        <p:spPr>
          <a:xfrm>
            <a:off x="12435682" y="3843759"/>
            <a:ext cx="2358768" cy="2157891"/>
          </a:xfrm>
          <a:custGeom>
            <a:avLst/>
            <a:gdLst/>
            <a:ahLst/>
            <a:cxnLst/>
            <a:rect l="l" t="t" r="r" b="b"/>
            <a:pathLst>
              <a:path w="2358768" h="2157891">
                <a:moveTo>
                  <a:pt x="0" y="0"/>
                </a:moveTo>
                <a:lnTo>
                  <a:pt x="2358767" y="0"/>
                </a:lnTo>
                <a:lnTo>
                  <a:pt x="2358767" y="2157890"/>
                </a:lnTo>
                <a:lnTo>
                  <a:pt x="0" y="215789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4654" b="-4654"/>
            </a:stretch>
          </a:blipFill>
        </p:spPr>
        <p:txBody>
          <a:bodyPr/>
          <a:lstStyle/>
          <a:p>
            <a:endParaRPr lang="en-GR"/>
          </a:p>
        </p:txBody>
      </p:sp>
      <p:sp>
        <p:nvSpPr>
          <p:cNvPr id="25" name="Freeform 25"/>
          <p:cNvSpPr/>
          <p:nvPr/>
        </p:nvSpPr>
        <p:spPr>
          <a:xfrm>
            <a:off x="12424096" y="6887474"/>
            <a:ext cx="2381939" cy="2253910"/>
          </a:xfrm>
          <a:custGeom>
            <a:avLst/>
            <a:gdLst/>
            <a:ahLst/>
            <a:cxnLst/>
            <a:rect l="l" t="t" r="r" b="b"/>
            <a:pathLst>
              <a:path w="2381939" h="2253910">
                <a:moveTo>
                  <a:pt x="0" y="0"/>
                </a:moveTo>
                <a:lnTo>
                  <a:pt x="2381939" y="0"/>
                </a:lnTo>
                <a:lnTo>
                  <a:pt x="2381939" y="2253910"/>
                </a:lnTo>
                <a:lnTo>
                  <a:pt x="0" y="225391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GR"/>
          </a:p>
        </p:txBody>
      </p:sp>
      <p:sp>
        <p:nvSpPr>
          <p:cNvPr id="26" name="Freeform 26"/>
          <p:cNvSpPr/>
          <p:nvPr/>
        </p:nvSpPr>
        <p:spPr>
          <a:xfrm>
            <a:off x="15195275" y="6953514"/>
            <a:ext cx="2368874" cy="2253910"/>
          </a:xfrm>
          <a:custGeom>
            <a:avLst/>
            <a:gdLst/>
            <a:ahLst/>
            <a:cxnLst/>
            <a:rect l="l" t="t" r="r" b="b"/>
            <a:pathLst>
              <a:path w="2368874" h="2253910">
                <a:moveTo>
                  <a:pt x="0" y="0"/>
                </a:moveTo>
                <a:lnTo>
                  <a:pt x="2368875" y="0"/>
                </a:lnTo>
                <a:lnTo>
                  <a:pt x="2368875" y="2253910"/>
                </a:lnTo>
                <a:lnTo>
                  <a:pt x="0" y="225391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4525" r="-4525"/>
            </a:stretch>
          </a:blipFill>
        </p:spPr>
        <p:txBody>
          <a:bodyPr/>
          <a:lstStyle/>
          <a:p>
            <a:endParaRPr lang="en-GR"/>
          </a:p>
        </p:txBody>
      </p:sp>
      <p:sp>
        <p:nvSpPr>
          <p:cNvPr id="27" name="TextBox 27"/>
          <p:cNvSpPr txBox="1"/>
          <p:nvPr/>
        </p:nvSpPr>
        <p:spPr>
          <a:xfrm>
            <a:off x="15181792" y="6001649"/>
            <a:ext cx="2288307" cy="656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Sample from 3d-250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endParaRPr lang="en-US" sz="1899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1017986" y="952500"/>
            <a:ext cx="9441635" cy="573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19"/>
              </a:lnSpc>
              <a:spcBef>
                <a:spcPct val="0"/>
              </a:spcBef>
            </a:pPr>
            <a:r>
              <a:rPr lang="en-US" sz="3299" b="1" u="sng">
                <a:solidFill>
                  <a:srgbClr val="B00B39"/>
                </a:solidFill>
                <a:latin typeface="Cardo Bold"/>
                <a:ea typeface="Cardo Bold"/>
                <a:cs typeface="Cardo Bold"/>
                <a:sym typeface="Cardo Bold"/>
              </a:rPr>
              <a:t>Data exploration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2435682" y="3357126"/>
            <a:ext cx="2426271" cy="656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Sample from 3d-1000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endParaRPr lang="en-US" sz="1899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15195275" y="3357126"/>
            <a:ext cx="2568683" cy="656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Sample from kfbio-400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endParaRPr lang="en-US" sz="1899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12435682" y="5963549"/>
            <a:ext cx="2568683" cy="989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Sample from teksqray-600p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endParaRPr lang="en-US" sz="1899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12435682" y="9103284"/>
            <a:ext cx="2358768" cy="989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Sample from leica-450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endParaRPr lang="en-US" sz="1899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8" name="TextBox 38"/>
          <p:cNvSpPr txBox="1"/>
          <p:nvPr/>
        </p:nvSpPr>
        <p:spPr>
          <a:xfrm>
            <a:off x="15181792" y="9220200"/>
            <a:ext cx="2288307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Sample from motic</a:t>
            </a:r>
          </a:p>
        </p:txBody>
      </p:sp>
      <p:grpSp>
        <p:nvGrpSpPr>
          <p:cNvPr id="39" name="Group 8">
            <a:extLst>
              <a:ext uri="{FF2B5EF4-FFF2-40B4-BE49-F238E27FC236}">
                <a16:creationId xmlns:a16="http://schemas.microsoft.com/office/drawing/2014/main" id="{586107E4-D571-A9F3-CDD8-80F4F77D5326}"/>
              </a:ext>
            </a:extLst>
          </p:cNvPr>
          <p:cNvGrpSpPr/>
          <p:nvPr/>
        </p:nvGrpSpPr>
        <p:grpSpPr>
          <a:xfrm>
            <a:off x="3923736" y="-23943"/>
            <a:ext cx="3923736" cy="389959"/>
            <a:chOff x="0" y="0"/>
            <a:chExt cx="1033412" cy="102705"/>
          </a:xfrm>
        </p:grpSpPr>
        <p:sp>
          <p:nvSpPr>
            <p:cNvPr id="40" name="Freeform 9">
              <a:extLst>
                <a:ext uri="{FF2B5EF4-FFF2-40B4-BE49-F238E27FC236}">
                  <a16:creationId xmlns:a16="http://schemas.microsoft.com/office/drawing/2014/main" id="{01FEDB6B-149D-23D2-559F-6CCC984F7879}"/>
                </a:ext>
              </a:extLst>
            </p:cNvPr>
            <p:cNvSpPr/>
            <p:nvPr/>
          </p:nvSpPr>
          <p:spPr>
            <a:xfrm>
              <a:off x="0" y="0"/>
              <a:ext cx="1033412" cy="102705"/>
            </a:xfrm>
            <a:custGeom>
              <a:avLst/>
              <a:gdLst/>
              <a:ahLst/>
              <a:cxnLst/>
              <a:rect l="l" t="t" r="r" b="b"/>
              <a:pathLst>
                <a:path w="1033412" h="102705">
                  <a:moveTo>
                    <a:pt x="0" y="0"/>
                  </a:moveTo>
                  <a:lnTo>
                    <a:pt x="1033412" y="0"/>
                  </a:lnTo>
                  <a:lnTo>
                    <a:pt x="1033412" y="102705"/>
                  </a:lnTo>
                  <a:lnTo>
                    <a:pt x="0" y="102705"/>
                  </a:lnTo>
                  <a:close/>
                </a:path>
              </a:pathLst>
            </a:custGeom>
            <a:solidFill>
              <a:srgbClr val="B00B39"/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41" name="TextBox 10">
              <a:extLst>
                <a:ext uri="{FF2B5EF4-FFF2-40B4-BE49-F238E27FC236}">
                  <a16:creationId xmlns:a16="http://schemas.microsoft.com/office/drawing/2014/main" id="{3D45B193-1E22-F8DD-5484-C0960E69DCB0}"/>
                </a:ext>
              </a:extLst>
            </p:cNvPr>
            <p:cNvSpPr txBox="1"/>
            <p:nvPr/>
          </p:nvSpPr>
          <p:spPr>
            <a:xfrm>
              <a:off x="0" y="-38100"/>
              <a:ext cx="1033412" cy="1408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42" name="Group 11">
            <a:extLst>
              <a:ext uri="{FF2B5EF4-FFF2-40B4-BE49-F238E27FC236}">
                <a16:creationId xmlns:a16="http://schemas.microsoft.com/office/drawing/2014/main" id="{926C56A7-B975-4336-4E15-771266C912C4}"/>
              </a:ext>
            </a:extLst>
          </p:cNvPr>
          <p:cNvGrpSpPr/>
          <p:nvPr/>
        </p:nvGrpSpPr>
        <p:grpSpPr>
          <a:xfrm>
            <a:off x="7847472" y="-101928"/>
            <a:ext cx="3923736" cy="467944"/>
            <a:chOff x="0" y="0"/>
            <a:chExt cx="1033412" cy="123245"/>
          </a:xfrm>
        </p:grpSpPr>
        <p:sp>
          <p:nvSpPr>
            <p:cNvPr id="43" name="Freeform 12">
              <a:extLst>
                <a:ext uri="{FF2B5EF4-FFF2-40B4-BE49-F238E27FC236}">
                  <a16:creationId xmlns:a16="http://schemas.microsoft.com/office/drawing/2014/main" id="{B68D867A-91F0-0F5B-DFCC-22A2E612C332}"/>
                </a:ext>
              </a:extLst>
            </p:cNvPr>
            <p:cNvSpPr/>
            <p:nvPr/>
          </p:nvSpPr>
          <p:spPr>
            <a:xfrm>
              <a:off x="0" y="0"/>
              <a:ext cx="1033412" cy="123245"/>
            </a:xfrm>
            <a:custGeom>
              <a:avLst/>
              <a:gdLst/>
              <a:ahLst/>
              <a:cxnLst/>
              <a:rect l="l" t="t" r="r" b="b"/>
              <a:pathLst>
                <a:path w="1033412" h="123245">
                  <a:moveTo>
                    <a:pt x="0" y="0"/>
                  </a:moveTo>
                  <a:lnTo>
                    <a:pt x="1033412" y="0"/>
                  </a:lnTo>
                  <a:lnTo>
                    <a:pt x="1033412" y="123245"/>
                  </a:lnTo>
                  <a:lnTo>
                    <a:pt x="0" y="123245"/>
                  </a:lnTo>
                  <a:close/>
                </a:path>
              </a:pathLst>
            </a:custGeom>
            <a:solidFill>
              <a:srgbClr val="B00B39">
                <a:alpha val="19608"/>
              </a:srgbClr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44" name="TextBox 13">
              <a:extLst>
                <a:ext uri="{FF2B5EF4-FFF2-40B4-BE49-F238E27FC236}">
                  <a16:creationId xmlns:a16="http://schemas.microsoft.com/office/drawing/2014/main" id="{2A180AD3-E8CA-1043-6736-370B719F96BE}"/>
                </a:ext>
              </a:extLst>
            </p:cNvPr>
            <p:cNvSpPr txBox="1"/>
            <p:nvPr/>
          </p:nvSpPr>
          <p:spPr>
            <a:xfrm>
              <a:off x="0" y="-38100"/>
              <a:ext cx="1033412" cy="1613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45" name="Group 14">
            <a:extLst>
              <a:ext uri="{FF2B5EF4-FFF2-40B4-BE49-F238E27FC236}">
                <a16:creationId xmlns:a16="http://schemas.microsoft.com/office/drawing/2014/main" id="{F7BD6649-3319-2CF7-B0C2-6A870F8999F9}"/>
              </a:ext>
            </a:extLst>
          </p:cNvPr>
          <p:cNvGrpSpPr/>
          <p:nvPr/>
        </p:nvGrpSpPr>
        <p:grpSpPr>
          <a:xfrm>
            <a:off x="11771209" y="-23943"/>
            <a:ext cx="3923736" cy="389959"/>
            <a:chOff x="0" y="0"/>
            <a:chExt cx="1033412" cy="102705"/>
          </a:xfrm>
        </p:grpSpPr>
        <p:sp>
          <p:nvSpPr>
            <p:cNvPr id="46" name="Freeform 15">
              <a:extLst>
                <a:ext uri="{FF2B5EF4-FFF2-40B4-BE49-F238E27FC236}">
                  <a16:creationId xmlns:a16="http://schemas.microsoft.com/office/drawing/2014/main" id="{53FE310C-D516-0DDC-41D5-83BCF4C36423}"/>
                </a:ext>
              </a:extLst>
            </p:cNvPr>
            <p:cNvSpPr/>
            <p:nvPr/>
          </p:nvSpPr>
          <p:spPr>
            <a:xfrm>
              <a:off x="0" y="0"/>
              <a:ext cx="1033412" cy="102705"/>
            </a:xfrm>
            <a:custGeom>
              <a:avLst/>
              <a:gdLst/>
              <a:ahLst/>
              <a:cxnLst/>
              <a:rect l="l" t="t" r="r" b="b"/>
              <a:pathLst>
                <a:path w="1033412" h="102705">
                  <a:moveTo>
                    <a:pt x="0" y="0"/>
                  </a:moveTo>
                  <a:lnTo>
                    <a:pt x="1033412" y="0"/>
                  </a:lnTo>
                  <a:lnTo>
                    <a:pt x="1033412" y="102705"/>
                  </a:lnTo>
                  <a:lnTo>
                    <a:pt x="0" y="102705"/>
                  </a:lnTo>
                  <a:close/>
                </a:path>
              </a:pathLst>
            </a:custGeom>
            <a:solidFill>
              <a:srgbClr val="B00B39">
                <a:alpha val="19608"/>
              </a:srgbClr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47" name="TextBox 16">
              <a:extLst>
                <a:ext uri="{FF2B5EF4-FFF2-40B4-BE49-F238E27FC236}">
                  <a16:creationId xmlns:a16="http://schemas.microsoft.com/office/drawing/2014/main" id="{7D68E551-7CBA-753C-754E-B9B97CD58841}"/>
                </a:ext>
              </a:extLst>
            </p:cNvPr>
            <p:cNvSpPr txBox="1"/>
            <p:nvPr/>
          </p:nvSpPr>
          <p:spPr>
            <a:xfrm>
              <a:off x="0" y="-38100"/>
              <a:ext cx="1033412" cy="1408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48" name="TextBox 22">
            <a:extLst>
              <a:ext uri="{FF2B5EF4-FFF2-40B4-BE49-F238E27FC236}">
                <a16:creationId xmlns:a16="http://schemas.microsoft.com/office/drawing/2014/main" id="{59D3AE77-2C58-CA00-1F90-9A6517D8245B}"/>
              </a:ext>
            </a:extLst>
          </p:cNvPr>
          <p:cNvSpPr txBox="1"/>
          <p:nvPr/>
        </p:nvSpPr>
        <p:spPr>
          <a:xfrm>
            <a:off x="1146942" y="-12075"/>
            <a:ext cx="1629853" cy="342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2"/>
              </a:lnSpc>
            </a:pPr>
            <a:r>
              <a:rPr lang="en-US" sz="1951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Introduction </a:t>
            </a:r>
          </a:p>
        </p:txBody>
      </p:sp>
      <p:sp>
        <p:nvSpPr>
          <p:cNvPr id="49" name="TextBox 23">
            <a:extLst>
              <a:ext uri="{FF2B5EF4-FFF2-40B4-BE49-F238E27FC236}">
                <a16:creationId xmlns:a16="http://schemas.microsoft.com/office/drawing/2014/main" id="{83098EFD-C25E-526F-ABD1-A527E0CE907E}"/>
              </a:ext>
            </a:extLst>
          </p:cNvPr>
          <p:cNvSpPr txBox="1"/>
          <p:nvPr/>
        </p:nvSpPr>
        <p:spPr>
          <a:xfrm>
            <a:off x="5073241" y="-12075"/>
            <a:ext cx="1941238" cy="3305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32"/>
              </a:lnSpc>
            </a:pPr>
            <a:r>
              <a:rPr lang="en-US" sz="1951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Methodology</a:t>
            </a:r>
          </a:p>
        </p:txBody>
      </p:sp>
      <p:sp>
        <p:nvSpPr>
          <p:cNvPr id="50" name="TextBox 24">
            <a:extLst>
              <a:ext uri="{FF2B5EF4-FFF2-40B4-BE49-F238E27FC236}">
                <a16:creationId xmlns:a16="http://schemas.microsoft.com/office/drawing/2014/main" id="{A97E7588-9A21-105D-172E-F5F4F48AFD76}"/>
              </a:ext>
            </a:extLst>
          </p:cNvPr>
          <p:cNvSpPr txBox="1"/>
          <p:nvPr/>
        </p:nvSpPr>
        <p:spPr>
          <a:xfrm>
            <a:off x="9358004" y="-24047"/>
            <a:ext cx="1082526" cy="3242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32"/>
              </a:lnSpc>
            </a:pPr>
            <a:r>
              <a:rPr lang="en-US" sz="1951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Results</a:t>
            </a:r>
          </a:p>
        </p:txBody>
      </p:sp>
      <p:sp>
        <p:nvSpPr>
          <p:cNvPr id="51" name="TextBox 25">
            <a:extLst>
              <a:ext uri="{FF2B5EF4-FFF2-40B4-BE49-F238E27FC236}">
                <a16:creationId xmlns:a16="http://schemas.microsoft.com/office/drawing/2014/main" id="{78AA7B0A-BE33-109D-BF4E-8196FDE9CC4B}"/>
              </a:ext>
            </a:extLst>
          </p:cNvPr>
          <p:cNvSpPr txBox="1"/>
          <p:nvPr/>
        </p:nvSpPr>
        <p:spPr>
          <a:xfrm>
            <a:off x="12604201" y="-12075"/>
            <a:ext cx="2788199" cy="3242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32"/>
              </a:lnSpc>
            </a:pPr>
            <a:r>
              <a:rPr lang="en-US" sz="1951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Critical Discussion</a:t>
            </a:r>
          </a:p>
        </p:txBody>
      </p:sp>
      <p:sp>
        <p:nvSpPr>
          <p:cNvPr id="52" name="TextBox 26">
            <a:extLst>
              <a:ext uri="{FF2B5EF4-FFF2-40B4-BE49-F238E27FC236}">
                <a16:creationId xmlns:a16="http://schemas.microsoft.com/office/drawing/2014/main" id="{8E91B3A0-4D14-7815-442F-6BA052361F93}"/>
              </a:ext>
            </a:extLst>
          </p:cNvPr>
          <p:cNvSpPr txBox="1"/>
          <p:nvPr/>
        </p:nvSpPr>
        <p:spPr>
          <a:xfrm>
            <a:off x="16408410" y="-24047"/>
            <a:ext cx="1498589" cy="3242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32"/>
              </a:lnSpc>
            </a:pPr>
            <a:r>
              <a:rPr lang="en-US" sz="1951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Conclusion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78475" cy="366016"/>
            <a:chOff x="0" y="0"/>
            <a:chExt cx="4814084" cy="9639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4084" cy="96399"/>
            </a:xfrm>
            <a:custGeom>
              <a:avLst/>
              <a:gdLst/>
              <a:ahLst/>
              <a:cxnLst/>
              <a:rect l="l" t="t" r="r" b="b"/>
              <a:pathLst>
                <a:path w="4814084" h="96399">
                  <a:moveTo>
                    <a:pt x="0" y="0"/>
                  </a:moveTo>
                  <a:lnTo>
                    <a:pt x="4814084" y="0"/>
                  </a:lnTo>
                  <a:lnTo>
                    <a:pt x="4814084" y="96399"/>
                  </a:lnTo>
                  <a:lnTo>
                    <a:pt x="0" y="96399"/>
                  </a:lnTo>
                  <a:close/>
                </a:path>
              </a:pathLst>
            </a:custGeom>
            <a:solidFill>
              <a:srgbClr val="897993"/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4084" cy="1344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-55288"/>
            <a:ext cx="3923736" cy="421303"/>
            <a:chOff x="0" y="0"/>
            <a:chExt cx="1033412" cy="11096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33412" cy="110961"/>
            </a:xfrm>
            <a:custGeom>
              <a:avLst/>
              <a:gdLst/>
              <a:ahLst/>
              <a:cxnLst/>
              <a:rect l="l" t="t" r="r" b="b"/>
              <a:pathLst>
                <a:path w="1033412" h="110961">
                  <a:moveTo>
                    <a:pt x="0" y="0"/>
                  </a:moveTo>
                  <a:lnTo>
                    <a:pt x="1033412" y="0"/>
                  </a:lnTo>
                  <a:lnTo>
                    <a:pt x="1033412" y="110961"/>
                  </a:lnTo>
                  <a:lnTo>
                    <a:pt x="0" y="110961"/>
                  </a:lnTo>
                  <a:close/>
                </a:path>
              </a:pathLst>
            </a:custGeom>
            <a:solidFill>
              <a:srgbClr val="B00B39">
                <a:alpha val="19608"/>
              </a:srgbClr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033412" cy="1490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5694945" y="-40855"/>
            <a:ext cx="3923736" cy="389959"/>
            <a:chOff x="0" y="0"/>
            <a:chExt cx="1033412" cy="102705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033412" cy="102705"/>
            </a:xfrm>
            <a:custGeom>
              <a:avLst/>
              <a:gdLst/>
              <a:ahLst/>
              <a:cxnLst/>
              <a:rect l="l" t="t" r="r" b="b"/>
              <a:pathLst>
                <a:path w="1033412" h="102705">
                  <a:moveTo>
                    <a:pt x="0" y="0"/>
                  </a:moveTo>
                  <a:lnTo>
                    <a:pt x="1033412" y="0"/>
                  </a:lnTo>
                  <a:lnTo>
                    <a:pt x="1033412" y="102705"/>
                  </a:lnTo>
                  <a:lnTo>
                    <a:pt x="0" y="102705"/>
                  </a:lnTo>
                  <a:close/>
                </a:path>
              </a:pathLst>
            </a:custGeom>
            <a:solidFill>
              <a:srgbClr val="B00B39">
                <a:alpha val="19608"/>
              </a:srgbClr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1033412" cy="1408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1017986" y="2557145"/>
            <a:ext cx="10925630" cy="5067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41" lvl="1" indent="-280670" algn="just">
              <a:lnSpc>
                <a:spcPts val="3640"/>
              </a:lnSpc>
              <a:buFont typeface="Arial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Resized images to 1512×1512 pixels</a:t>
            </a:r>
          </a:p>
          <a:p>
            <a:pPr marL="561341" lvl="1" indent="-280670" algn="just">
              <a:lnSpc>
                <a:spcPts val="3640"/>
              </a:lnSpc>
              <a:buFont typeface="Arial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Reflective padding to avoid artificial edges</a:t>
            </a:r>
          </a:p>
          <a:p>
            <a:pPr marL="561341" lvl="1" indent="-280670" algn="just">
              <a:lnSpc>
                <a:spcPts val="3640"/>
              </a:lnSpc>
              <a:buFont typeface="Arial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Masks padded with zeros</a:t>
            </a:r>
          </a:p>
          <a:p>
            <a:pPr marL="561341" lvl="1" indent="-280670" algn="just">
              <a:lnSpc>
                <a:spcPts val="3640"/>
              </a:lnSpc>
              <a:buFont typeface="Arial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Heavy augmentation to simulate scanner/stain variation:</a:t>
            </a:r>
          </a:p>
          <a:p>
            <a:pPr marL="1122681" lvl="2" indent="-374227" algn="just">
              <a:lnSpc>
                <a:spcPts val="3640"/>
              </a:lnSpc>
              <a:buFont typeface="Arial"/>
              <a:buChar char="⚬"/>
            </a:pPr>
            <a:r>
              <a:rPr lang="en-US" sz="26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Flips, rotations, scaling, elastic transforms</a:t>
            </a:r>
          </a:p>
          <a:p>
            <a:pPr marL="1122681" lvl="2" indent="-374227" algn="just">
              <a:lnSpc>
                <a:spcPts val="3640"/>
              </a:lnSpc>
              <a:buFont typeface="Arial"/>
              <a:buChar char="⚬"/>
            </a:pPr>
            <a:r>
              <a:rPr lang="en-US" sz="26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Brightness/contrast, hue/saturation, RGB shift</a:t>
            </a:r>
          </a:p>
          <a:p>
            <a:pPr marL="1122681" lvl="2" indent="-374227" algn="just">
              <a:lnSpc>
                <a:spcPts val="3640"/>
              </a:lnSpc>
              <a:buFont typeface="Arial"/>
              <a:buChar char="⚬"/>
            </a:pPr>
            <a:r>
              <a:rPr lang="en-US" sz="26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Noise, sharpening</a:t>
            </a:r>
          </a:p>
          <a:p>
            <a:pPr marL="561341" lvl="1" indent="-280670" algn="just">
              <a:lnSpc>
                <a:spcPts val="3640"/>
              </a:lnSpc>
              <a:buFont typeface="Arial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Tumor-focused cropping to increase useful samples</a:t>
            </a:r>
          </a:p>
          <a:p>
            <a:pPr marL="561341" lvl="1" indent="-280670" algn="just">
              <a:lnSpc>
                <a:spcPts val="3640"/>
              </a:lnSpc>
              <a:buFont typeface="Arial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Normalization using ImageNet statistics</a:t>
            </a:r>
          </a:p>
          <a:p>
            <a:pPr marL="561341" lvl="1" indent="-280670" algn="just">
              <a:lnSpc>
                <a:spcPts val="3640"/>
              </a:lnSpc>
              <a:buFont typeface="Arial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Validation: only resize, pad, normalize (no augmentation)</a:t>
            </a:r>
          </a:p>
          <a:p>
            <a:pPr algn="just">
              <a:lnSpc>
                <a:spcPts val="3640"/>
              </a:lnSpc>
            </a:pPr>
            <a:endParaRPr lang="en-US" sz="2600" dirty="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017986" y="952500"/>
            <a:ext cx="9441635" cy="573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19"/>
              </a:lnSpc>
              <a:spcBef>
                <a:spcPct val="0"/>
              </a:spcBef>
            </a:pPr>
            <a:r>
              <a:rPr lang="en-US" sz="3299" b="1" u="sng">
                <a:solidFill>
                  <a:srgbClr val="B00B39"/>
                </a:solidFill>
                <a:latin typeface="Cardo Bold"/>
                <a:ea typeface="Cardo Bold"/>
                <a:cs typeface="Cardo Bold"/>
                <a:sym typeface="Cardo Bold"/>
              </a:rPr>
              <a:t>Preprocessing &amp; Data Augmentation</a:t>
            </a:r>
          </a:p>
        </p:txBody>
      </p:sp>
      <p:grpSp>
        <p:nvGrpSpPr>
          <p:cNvPr id="27" name="Group 8">
            <a:extLst>
              <a:ext uri="{FF2B5EF4-FFF2-40B4-BE49-F238E27FC236}">
                <a16:creationId xmlns:a16="http://schemas.microsoft.com/office/drawing/2014/main" id="{3A7A6959-3179-4B95-FBD8-024BA4776366}"/>
              </a:ext>
            </a:extLst>
          </p:cNvPr>
          <p:cNvGrpSpPr/>
          <p:nvPr/>
        </p:nvGrpSpPr>
        <p:grpSpPr>
          <a:xfrm>
            <a:off x="3923736" y="-23943"/>
            <a:ext cx="3923736" cy="389959"/>
            <a:chOff x="0" y="0"/>
            <a:chExt cx="1033412" cy="102705"/>
          </a:xfrm>
        </p:grpSpPr>
        <p:sp>
          <p:nvSpPr>
            <p:cNvPr id="28" name="Freeform 9">
              <a:extLst>
                <a:ext uri="{FF2B5EF4-FFF2-40B4-BE49-F238E27FC236}">
                  <a16:creationId xmlns:a16="http://schemas.microsoft.com/office/drawing/2014/main" id="{8BE6510F-D766-7FFE-56A9-A1FFF3F9FCC5}"/>
                </a:ext>
              </a:extLst>
            </p:cNvPr>
            <p:cNvSpPr/>
            <p:nvPr/>
          </p:nvSpPr>
          <p:spPr>
            <a:xfrm>
              <a:off x="0" y="0"/>
              <a:ext cx="1033412" cy="102705"/>
            </a:xfrm>
            <a:custGeom>
              <a:avLst/>
              <a:gdLst/>
              <a:ahLst/>
              <a:cxnLst/>
              <a:rect l="l" t="t" r="r" b="b"/>
              <a:pathLst>
                <a:path w="1033412" h="102705">
                  <a:moveTo>
                    <a:pt x="0" y="0"/>
                  </a:moveTo>
                  <a:lnTo>
                    <a:pt x="1033412" y="0"/>
                  </a:lnTo>
                  <a:lnTo>
                    <a:pt x="1033412" y="102705"/>
                  </a:lnTo>
                  <a:lnTo>
                    <a:pt x="0" y="102705"/>
                  </a:lnTo>
                  <a:close/>
                </a:path>
              </a:pathLst>
            </a:custGeom>
            <a:solidFill>
              <a:srgbClr val="B00B39"/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29" name="TextBox 10">
              <a:extLst>
                <a:ext uri="{FF2B5EF4-FFF2-40B4-BE49-F238E27FC236}">
                  <a16:creationId xmlns:a16="http://schemas.microsoft.com/office/drawing/2014/main" id="{ED4EADF7-8CEC-B9DC-3A17-AA0FAE22C9AE}"/>
                </a:ext>
              </a:extLst>
            </p:cNvPr>
            <p:cNvSpPr txBox="1"/>
            <p:nvPr/>
          </p:nvSpPr>
          <p:spPr>
            <a:xfrm>
              <a:off x="0" y="-38100"/>
              <a:ext cx="1033412" cy="1408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0" name="Group 11">
            <a:extLst>
              <a:ext uri="{FF2B5EF4-FFF2-40B4-BE49-F238E27FC236}">
                <a16:creationId xmlns:a16="http://schemas.microsoft.com/office/drawing/2014/main" id="{A25BDF19-EDF6-F49A-8B0A-84DD59362ACF}"/>
              </a:ext>
            </a:extLst>
          </p:cNvPr>
          <p:cNvGrpSpPr/>
          <p:nvPr/>
        </p:nvGrpSpPr>
        <p:grpSpPr>
          <a:xfrm>
            <a:off x="7847472" y="-101928"/>
            <a:ext cx="3923736" cy="467944"/>
            <a:chOff x="0" y="0"/>
            <a:chExt cx="1033412" cy="123245"/>
          </a:xfrm>
        </p:grpSpPr>
        <p:sp>
          <p:nvSpPr>
            <p:cNvPr id="31" name="Freeform 12">
              <a:extLst>
                <a:ext uri="{FF2B5EF4-FFF2-40B4-BE49-F238E27FC236}">
                  <a16:creationId xmlns:a16="http://schemas.microsoft.com/office/drawing/2014/main" id="{1EF19CF8-F2FF-E039-3058-2873C06F2E15}"/>
                </a:ext>
              </a:extLst>
            </p:cNvPr>
            <p:cNvSpPr/>
            <p:nvPr/>
          </p:nvSpPr>
          <p:spPr>
            <a:xfrm>
              <a:off x="0" y="0"/>
              <a:ext cx="1033412" cy="123245"/>
            </a:xfrm>
            <a:custGeom>
              <a:avLst/>
              <a:gdLst/>
              <a:ahLst/>
              <a:cxnLst/>
              <a:rect l="l" t="t" r="r" b="b"/>
              <a:pathLst>
                <a:path w="1033412" h="123245">
                  <a:moveTo>
                    <a:pt x="0" y="0"/>
                  </a:moveTo>
                  <a:lnTo>
                    <a:pt x="1033412" y="0"/>
                  </a:lnTo>
                  <a:lnTo>
                    <a:pt x="1033412" y="123245"/>
                  </a:lnTo>
                  <a:lnTo>
                    <a:pt x="0" y="123245"/>
                  </a:lnTo>
                  <a:close/>
                </a:path>
              </a:pathLst>
            </a:custGeom>
            <a:solidFill>
              <a:srgbClr val="B00B39">
                <a:alpha val="19608"/>
              </a:srgbClr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32" name="TextBox 13">
              <a:extLst>
                <a:ext uri="{FF2B5EF4-FFF2-40B4-BE49-F238E27FC236}">
                  <a16:creationId xmlns:a16="http://schemas.microsoft.com/office/drawing/2014/main" id="{D3174098-28B5-F2B0-8C3E-446BFC9835F2}"/>
                </a:ext>
              </a:extLst>
            </p:cNvPr>
            <p:cNvSpPr txBox="1"/>
            <p:nvPr/>
          </p:nvSpPr>
          <p:spPr>
            <a:xfrm>
              <a:off x="0" y="-38100"/>
              <a:ext cx="1033412" cy="1613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3" name="Group 14">
            <a:extLst>
              <a:ext uri="{FF2B5EF4-FFF2-40B4-BE49-F238E27FC236}">
                <a16:creationId xmlns:a16="http://schemas.microsoft.com/office/drawing/2014/main" id="{FA8802D7-91B6-A70E-8A58-76EF99B350F9}"/>
              </a:ext>
            </a:extLst>
          </p:cNvPr>
          <p:cNvGrpSpPr/>
          <p:nvPr/>
        </p:nvGrpSpPr>
        <p:grpSpPr>
          <a:xfrm>
            <a:off x="11771209" y="-23943"/>
            <a:ext cx="3923736" cy="389959"/>
            <a:chOff x="0" y="0"/>
            <a:chExt cx="1033412" cy="102705"/>
          </a:xfrm>
        </p:grpSpPr>
        <p:sp>
          <p:nvSpPr>
            <p:cNvPr id="34" name="Freeform 15">
              <a:extLst>
                <a:ext uri="{FF2B5EF4-FFF2-40B4-BE49-F238E27FC236}">
                  <a16:creationId xmlns:a16="http://schemas.microsoft.com/office/drawing/2014/main" id="{54DEF264-3553-247F-0730-0201CB195544}"/>
                </a:ext>
              </a:extLst>
            </p:cNvPr>
            <p:cNvSpPr/>
            <p:nvPr/>
          </p:nvSpPr>
          <p:spPr>
            <a:xfrm>
              <a:off x="0" y="0"/>
              <a:ext cx="1033412" cy="102705"/>
            </a:xfrm>
            <a:custGeom>
              <a:avLst/>
              <a:gdLst/>
              <a:ahLst/>
              <a:cxnLst/>
              <a:rect l="l" t="t" r="r" b="b"/>
              <a:pathLst>
                <a:path w="1033412" h="102705">
                  <a:moveTo>
                    <a:pt x="0" y="0"/>
                  </a:moveTo>
                  <a:lnTo>
                    <a:pt x="1033412" y="0"/>
                  </a:lnTo>
                  <a:lnTo>
                    <a:pt x="1033412" y="102705"/>
                  </a:lnTo>
                  <a:lnTo>
                    <a:pt x="0" y="102705"/>
                  </a:lnTo>
                  <a:close/>
                </a:path>
              </a:pathLst>
            </a:custGeom>
            <a:solidFill>
              <a:srgbClr val="B00B39">
                <a:alpha val="19608"/>
              </a:srgbClr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35" name="TextBox 16">
              <a:extLst>
                <a:ext uri="{FF2B5EF4-FFF2-40B4-BE49-F238E27FC236}">
                  <a16:creationId xmlns:a16="http://schemas.microsoft.com/office/drawing/2014/main" id="{0C6D7D23-688F-9658-5959-09F5587C9E05}"/>
                </a:ext>
              </a:extLst>
            </p:cNvPr>
            <p:cNvSpPr txBox="1"/>
            <p:nvPr/>
          </p:nvSpPr>
          <p:spPr>
            <a:xfrm>
              <a:off x="0" y="-38100"/>
              <a:ext cx="1033412" cy="1408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6" name="TextBox 22">
            <a:extLst>
              <a:ext uri="{FF2B5EF4-FFF2-40B4-BE49-F238E27FC236}">
                <a16:creationId xmlns:a16="http://schemas.microsoft.com/office/drawing/2014/main" id="{D7254EC8-786D-A178-0976-A5BE3EA3F329}"/>
              </a:ext>
            </a:extLst>
          </p:cNvPr>
          <p:cNvSpPr txBox="1"/>
          <p:nvPr/>
        </p:nvSpPr>
        <p:spPr>
          <a:xfrm>
            <a:off x="1146942" y="-12075"/>
            <a:ext cx="1629853" cy="342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2"/>
              </a:lnSpc>
            </a:pPr>
            <a:r>
              <a:rPr lang="en-US" sz="1951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Introduction </a:t>
            </a:r>
          </a:p>
        </p:txBody>
      </p:sp>
      <p:sp>
        <p:nvSpPr>
          <p:cNvPr id="37" name="TextBox 23">
            <a:extLst>
              <a:ext uri="{FF2B5EF4-FFF2-40B4-BE49-F238E27FC236}">
                <a16:creationId xmlns:a16="http://schemas.microsoft.com/office/drawing/2014/main" id="{138775D0-4F51-FC3A-3C92-BFB8ED72B12D}"/>
              </a:ext>
            </a:extLst>
          </p:cNvPr>
          <p:cNvSpPr txBox="1"/>
          <p:nvPr/>
        </p:nvSpPr>
        <p:spPr>
          <a:xfrm>
            <a:off x="5073241" y="-12075"/>
            <a:ext cx="1941238" cy="3305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32"/>
              </a:lnSpc>
            </a:pPr>
            <a:r>
              <a:rPr lang="en-US" sz="1951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Methodology</a:t>
            </a:r>
          </a:p>
        </p:txBody>
      </p:sp>
      <p:sp>
        <p:nvSpPr>
          <p:cNvPr id="38" name="TextBox 24">
            <a:extLst>
              <a:ext uri="{FF2B5EF4-FFF2-40B4-BE49-F238E27FC236}">
                <a16:creationId xmlns:a16="http://schemas.microsoft.com/office/drawing/2014/main" id="{6698BF72-FB59-0DF2-8868-EDACA8C61E8F}"/>
              </a:ext>
            </a:extLst>
          </p:cNvPr>
          <p:cNvSpPr txBox="1"/>
          <p:nvPr/>
        </p:nvSpPr>
        <p:spPr>
          <a:xfrm>
            <a:off x="9358004" y="-24047"/>
            <a:ext cx="1082526" cy="3242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32"/>
              </a:lnSpc>
            </a:pPr>
            <a:r>
              <a:rPr lang="en-US" sz="1951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Results</a:t>
            </a:r>
          </a:p>
        </p:txBody>
      </p:sp>
      <p:sp>
        <p:nvSpPr>
          <p:cNvPr id="39" name="TextBox 25">
            <a:extLst>
              <a:ext uri="{FF2B5EF4-FFF2-40B4-BE49-F238E27FC236}">
                <a16:creationId xmlns:a16="http://schemas.microsoft.com/office/drawing/2014/main" id="{41561A2C-F465-FA9B-4388-CCED90D6C99F}"/>
              </a:ext>
            </a:extLst>
          </p:cNvPr>
          <p:cNvSpPr txBox="1"/>
          <p:nvPr/>
        </p:nvSpPr>
        <p:spPr>
          <a:xfrm>
            <a:off x="12604201" y="-12075"/>
            <a:ext cx="2788199" cy="3242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32"/>
              </a:lnSpc>
            </a:pPr>
            <a:r>
              <a:rPr lang="en-US" sz="1951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Critical Discussion</a:t>
            </a:r>
          </a:p>
        </p:txBody>
      </p:sp>
      <p:sp>
        <p:nvSpPr>
          <p:cNvPr id="40" name="TextBox 26">
            <a:extLst>
              <a:ext uri="{FF2B5EF4-FFF2-40B4-BE49-F238E27FC236}">
                <a16:creationId xmlns:a16="http://schemas.microsoft.com/office/drawing/2014/main" id="{6B1D6A02-F6EE-9196-AAF9-F8722737C11B}"/>
              </a:ext>
            </a:extLst>
          </p:cNvPr>
          <p:cNvSpPr txBox="1"/>
          <p:nvPr/>
        </p:nvSpPr>
        <p:spPr>
          <a:xfrm>
            <a:off x="16408410" y="-24047"/>
            <a:ext cx="1498589" cy="3242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32"/>
              </a:lnSpc>
            </a:pPr>
            <a:r>
              <a:rPr lang="en-US" sz="1951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Conclusion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78475" cy="366016"/>
            <a:chOff x="0" y="0"/>
            <a:chExt cx="4814084" cy="9639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4084" cy="96399"/>
            </a:xfrm>
            <a:custGeom>
              <a:avLst/>
              <a:gdLst/>
              <a:ahLst/>
              <a:cxnLst/>
              <a:rect l="l" t="t" r="r" b="b"/>
              <a:pathLst>
                <a:path w="4814084" h="96399">
                  <a:moveTo>
                    <a:pt x="0" y="0"/>
                  </a:moveTo>
                  <a:lnTo>
                    <a:pt x="4814084" y="0"/>
                  </a:lnTo>
                  <a:lnTo>
                    <a:pt x="4814084" y="96399"/>
                  </a:lnTo>
                  <a:lnTo>
                    <a:pt x="0" y="96399"/>
                  </a:lnTo>
                  <a:close/>
                </a:path>
              </a:pathLst>
            </a:custGeom>
            <a:solidFill>
              <a:srgbClr val="897993"/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4084" cy="1344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-55288"/>
            <a:ext cx="3923736" cy="421303"/>
            <a:chOff x="0" y="0"/>
            <a:chExt cx="1033412" cy="11096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33412" cy="110961"/>
            </a:xfrm>
            <a:custGeom>
              <a:avLst/>
              <a:gdLst/>
              <a:ahLst/>
              <a:cxnLst/>
              <a:rect l="l" t="t" r="r" b="b"/>
              <a:pathLst>
                <a:path w="1033412" h="110961">
                  <a:moveTo>
                    <a:pt x="0" y="0"/>
                  </a:moveTo>
                  <a:lnTo>
                    <a:pt x="1033412" y="0"/>
                  </a:lnTo>
                  <a:lnTo>
                    <a:pt x="1033412" y="110961"/>
                  </a:lnTo>
                  <a:lnTo>
                    <a:pt x="0" y="110961"/>
                  </a:lnTo>
                  <a:close/>
                </a:path>
              </a:pathLst>
            </a:custGeom>
            <a:solidFill>
              <a:srgbClr val="B00B39">
                <a:alpha val="19608"/>
              </a:srgbClr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033412" cy="1490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5694945" y="-40855"/>
            <a:ext cx="3923736" cy="389959"/>
            <a:chOff x="0" y="0"/>
            <a:chExt cx="1033412" cy="102705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033412" cy="102705"/>
            </a:xfrm>
            <a:custGeom>
              <a:avLst/>
              <a:gdLst/>
              <a:ahLst/>
              <a:cxnLst/>
              <a:rect l="l" t="t" r="r" b="b"/>
              <a:pathLst>
                <a:path w="1033412" h="102705">
                  <a:moveTo>
                    <a:pt x="0" y="0"/>
                  </a:moveTo>
                  <a:lnTo>
                    <a:pt x="1033412" y="0"/>
                  </a:lnTo>
                  <a:lnTo>
                    <a:pt x="1033412" y="102705"/>
                  </a:lnTo>
                  <a:lnTo>
                    <a:pt x="0" y="102705"/>
                  </a:lnTo>
                  <a:close/>
                </a:path>
              </a:pathLst>
            </a:custGeom>
            <a:solidFill>
              <a:srgbClr val="B00B39">
                <a:alpha val="19608"/>
              </a:srgbClr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1033412" cy="1408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0" name="Freeform 20"/>
          <p:cNvSpPr/>
          <p:nvPr/>
        </p:nvSpPr>
        <p:spPr>
          <a:xfrm>
            <a:off x="1916784" y="2375834"/>
            <a:ext cx="14444907" cy="6283535"/>
          </a:xfrm>
          <a:custGeom>
            <a:avLst/>
            <a:gdLst/>
            <a:ahLst/>
            <a:cxnLst/>
            <a:rect l="l" t="t" r="r" b="b"/>
            <a:pathLst>
              <a:path w="14444907" h="6283535">
                <a:moveTo>
                  <a:pt x="0" y="0"/>
                </a:moveTo>
                <a:lnTo>
                  <a:pt x="14444907" y="0"/>
                </a:lnTo>
                <a:lnTo>
                  <a:pt x="14444907" y="6283534"/>
                </a:lnTo>
                <a:lnTo>
                  <a:pt x="0" y="62835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GR"/>
          </a:p>
        </p:txBody>
      </p:sp>
      <p:sp>
        <p:nvSpPr>
          <p:cNvPr id="26" name="TextBox 26"/>
          <p:cNvSpPr txBox="1"/>
          <p:nvPr/>
        </p:nvSpPr>
        <p:spPr>
          <a:xfrm>
            <a:off x="873658" y="952500"/>
            <a:ext cx="11425405" cy="573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19"/>
              </a:lnSpc>
              <a:spcBef>
                <a:spcPct val="0"/>
              </a:spcBef>
            </a:pPr>
            <a:r>
              <a:rPr lang="en-US" sz="3299" b="1" u="sng">
                <a:solidFill>
                  <a:srgbClr val="B00B39"/>
                </a:solidFill>
                <a:latin typeface="Cardo Bold"/>
                <a:ea typeface="Cardo Bold"/>
                <a:cs typeface="Cardo Bold"/>
                <a:sym typeface="Cardo Bold"/>
              </a:rPr>
              <a:t>Foundation Encoder: UNI2-h</a:t>
            </a:r>
          </a:p>
        </p:txBody>
      </p:sp>
      <p:grpSp>
        <p:nvGrpSpPr>
          <p:cNvPr id="27" name="Group 8">
            <a:extLst>
              <a:ext uri="{FF2B5EF4-FFF2-40B4-BE49-F238E27FC236}">
                <a16:creationId xmlns:a16="http://schemas.microsoft.com/office/drawing/2014/main" id="{F87601E3-0BE9-6728-D230-CD29DFDFAA93}"/>
              </a:ext>
            </a:extLst>
          </p:cNvPr>
          <p:cNvGrpSpPr/>
          <p:nvPr/>
        </p:nvGrpSpPr>
        <p:grpSpPr>
          <a:xfrm>
            <a:off x="3923736" y="-23943"/>
            <a:ext cx="3923736" cy="389959"/>
            <a:chOff x="0" y="0"/>
            <a:chExt cx="1033412" cy="102705"/>
          </a:xfrm>
        </p:grpSpPr>
        <p:sp>
          <p:nvSpPr>
            <p:cNvPr id="28" name="Freeform 9">
              <a:extLst>
                <a:ext uri="{FF2B5EF4-FFF2-40B4-BE49-F238E27FC236}">
                  <a16:creationId xmlns:a16="http://schemas.microsoft.com/office/drawing/2014/main" id="{82D17171-6D05-15F7-3DEC-8245AE399DEB}"/>
                </a:ext>
              </a:extLst>
            </p:cNvPr>
            <p:cNvSpPr/>
            <p:nvPr/>
          </p:nvSpPr>
          <p:spPr>
            <a:xfrm>
              <a:off x="0" y="0"/>
              <a:ext cx="1033412" cy="102705"/>
            </a:xfrm>
            <a:custGeom>
              <a:avLst/>
              <a:gdLst/>
              <a:ahLst/>
              <a:cxnLst/>
              <a:rect l="l" t="t" r="r" b="b"/>
              <a:pathLst>
                <a:path w="1033412" h="102705">
                  <a:moveTo>
                    <a:pt x="0" y="0"/>
                  </a:moveTo>
                  <a:lnTo>
                    <a:pt x="1033412" y="0"/>
                  </a:lnTo>
                  <a:lnTo>
                    <a:pt x="1033412" y="102705"/>
                  </a:lnTo>
                  <a:lnTo>
                    <a:pt x="0" y="102705"/>
                  </a:lnTo>
                  <a:close/>
                </a:path>
              </a:pathLst>
            </a:custGeom>
            <a:solidFill>
              <a:srgbClr val="B00B39"/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29" name="TextBox 10">
              <a:extLst>
                <a:ext uri="{FF2B5EF4-FFF2-40B4-BE49-F238E27FC236}">
                  <a16:creationId xmlns:a16="http://schemas.microsoft.com/office/drawing/2014/main" id="{893FB063-BDB1-29C0-3A0A-43D104E62710}"/>
                </a:ext>
              </a:extLst>
            </p:cNvPr>
            <p:cNvSpPr txBox="1"/>
            <p:nvPr/>
          </p:nvSpPr>
          <p:spPr>
            <a:xfrm>
              <a:off x="0" y="-38100"/>
              <a:ext cx="1033412" cy="1408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0" name="Group 11">
            <a:extLst>
              <a:ext uri="{FF2B5EF4-FFF2-40B4-BE49-F238E27FC236}">
                <a16:creationId xmlns:a16="http://schemas.microsoft.com/office/drawing/2014/main" id="{7C21BCEE-E7FC-0693-6ECD-0B66C47D78AB}"/>
              </a:ext>
            </a:extLst>
          </p:cNvPr>
          <p:cNvGrpSpPr/>
          <p:nvPr/>
        </p:nvGrpSpPr>
        <p:grpSpPr>
          <a:xfrm>
            <a:off x="7847472" y="-101928"/>
            <a:ext cx="3923736" cy="467944"/>
            <a:chOff x="0" y="0"/>
            <a:chExt cx="1033412" cy="123245"/>
          </a:xfrm>
        </p:grpSpPr>
        <p:sp>
          <p:nvSpPr>
            <p:cNvPr id="31" name="Freeform 12">
              <a:extLst>
                <a:ext uri="{FF2B5EF4-FFF2-40B4-BE49-F238E27FC236}">
                  <a16:creationId xmlns:a16="http://schemas.microsoft.com/office/drawing/2014/main" id="{23827490-1918-25E7-16A4-C3DBE5975CDD}"/>
                </a:ext>
              </a:extLst>
            </p:cNvPr>
            <p:cNvSpPr/>
            <p:nvPr/>
          </p:nvSpPr>
          <p:spPr>
            <a:xfrm>
              <a:off x="0" y="0"/>
              <a:ext cx="1033412" cy="123245"/>
            </a:xfrm>
            <a:custGeom>
              <a:avLst/>
              <a:gdLst/>
              <a:ahLst/>
              <a:cxnLst/>
              <a:rect l="l" t="t" r="r" b="b"/>
              <a:pathLst>
                <a:path w="1033412" h="123245">
                  <a:moveTo>
                    <a:pt x="0" y="0"/>
                  </a:moveTo>
                  <a:lnTo>
                    <a:pt x="1033412" y="0"/>
                  </a:lnTo>
                  <a:lnTo>
                    <a:pt x="1033412" y="123245"/>
                  </a:lnTo>
                  <a:lnTo>
                    <a:pt x="0" y="123245"/>
                  </a:lnTo>
                  <a:close/>
                </a:path>
              </a:pathLst>
            </a:custGeom>
            <a:solidFill>
              <a:srgbClr val="B00B39">
                <a:alpha val="19608"/>
              </a:srgbClr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32" name="TextBox 13">
              <a:extLst>
                <a:ext uri="{FF2B5EF4-FFF2-40B4-BE49-F238E27FC236}">
                  <a16:creationId xmlns:a16="http://schemas.microsoft.com/office/drawing/2014/main" id="{1B52C9DD-75C4-E54F-A1A7-E755C719EC41}"/>
                </a:ext>
              </a:extLst>
            </p:cNvPr>
            <p:cNvSpPr txBox="1"/>
            <p:nvPr/>
          </p:nvSpPr>
          <p:spPr>
            <a:xfrm>
              <a:off x="0" y="-38100"/>
              <a:ext cx="1033412" cy="1613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3" name="Group 14">
            <a:extLst>
              <a:ext uri="{FF2B5EF4-FFF2-40B4-BE49-F238E27FC236}">
                <a16:creationId xmlns:a16="http://schemas.microsoft.com/office/drawing/2014/main" id="{BFE9031D-E5E8-C878-481E-8DE235259D42}"/>
              </a:ext>
            </a:extLst>
          </p:cNvPr>
          <p:cNvGrpSpPr/>
          <p:nvPr/>
        </p:nvGrpSpPr>
        <p:grpSpPr>
          <a:xfrm>
            <a:off x="11771209" y="-23943"/>
            <a:ext cx="3923736" cy="389959"/>
            <a:chOff x="0" y="0"/>
            <a:chExt cx="1033412" cy="102705"/>
          </a:xfrm>
        </p:grpSpPr>
        <p:sp>
          <p:nvSpPr>
            <p:cNvPr id="34" name="Freeform 15">
              <a:extLst>
                <a:ext uri="{FF2B5EF4-FFF2-40B4-BE49-F238E27FC236}">
                  <a16:creationId xmlns:a16="http://schemas.microsoft.com/office/drawing/2014/main" id="{4FF82BE9-D24D-B509-F717-CAD29D73C825}"/>
                </a:ext>
              </a:extLst>
            </p:cNvPr>
            <p:cNvSpPr/>
            <p:nvPr/>
          </p:nvSpPr>
          <p:spPr>
            <a:xfrm>
              <a:off x="0" y="0"/>
              <a:ext cx="1033412" cy="102705"/>
            </a:xfrm>
            <a:custGeom>
              <a:avLst/>
              <a:gdLst/>
              <a:ahLst/>
              <a:cxnLst/>
              <a:rect l="l" t="t" r="r" b="b"/>
              <a:pathLst>
                <a:path w="1033412" h="102705">
                  <a:moveTo>
                    <a:pt x="0" y="0"/>
                  </a:moveTo>
                  <a:lnTo>
                    <a:pt x="1033412" y="0"/>
                  </a:lnTo>
                  <a:lnTo>
                    <a:pt x="1033412" y="102705"/>
                  </a:lnTo>
                  <a:lnTo>
                    <a:pt x="0" y="102705"/>
                  </a:lnTo>
                  <a:close/>
                </a:path>
              </a:pathLst>
            </a:custGeom>
            <a:solidFill>
              <a:srgbClr val="B00B39">
                <a:alpha val="19608"/>
              </a:srgbClr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35" name="TextBox 16">
              <a:extLst>
                <a:ext uri="{FF2B5EF4-FFF2-40B4-BE49-F238E27FC236}">
                  <a16:creationId xmlns:a16="http://schemas.microsoft.com/office/drawing/2014/main" id="{56A16F9A-6774-1A39-6DE4-8665CBD3BE43}"/>
                </a:ext>
              </a:extLst>
            </p:cNvPr>
            <p:cNvSpPr txBox="1"/>
            <p:nvPr/>
          </p:nvSpPr>
          <p:spPr>
            <a:xfrm>
              <a:off x="0" y="-38100"/>
              <a:ext cx="1033412" cy="1408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6" name="TextBox 22">
            <a:extLst>
              <a:ext uri="{FF2B5EF4-FFF2-40B4-BE49-F238E27FC236}">
                <a16:creationId xmlns:a16="http://schemas.microsoft.com/office/drawing/2014/main" id="{1EB98C49-12CD-99FB-9684-AB3BE3BCFF3B}"/>
              </a:ext>
            </a:extLst>
          </p:cNvPr>
          <p:cNvSpPr txBox="1"/>
          <p:nvPr/>
        </p:nvSpPr>
        <p:spPr>
          <a:xfrm>
            <a:off x="1146942" y="-12075"/>
            <a:ext cx="1629853" cy="342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2"/>
              </a:lnSpc>
            </a:pPr>
            <a:r>
              <a:rPr lang="en-US" sz="1951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Introduction </a:t>
            </a:r>
          </a:p>
        </p:txBody>
      </p:sp>
      <p:sp>
        <p:nvSpPr>
          <p:cNvPr id="37" name="TextBox 23">
            <a:extLst>
              <a:ext uri="{FF2B5EF4-FFF2-40B4-BE49-F238E27FC236}">
                <a16:creationId xmlns:a16="http://schemas.microsoft.com/office/drawing/2014/main" id="{F8B081F4-40F3-F13E-5FD6-A1B34835FE9D}"/>
              </a:ext>
            </a:extLst>
          </p:cNvPr>
          <p:cNvSpPr txBox="1"/>
          <p:nvPr/>
        </p:nvSpPr>
        <p:spPr>
          <a:xfrm>
            <a:off x="5073241" y="-12075"/>
            <a:ext cx="1941238" cy="3305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32"/>
              </a:lnSpc>
            </a:pPr>
            <a:r>
              <a:rPr lang="en-US" sz="1951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Methodology</a:t>
            </a:r>
          </a:p>
        </p:txBody>
      </p:sp>
      <p:sp>
        <p:nvSpPr>
          <p:cNvPr id="38" name="TextBox 24">
            <a:extLst>
              <a:ext uri="{FF2B5EF4-FFF2-40B4-BE49-F238E27FC236}">
                <a16:creationId xmlns:a16="http://schemas.microsoft.com/office/drawing/2014/main" id="{B5462418-5CF1-C00B-D0D9-8488649037F1}"/>
              </a:ext>
            </a:extLst>
          </p:cNvPr>
          <p:cNvSpPr txBox="1"/>
          <p:nvPr/>
        </p:nvSpPr>
        <p:spPr>
          <a:xfrm>
            <a:off x="9358004" y="-24047"/>
            <a:ext cx="1082526" cy="3242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32"/>
              </a:lnSpc>
            </a:pPr>
            <a:r>
              <a:rPr lang="en-US" sz="1951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Results</a:t>
            </a:r>
          </a:p>
        </p:txBody>
      </p:sp>
      <p:sp>
        <p:nvSpPr>
          <p:cNvPr id="39" name="TextBox 25">
            <a:extLst>
              <a:ext uri="{FF2B5EF4-FFF2-40B4-BE49-F238E27FC236}">
                <a16:creationId xmlns:a16="http://schemas.microsoft.com/office/drawing/2014/main" id="{61460FA9-56DD-E868-C567-A92A3E34DADB}"/>
              </a:ext>
            </a:extLst>
          </p:cNvPr>
          <p:cNvSpPr txBox="1"/>
          <p:nvPr/>
        </p:nvSpPr>
        <p:spPr>
          <a:xfrm>
            <a:off x="12604201" y="-12075"/>
            <a:ext cx="2788199" cy="3242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32"/>
              </a:lnSpc>
            </a:pPr>
            <a:r>
              <a:rPr lang="en-US" sz="1951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Critical Discussion</a:t>
            </a:r>
          </a:p>
        </p:txBody>
      </p:sp>
      <p:sp>
        <p:nvSpPr>
          <p:cNvPr id="40" name="TextBox 26">
            <a:extLst>
              <a:ext uri="{FF2B5EF4-FFF2-40B4-BE49-F238E27FC236}">
                <a16:creationId xmlns:a16="http://schemas.microsoft.com/office/drawing/2014/main" id="{1A11F735-B3D0-066F-3C1C-BA491420E310}"/>
              </a:ext>
            </a:extLst>
          </p:cNvPr>
          <p:cNvSpPr txBox="1"/>
          <p:nvPr/>
        </p:nvSpPr>
        <p:spPr>
          <a:xfrm>
            <a:off x="16408410" y="-24047"/>
            <a:ext cx="1498589" cy="3242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32"/>
              </a:lnSpc>
            </a:pPr>
            <a:r>
              <a:rPr lang="en-US" sz="1951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Conclusion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78475" cy="366016"/>
            <a:chOff x="0" y="0"/>
            <a:chExt cx="4814084" cy="9639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4084" cy="96399"/>
            </a:xfrm>
            <a:custGeom>
              <a:avLst/>
              <a:gdLst/>
              <a:ahLst/>
              <a:cxnLst/>
              <a:rect l="l" t="t" r="r" b="b"/>
              <a:pathLst>
                <a:path w="4814084" h="96399">
                  <a:moveTo>
                    <a:pt x="0" y="0"/>
                  </a:moveTo>
                  <a:lnTo>
                    <a:pt x="4814084" y="0"/>
                  </a:lnTo>
                  <a:lnTo>
                    <a:pt x="4814084" y="96399"/>
                  </a:lnTo>
                  <a:lnTo>
                    <a:pt x="0" y="96399"/>
                  </a:lnTo>
                  <a:close/>
                </a:path>
              </a:pathLst>
            </a:custGeom>
            <a:solidFill>
              <a:srgbClr val="897993"/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4084" cy="1344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-55288"/>
            <a:ext cx="3923736" cy="421303"/>
            <a:chOff x="0" y="0"/>
            <a:chExt cx="1033412" cy="11096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33412" cy="110961"/>
            </a:xfrm>
            <a:custGeom>
              <a:avLst/>
              <a:gdLst/>
              <a:ahLst/>
              <a:cxnLst/>
              <a:rect l="l" t="t" r="r" b="b"/>
              <a:pathLst>
                <a:path w="1033412" h="110961">
                  <a:moveTo>
                    <a:pt x="0" y="0"/>
                  </a:moveTo>
                  <a:lnTo>
                    <a:pt x="1033412" y="0"/>
                  </a:lnTo>
                  <a:lnTo>
                    <a:pt x="1033412" y="110961"/>
                  </a:lnTo>
                  <a:lnTo>
                    <a:pt x="0" y="110961"/>
                  </a:lnTo>
                  <a:close/>
                </a:path>
              </a:pathLst>
            </a:custGeom>
            <a:solidFill>
              <a:srgbClr val="B00B39">
                <a:alpha val="19608"/>
              </a:srgbClr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033412" cy="1490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5694945" y="-40855"/>
            <a:ext cx="3923736" cy="389959"/>
            <a:chOff x="0" y="0"/>
            <a:chExt cx="1033412" cy="102705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033412" cy="102705"/>
            </a:xfrm>
            <a:custGeom>
              <a:avLst/>
              <a:gdLst/>
              <a:ahLst/>
              <a:cxnLst/>
              <a:rect l="l" t="t" r="r" b="b"/>
              <a:pathLst>
                <a:path w="1033412" h="102705">
                  <a:moveTo>
                    <a:pt x="0" y="0"/>
                  </a:moveTo>
                  <a:lnTo>
                    <a:pt x="1033412" y="0"/>
                  </a:lnTo>
                  <a:lnTo>
                    <a:pt x="1033412" y="102705"/>
                  </a:lnTo>
                  <a:lnTo>
                    <a:pt x="0" y="102705"/>
                  </a:lnTo>
                  <a:close/>
                </a:path>
              </a:pathLst>
            </a:custGeom>
            <a:solidFill>
              <a:srgbClr val="B00B39">
                <a:alpha val="19608"/>
              </a:srgbClr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1033412" cy="1408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0" name="Freeform 20"/>
          <p:cNvSpPr/>
          <p:nvPr/>
        </p:nvSpPr>
        <p:spPr>
          <a:xfrm>
            <a:off x="1654822" y="2470595"/>
            <a:ext cx="15406365" cy="5345810"/>
          </a:xfrm>
          <a:custGeom>
            <a:avLst/>
            <a:gdLst/>
            <a:ahLst/>
            <a:cxnLst/>
            <a:rect l="l" t="t" r="r" b="b"/>
            <a:pathLst>
              <a:path w="15406365" h="5345810">
                <a:moveTo>
                  <a:pt x="0" y="0"/>
                </a:moveTo>
                <a:lnTo>
                  <a:pt x="15406364" y="0"/>
                </a:lnTo>
                <a:lnTo>
                  <a:pt x="15406364" y="5345810"/>
                </a:lnTo>
                <a:lnTo>
                  <a:pt x="0" y="53458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366" t="-106109"/>
            </a:stretch>
          </a:blipFill>
        </p:spPr>
        <p:txBody>
          <a:bodyPr/>
          <a:lstStyle/>
          <a:p>
            <a:endParaRPr lang="en-GR"/>
          </a:p>
        </p:txBody>
      </p:sp>
      <p:sp>
        <p:nvSpPr>
          <p:cNvPr id="26" name="TextBox 26"/>
          <p:cNvSpPr txBox="1"/>
          <p:nvPr/>
        </p:nvSpPr>
        <p:spPr>
          <a:xfrm>
            <a:off x="873658" y="952500"/>
            <a:ext cx="11425405" cy="573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19"/>
              </a:lnSpc>
              <a:spcBef>
                <a:spcPct val="0"/>
              </a:spcBef>
            </a:pPr>
            <a:r>
              <a:rPr lang="en-US" sz="3299" b="1" u="sng">
                <a:solidFill>
                  <a:srgbClr val="B00B39"/>
                </a:solidFill>
                <a:latin typeface="Cardo Bold"/>
                <a:ea typeface="Cardo Bold"/>
                <a:cs typeface="Cardo Bold"/>
                <a:sym typeface="Cardo Bold"/>
              </a:rPr>
              <a:t>Decoder: DeepLabV3-Style ASPP </a:t>
            </a:r>
          </a:p>
        </p:txBody>
      </p:sp>
      <p:grpSp>
        <p:nvGrpSpPr>
          <p:cNvPr id="27" name="Group 8">
            <a:extLst>
              <a:ext uri="{FF2B5EF4-FFF2-40B4-BE49-F238E27FC236}">
                <a16:creationId xmlns:a16="http://schemas.microsoft.com/office/drawing/2014/main" id="{C53DC971-5FA6-6568-3F35-A9EB57BD7CA8}"/>
              </a:ext>
            </a:extLst>
          </p:cNvPr>
          <p:cNvGrpSpPr/>
          <p:nvPr/>
        </p:nvGrpSpPr>
        <p:grpSpPr>
          <a:xfrm>
            <a:off x="3923736" y="-23943"/>
            <a:ext cx="3923736" cy="389959"/>
            <a:chOff x="0" y="0"/>
            <a:chExt cx="1033412" cy="102705"/>
          </a:xfrm>
        </p:grpSpPr>
        <p:sp>
          <p:nvSpPr>
            <p:cNvPr id="28" name="Freeform 9">
              <a:extLst>
                <a:ext uri="{FF2B5EF4-FFF2-40B4-BE49-F238E27FC236}">
                  <a16:creationId xmlns:a16="http://schemas.microsoft.com/office/drawing/2014/main" id="{7E5600A2-5CFD-4119-A4F8-6F371815E9B2}"/>
                </a:ext>
              </a:extLst>
            </p:cNvPr>
            <p:cNvSpPr/>
            <p:nvPr/>
          </p:nvSpPr>
          <p:spPr>
            <a:xfrm>
              <a:off x="0" y="0"/>
              <a:ext cx="1033412" cy="102705"/>
            </a:xfrm>
            <a:custGeom>
              <a:avLst/>
              <a:gdLst/>
              <a:ahLst/>
              <a:cxnLst/>
              <a:rect l="l" t="t" r="r" b="b"/>
              <a:pathLst>
                <a:path w="1033412" h="102705">
                  <a:moveTo>
                    <a:pt x="0" y="0"/>
                  </a:moveTo>
                  <a:lnTo>
                    <a:pt x="1033412" y="0"/>
                  </a:lnTo>
                  <a:lnTo>
                    <a:pt x="1033412" y="102705"/>
                  </a:lnTo>
                  <a:lnTo>
                    <a:pt x="0" y="102705"/>
                  </a:lnTo>
                  <a:close/>
                </a:path>
              </a:pathLst>
            </a:custGeom>
            <a:solidFill>
              <a:srgbClr val="B00B39"/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29" name="TextBox 10">
              <a:extLst>
                <a:ext uri="{FF2B5EF4-FFF2-40B4-BE49-F238E27FC236}">
                  <a16:creationId xmlns:a16="http://schemas.microsoft.com/office/drawing/2014/main" id="{BE9E6821-FC23-D931-5B6B-8A2DB05C95D3}"/>
                </a:ext>
              </a:extLst>
            </p:cNvPr>
            <p:cNvSpPr txBox="1"/>
            <p:nvPr/>
          </p:nvSpPr>
          <p:spPr>
            <a:xfrm>
              <a:off x="0" y="-38100"/>
              <a:ext cx="1033412" cy="1408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0" name="Group 11">
            <a:extLst>
              <a:ext uri="{FF2B5EF4-FFF2-40B4-BE49-F238E27FC236}">
                <a16:creationId xmlns:a16="http://schemas.microsoft.com/office/drawing/2014/main" id="{1E667CD7-0696-DFF5-862F-AEDB77FD3FE2}"/>
              </a:ext>
            </a:extLst>
          </p:cNvPr>
          <p:cNvGrpSpPr/>
          <p:nvPr/>
        </p:nvGrpSpPr>
        <p:grpSpPr>
          <a:xfrm>
            <a:off x="7847472" y="-101928"/>
            <a:ext cx="3923736" cy="467944"/>
            <a:chOff x="0" y="0"/>
            <a:chExt cx="1033412" cy="123245"/>
          </a:xfrm>
        </p:grpSpPr>
        <p:sp>
          <p:nvSpPr>
            <p:cNvPr id="31" name="Freeform 12">
              <a:extLst>
                <a:ext uri="{FF2B5EF4-FFF2-40B4-BE49-F238E27FC236}">
                  <a16:creationId xmlns:a16="http://schemas.microsoft.com/office/drawing/2014/main" id="{03B315C0-5C51-8A52-CE33-9FFE97EE325E}"/>
                </a:ext>
              </a:extLst>
            </p:cNvPr>
            <p:cNvSpPr/>
            <p:nvPr/>
          </p:nvSpPr>
          <p:spPr>
            <a:xfrm>
              <a:off x="0" y="0"/>
              <a:ext cx="1033412" cy="123245"/>
            </a:xfrm>
            <a:custGeom>
              <a:avLst/>
              <a:gdLst/>
              <a:ahLst/>
              <a:cxnLst/>
              <a:rect l="l" t="t" r="r" b="b"/>
              <a:pathLst>
                <a:path w="1033412" h="123245">
                  <a:moveTo>
                    <a:pt x="0" y="0"/>
                  </a:moveTo>
                  <a:lnTo>
                    <a:pt x="1033412" y="0"/>
                  </a:lnTo>
                  <a:lnTo>
                    <a:pt x="1033412" y="123245"/>
                  </a:lnTo>
                  <a:lnTo>
                    <a:pt x="0" y="123245"/>
                  </a:lnTo>
                  <a:close/>
                </a:path>
              </a:pathLst>
            </a:custGeom>
            <a:solidFill>
              <a:srgbClr val="B00B39">
                <a:alpha val="19608"/>
              </a:srgbClr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32" name="TextBox 13">
              <a:extLst>
                <a:ext uri="{FF2B5EF4-FFF2-40B4-BE49-F238E27FC236}">
                  <a16:creationId xmlns:a16="http://schemas.microsoft.com/office/drawing/2014/main" id="{A754521D-843F-860A-C8AE-784F4700F1B6}"/>
                </a:ext>
              </a:extLst>
            </p:cNvPr>
            <p:cNvSpPr txBox="1"/>
            <p:nvPr/>
          </p:nvSpPr>
          <p:spPr>
            <a:xfrm>
              <a:off x="0" y="-38100"/>
              <a:ext cx="1033412" cy="1613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3" name="Group 14">
            <a:extLst>
              <a:ext uri="{FF2B5EF4-FFF2-40B4-BE49-F238E27FC236}">
                <a16:creationId xmlns:a16="http://schemas.microsoft.com/office/drawing/2014/main" id="{5078E089-5394-1B08-AC77-EC4A98351FEB}"/>
              </a:ext>
            </a:extLst>
          </p:cNvPr>
          <p:cNvGrpSpPr/>
          <p:nvPr/>
        </p:nvGrpSpPr>
        <p:grpSpPr>
          <a:xfrm>
            <a:off x="11771209" y="-23943"/>
            <a:ext cx="3923736" cy="389959"/>
            <a:chOff x="0" y="0"/>
            <a:chExt cx="1033412" cy="102705"/>
          </a:xfrm>
        </p:grpSpPr>
        <p:sp>
          <p:nvSpPr>
            <p:cNvPr id="34" name="Freeform 15">
              <a:extLst>
                <a:ext uri="{FF2B5EF4-FFF2-40B4-BE49-F238E27FC236}">
                  <a16:creationId xmlns:a16="http://schemas.microsoft.com/office/drawing/2014/main" id="{833D0441-8DA7-04B6-BC12-3790574FDE05}"/>
                </a:ext>
              </a:extLst>
            </p:cNvPr>
            <p:cNvSpPr/>
            <p:nvPr/>
          </p:nvSpPr>
          <p:spPr>
            <a:xfrm>
              <a:off x="0" y="0"/>
              <a:ext cx="1033412" cy="102705"/>
            </a:xfrm>
            <a:custGeom>
              <a:avLst/>
              <a:gdLst/>
              <a:ahLst/>
              <a:cxnLst/>
              <a:rect l="l" t="t" r="r" b="b"/>
              <a:pathLst>
                <a:path w="1033412" h="102705">
                  <a:moveTo>
                    <a:pt x="0" y="0"/>
                  </a:moveTo>
                  <a:lnTo>
                    <a:pt x="1033412" y="0"/>
                  </a:lnTo>
                  <a:lnTo>
                    <a:pt x="1033412" y="102705"/>
                  </a:lnTo>
                  <a:lnTo>
                    <a:pt x="0" y="102705"/>
                  </a:lnTo>
                  <a:close/>
                </a:path>
              </a:pathLst>
            </a:custGeom>
            <a:solidFill>
              <a:srgbClr val="B00B39">
                <a:alpha val="19608"/>
              </a:srgbClr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35" name="TextBox 16">
              <a:extLst>
                <a:ext uri="{FF2B5EF4-FFF2-40B4-BE49-F238E27FC236}">
                  <a16:creationId xmlns:a16="http://schemas.microsoft.com/office/drawing/2014/main" id="{E8DEDC4F-4426-09E9-8D7E-DD9DA952976F}"/>
                </a:ext>
              </a:extLst>
            </p:cNvPr>
            <p:cNvSpPr txBox="1"/>
            <p:nvPr/>
          </p:nvSpPr>
          <p:spPr>
            <a:xfrm>
              <a:off x="0" y="-38100"/>
              <a:ext cx="1033412" cy="1408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6" name="TextBox 22">
            <a:extLst>
              <a:ext uri="{FF2B5EF4-FFF2-40B4-BE49-F238E27FC236}">
                <a16:creationId xmlns:a16="http://schemas.microsoft.com/office/drawing/2014/main" id="{B1735D70-22AF-119B-DD5E-86EF1FDF005D}"/>
              </a:ext>
            </a:extLst>
          </p:cNvPr>
          <p:cNvSpPr txBox="1"/>
          <p:nvPr/>
        </p:nvSpPr>
        <p:spPr>
          <a:xfrm>
            <a:off x="1146942" y="-12075"/>
            <a:ext cx="1629853" cy="342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2"/>
              </a:lnSpc>
            </a:pPr>
            <a:r>
              <a:rPr lang="en-US" sz="1951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Introduction </a:t>
            </a:r>
          </a:p>
        </p:txBody>
      </p:sp>
      <p:sp>
        <p:nvSpPr>
          <p:cNvPr id="37" name="TextBox 23">
            <a:extLst>
              <a:ext uri="{FF2B5EF4-FFF2-40B4-BE49-F238E27FC236}">
                <a16:creationId xmlns:a16="http://schemas.microsoft.com/office/drawing/2014/main" id="{D1E52DCB-3900-EB4D-CE9B-FFA697600D7A}"/>
              </a:ext>
            </a:extLst>
          </p:cNvPr>
          <p:cNvSpPr txBox="1"/>
          <p:nvPr/>
        </p:nvSpPr>
        <p:spPr>
          <a:xfrm>
            <a:off x="5073241" y="-12075"/>
            <a:ext cx="1941238" cy="3305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32"/>
              </a:lnSpc>
            </a:pPr>
            <a:r>
              <a:rPr lang="en-US" sz="1951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Methodology</a:t>
            </a:r>
          </a:p>
        </p:txBody>
      </p:sp>
      <p:sp>
        <p:nvSpPr>
          <p:cNvPr id="38" name="TextBox 24">
            <a:extLst>
              <a:ext uri="{FF2B5EF4-FFF2-40B4-BE49-F238E27FC236}">
                <a16:creationId xmlns:a16="http://schemas.microsoft.com/office/drawing/2014/main" id="{A001B297-11C4-3242-D3B5-6F61065088C0}"/>
              </a:ext>
            </a:extLst>
          </p:cNvPr>
          <p:cNvSpPr txBox="1"/>
          <p:nvPr/>
        </p:nvSpPr>
        <p:spPr>
          <a:xfrm>
            <a:off x="9358004" y="-24047"/>
            <a:ext cx="1082526" cy="3242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32"/>
              </a:lnSpc>
            </a:pPr>
            <a:r>
              <a:rPr lang="en-US" sz="1951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Results</a:t>
            </a:r>
          </a:p>
        </p:txBody>
      </p:sp>
      <p:sp>
        <p:nvSpPr>
          <p:cNvPr id="39" name="TextBox 25">
            <a:extLst>
              <a:ext uri="{FF2B5EF4-FFF2-40B4-BE49-F238E27FC236}">
                <a16:creationId xmlns:a16="http://schemas.microsoft.com/office/drawing/2014/main" id="{4B150C07-1507-BF32-6636-12DA2B766E75}"/>
              </a:ext>
            </a:extLst>
          </p:cNvPr>
          <p:cNvSpPr txBox="1"/>
          <p:nvPr/>
        </p:nvSpPr>
        <p:spPr>
          <a:xfrm>
            <a:off x="12604201" y="-12075"/>
            <a:ext cx="2788199" cy="3242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32"/>
              </a:lnSpc>
            </a:pPr>
            <a:r>
              <a:rPr lang="en-US" sz="1951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Critical Discussion</a:t>
            </a:r>
          </a:p>
        </p:txBody>
      </p:sp>
      <p:sp>
        <p:nvSpPr>
          <p:cNvPr id="40" name="TextBox 26">
            <a:extLst>
              <a:ext uri="{FF2B5EF4-FFF2-40B4-BE49-F238E27FC236}">
                <a16:creationId xmlns:a16="http://schemas.microsoft.com/office/drawing/2014/main" id="{80A9CD3A-5ADE-1E2E-3DC8-0339FAA5FD73}"/>
              </a:ext>
            </a:extLst>
          </p:cNvPr>
          <p:cNvSpPr txBox="1"/>
          <p:nvPr/>
        </p:nvSpPr>
        <p:spPr>
          <a:xfrm>
            <a:off x="16408410" y="-24047"/>
            <a:ext cx="1498589" cy="3242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32"/>
              </a:lnSpc>
            </a:pPr>
            <a:r>
              <a:rPr lang="en-US" sz="1951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Conclusion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78475" cy="366016"/>
            <a:chOff x="0" y="0"/>
            <a:chExt cx="4814084" cy="9639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4084" cy="96399"/>
            </a:xfrm>
            <a:custGeom>
              <a:avLst/>
              <a:gdLst/>
              <a:ahLst/>
              <a:cxnLst/>
              <a:rect l="l" t="t" r="r" b="b"/>
              <a:pathLst>
                <a:path w="4814084" h="96399">
                  <a:moveTo>
                    <a:pt x="0" y="0"/>
                  </a:moveTo>
                  <a:lnTo>
                    <a:pt x="4814084" y="0"/>
                  </a:lnTo>
                  <a:lnTo>
                    <a:pt x="4814084" y="96399"/>
                  </a:lnTo>
                  <a:lnTo>
                    <a:pt x="0" y="96399"/>
                  </a:lnTo>
                  <a:close/>
                </a:path>
              </a:pathLst>
            </a:custGeom>
            <a:solidFill>
              <a:srgbClr val="897993"/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4084" cy="1344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-55288"/>
            <a:ext cx="3923736" cy="421303"/>
            <a:chOff x="0" y="0"/>
            <a:chExt cx="1033412" cy="11096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33412" cy="110961"/>
            </a:xfrm>
            <a:custGeom>
              <a:avLst/>
              <a:gdLst/>
              <a:ahLst/>
              <a:cxnLst/>
              <a:rect l="l" t="t" r="r" b="b"/>
              <a:pathLst>
                <a:path w="1033412" h="110961">
                  <a:moveTo>
                    <a:pt x="0" y="0"/>
                  </a:moveTo>
                  <a:lnTo>
                    <a:pt x="1033412" y="0"/>
                  </a:lnTo>
                  <a:lnTo>
                    <a:pt x="1033412" y="110961"/>
                  </a:lnTo>
                  <a:lnTo>
                    <a:pt x="0" y="110961"/>
                  </a:lnTo>
                  <a:close/>
                </a:path>
              </a:pathLst>
            </a:custGeom>
            <a:solidFill>
              <a:srgbClr val="B00B39">
                <a:alpha val="19608"/>
              </a:srgbClr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033412" cy="1490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5694945" y="-40855"/>
            <a:ext cx="3923736" cy="389959"/>
            <a:chOff x="0" y="0"/>
            <a:chExt cx="1033412" cy="102705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033412" cy="102705"/>
            </a:xfrm>
            <a:custGeom>
              <a:avLst/>
              <a:gdLst/>
              <a:ahLst/>
              <a:cxnLst/>
              <a:rect l="l" t="t" r="r" b="b"/>
              <a:pathLst>
                <a:path w="1033412" h="102705">
                  <a:moveTo>
                    <a:pt x="0" y="0"/>
                  </a:moveTo>
                  <a:lnTo>
                    <a:pt x="1033412" y="0"/>
                  </a:lnTo>
                  <a:lnTo>
                    <a:pt x="1033412" y="102705"/>
                  </a:lnTo>
                  <a:lnTo>
                    <a:pt x="0" y="102705"/>
                  </a:lnTo>
                  <a:close/>
                </a:path>
              </a:pathLst>
            </a:custGeom>
            <a:solidFill>
              <a:srgbClr val="B00B39">
                <a:alpha val="19608"/>
              </a:srgbClr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1033412" cy="1408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0" name="Freeform 20"/>
          <p:cNvSpPr/>
          <p:nvPr/>
        </p:nvSpPr>
        <p:spPr>
          <a:xfrm>
            <a:off x="2646769" y="1945993"/>
            <a:ext cx="12984937" cy="7937043"/>
          </a:xfrm>
          <a:custGeom>
            <a:avLst/>
            <a:gdLst/>
            <a:ahLst/>
            <a:cxnLst/>
            <a:rect l="l" t="t" r="r" b="b"/>
            <a:pathLst>
              <a:path w="12984937" h="7937043">
                <a:moveTo>
                  <a:pt x="0" y="0"/>
                </a:moveTo>
                <a:lnTo>
                  <a:pt x="12984937" y="0"/>
                </a:lnTo>
                <a:lnTo>
                  <a:pt x="12984937" y="7937043"/>
                </a:lnTo>
                <a:lnTo>
                  <a:pt x="0" y="79370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GR"/>
          </a:p>
        </p:txBody>
      </p:sp>
      <p:sp>
        <p:nvSpPr>
          <p:cNvPr id="26" name="TextBox 26"/>
          <p:cNvSpPr txBox="1"/>
          <p:nvPr/>
        </p:nvSpPr>
        <p:spPr>
          <a:xfrm>
            <a:off x="873658" y="952500"/>
            <a:ext cx="11425405" cy="573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19"/>
              </a:lnSpc>
              <a:spcBef>
                <a:spcPct val="0"/>
              </a:spcBef>
            </a:pPr>
            <a:r>
              <a:rPr lang="en-US" sz="3299" b="1" u="sng">
                <a:solidFill>
                  <a:srgbClr val="B00B39"/>
                </a:solidFill>
                <a:latin typeface="Cardo Bold"/>
                <a:ea typeface="Cardo Bold"/>
                <a:cs typeface="Cardo Bold"/>
                <a:sym typeface="Cardo Bold"/>
              </a:rPr>
              <a:t>Final Model: UNI-2h + DeepLabV3-Style ASPP </a:t>
            </a:r>
          </a:p>
        </p:txBody>
      </p:sp>
      <p:grpSp>
        <p:nvGrpSpPr>
          <p:cNvPr id="27" name="Group 8">
            <a:extLst>
              <a:ext uri="{FF2B5EF4-FFF2-40B4-BE49-F238E27FC236}">
                <a16:creationId xmlns:a16="http://schemas.microsoft.com/office/drawing/2014/main" id="{814F8FA0-1E33-C3DD-939B-37450563C5A6}"/>
              </a:ext>
            </a:extLst>
          </p:cNvPr>
          <p:cNvGrpSpPr/>
          <p:nvPr/>
        </p:nvGrpSpPr>
        <p:grpSpPr>
          <a:xfrm>
            <a:off x="3923736" y="-23943"/>
            <a:ext cx="3923736" cy="389959"/>
            <a:chOff x="0" y="0"/>
            <a:chExt cx="1033412" cy="102705"/>
          </a:xfrm>
        </p:grpSpPr>
        <p:sp>
          <p:nvSpPr>
            <p:cNvPr id="28" name="Freeform 9">
              <a:extLst>
                <a:ext uri="{FF2B5EF4-FFF2-40B4-BE49-F238E27FC236}">
                  <a16:creationId xmlns:a16="http://schemas.microsoft.com/office/drawing/2014/main" id="{2D253BF1-831D-18F0-11DA-F791903B9B84}"/>
                </a:ext>
              </a:extLst>
            </p:cNvPr>
            <p:cNvSpPr/>
            <p:nvPr/>
          </p:nvSpPr>
          <p:spPr>
            <a:xfrm>
              <a:off x="0" y="0"/>
              <a:ext cx="1033412" cy="102705"/>
            </a:xfrm>
            <a:custGeom>
              <a:avLst/>
              <a:gdLst/>
              <a:ahLst/>
              <a:cxnLst/>
              <a:rect l="l" t="t" r="r" b="b"/>
              <a:pathLst>
                <a:path w="1033412" h="102705">
                  <a:moveTo>
                    <a:pt x="0" y="0"/>
                  </a:moveTo>
                  <a:lnTo>
                    <a:pt x="1033412" y="0"/>
                  </a:lnTo>
                  <a:lnTo>
                    <a:pt x="1033412" y="102705"/>
                  </a:lnTo>
                  <a:lnTo>
                    <a:pt x="0" y="102705"/>
                  </a:lnTo>
                  <a:close/>
                </a:path>
              </a:pathLst>
            </a:custGeom>
            <a:solidFill>
              <a:srgbClr val="B00B39"/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29" name="TextBox 10">
              <a:extLst>
                <a:ext uri="{FF2B5EF4-FFF2-40B4-BE49-F238E27FC236}">
                  <a16:creationId xmlns:a16="http://schemas.microsoft.com/office/drawing/2014/main" id="{26DF285A-190A-2348-A979-1781618A6228}"/>
                </a:ext>
              </a:extLst>
            </p:cNvPr>
            <p:cNvSpPr txBox="1"/>
            <p:nvPr/>
          </p:nvSpPr>
          <p:spPr>
            <a:xfrm>
              <a:off x="0" y="-38100"/>
              <a:ext cx="1033412" cy="1408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0" name="Group 11">
            <a:extLst>
              <a:ext uri="{FF2B5EF4-FFF2-40B4-BE49-F238E27FC236}">
                <a16:creationId xmlns:a16="http://schemas.microsoft.com/office/drawing/2014/main" id="{39B4B6E8-9623-3D35-EB20-F43383A61E77}"/>
              </a:ext>
            </a:extLst>
          </p:cNvPr>
          <p:cNvGrpSpPr/>
          <p:nvPr/>
        </p:nvGrpSpPr>
        <p:grpSpPr>
          <a:xfrm>
            <a:off x="7847472" y="-101928"/>
            <a:ext cx="3923736" cy="467944"/>
            <a:chOff x="0" y="0"/>
            <a:chExt cx="1033412" cy="123245"/>
          </a:xfrm>
        </p:grpSpPr>
        <p:sp>
          <p:nvSpPr>
            <p:cNvPr id="31" name="Freeform 12">
              <a:extLst>
                <a:ext uri="{FF2B5EF4-FFF2-40B4-BE49-F238E27FC236}">
                  <a16:creationId xmlns:a16="http://schemas.microsoft.com/office/drawing/2014/main" id="{3B33C450-EFE6-D093-782A-9B97D92FA48F}"/>
                </a:ext>
              </a:extLst>
            </p:cNvPr>
            <p:cNvSpPr/>
            <p:nvPr/>
          </p:nvSpPr>
          <p:spPr>
            <a:xfrm>
              <a:off x="0" y="0"/>
              <a:ext cx="1033412" cy="123245"/>
            </a:xfrm>
            <a:custGeom>
              <a:avLst/>
              <a:gdLst/>
              <a:ahLst/>
              <a:cxnLst/>
              <a:rect l="l" t="t" r="r" b="b"/>
              <a:pathLst>
                <a:path w="1033412" h="123245">
                  <a:moveTo>
                    <a:pt x="0" y="0"/>
                  </a:moveTo>
                  <a:lnTo>
                    <a:pt x="1033412" y="0"/>
                  </a:lnTo>
                  <a:lnTo>
                    <a:pt x="1033412" y="123245"/>
                  </a:lnTo>
                  <a:lnTo>
                    <a:pt x="0" y="123245"/>
                  </a:lnTo>
                  <a:close/>
                </a:path>
              </a:pathLst>
            </a:custGeom>
            <a:solidFill>
              <a:srgbClr val="B00B39">
                <a:alpha val="19608"/>
              </a:srgbClr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32" name="TextBox 13">
              <a:extLst>
                <a:ext uri="{FF2B5EF4-FFF2-40B4-BE49-F238E27FC236}">
                  <a16:creationId xmlns:a16="http://schemas.microsoft.com/office/drawing/2014/main" id="{F6ECD1A8-803B-FCB0-98D8-A6C3BC21EAC4}"/>
                </a:ext>
              </a:extLst>
            </p:cNvPr>
            <p:cNvSpPr txBox="1"/>
            <p:nvPr/>
          </p:nvSpPr>
          <p:spPr>
            <a:xfrm>
              <a:off x="0" y="-38100"/>
              <a:ext cx="1033412" cy="1613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3" name="Group 14">
            <a:extLst>
              <a:ext uri="{FF2B5EF4-FFF2-40B4-BE49-F238E27FC236}">
                <a16:creationId xmlns:a16="http://schemas.microsoft.com/office/drawing/2014/main" id="{E1591649-EFD2-9F06-CFE5-01E5F83090CB}"/>
              </a:ext>
            </a:extLst>
          </p:cNvPr>
          <p:cNvGrpSpPr/>
          <p:nvPr/>
        </p:nvGrpSpPr>
        <p:grpSpPr>
          <a:xfrm>
            <a:off x="11771209" y="-23943"/>
            <a:ext cx="3923736" cy="389959"/>
            <a:chOff x="0" y="0"/>
            <a:chExt cx="1033412" cy="102705"/>
          </a:xfrm>
        </p:grpSpPr>
        <p:sp>
          <p:nvSpPr>
            <p:cNvPr id="34" name="Freeform 15">
              <a:extLst>
                <a:ext uri="{FF2B5EF4-FFF2-40B4-BE49-F238E27FC236}">
                  <a16:creationId xmlns:a16="http://schemas.microsoft.com/office/drawing/2014/main" id="{B96AC0C0-82C4-1BF4-E0BD-6188C3BC50E6}"/>
                </a:ext>
              </a:extLst>
            </p:cNvPr>
            <p:cNvSpPr/>
            <p:nvPr/>
          </p:nvSpPr>
          <p:spPr>
            <a:xfrm>
              <a:off x="0" y="0"/>
              <a:ext cx="1033412" cy="102705"/>
            </a:xfrm>
            <a:custGeom>
              <a:avLst/>
              <a:gdLst/>
              <a:ahLst/>
              <a:cxnLst/>
              <a:rect l="l" t="t" r="r" b="b"/>
              <a:pathLst>
                <a:path w="1033412" h="102705">
                  <a:moveTo>
                    <a:pt x="0" y="0"/>
                  </a:moveTo>
                  <a:lnTo>
                    <a:pt x="1033412" y="0"/>
                  </a:lnTo>
                  <a:lnTo>
                    <a:pt x="1033412" y="102705"/>
                  </a:lnTo>
                  <a:lnTo>
                    <a:pt x="0" y="102705"/>
                  </a:lnTo>
                  <a:close/>
                </a:path>
              </a:pathLst>
            </a:custGeom>
            <a:solidFill>
              <a:srgbClr val="B00B39">
                <a:alpha val="19608"/>
              </a:srgbClr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35" name="TextBox 16">
              <a:extLst>
                <a:ext uri="{FF2B5EF4-FFF2-40B4-BE49-F238E27FC236}">
                  <a16:creationId xmlns:a16="http://schemas.microsoft.com/office/drawing/2014/main" id="{2624A96F-2C4E-48EE-404B-8EE2A15411B9}"/>
                </a:ext>
              </a:extLst>
            </p:cNvPr>
            <p:cNvSpPr txBox="1"/>
            <p:nvPr/>
          </p:nvSpPr>
          <p:spPr>
            <a:xfrm>
              <a:off x="0" y="-38100"/>
              <a:ext cx="1033412" cy="1408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6" name="TextBox 22">
            <a:extLst>
              <a:ext uri="{FF2B5EF4-FFF2-40B4-BE49-F238E27FC236}">
                <a16:creationId xmlns:a16="http://schemas.microsoft.com/office/drawing/2014/main" id="{6325FCED-BC8F-84DC-479F-9DB3ACBD2C78}"/>
              </a:ext>
            </a:extLst>
          </p:cNvPr>
          <p:cNvSpPr txBox="1"/>
          <p:nvPr/>
        </p:nvSpPr>
        <p:spPr>
          <a:xfrm>
            <a:off x="1146942" y="-12075"/>
            <a:ext cx="1629853" cy="342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2"/>
              </a:lnSpc>
            </a:pPr>
            <a:r>
              <a:rPr lang="en-US" sz="1951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Introduction </a:t>
            </a:r>
          </a:p>
        </p:txBody>
      </p:sp>
      <p:sp>
        <p:nvSpPr>
          <p:cNvPr id="37" name="TextBox 23">
            <a:extLst>
              <a:ext uri="{FF2B5EF4-FFF2-40B4-BE49-F238E27FC236}">
                <a16:creationId xmlns:a16="http://schemas.microsoft.com/office/drawing/2014/main" id="{0A8E346F-EC12-3894-AF50-A2390663939A}"/>
              </a:ext>
            </a:extLst>
          </p:cNvPr>
          <p:cNvSpPr txBox="1"/>
          <p:nvPr/>
        </p:nvSpPr>
        <p:spPr>
          <a:xfrm>
            <a:off x="5073241" y="-12075"/>
            <a:ext cx="1941238" cy="3305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32"/>
              </a:lnSpc>
            </a:pPr>
            <a:r>
              <a:rPr lang="en-US" sz="1951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Methodology</a:t>
            </a:r>
          </a:p>
        </p:txBody>
      </p:sp>
      <p:sp>
        <p:nvSpPr>
          <p:cNvPr id="38" name="TextBox 24">
            <a:extLst>
              <a:ext uri="{FF2B5EF4-FFF2-40B4-BE49-F238E27FC236}">
                <a16:creationId xmlns:a16="http://schemas.microsoft.com/office/drawing/2014/main" id="{FADB583A-CD91-715E-9AF2-4DE9F989DA6D}"/>
              </a:ext>
            </a:extLst>
          </p:cNvPr>
          <p:cNvSpPr txBox="1"/>
          <p:nvPr/>
        </p:nvSpPr>
        <p:spPr>
          <a:xfrm>
            <a:off x="9358004" y="-24047"/>
            <a:ext cx="1082526" cy="3242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32"/>
              </a:lnSpc>
            </a:pPr>
            <a:r>
              <a:rPr lang="en-US" sz="1951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Results</a:t>
            </a:r>
          </a:p>
        </p:txBody>
      </p:sp>
      <p:sp>
        <p:nvSpPr>
          <p:cNvPr id="39" name="TextBox 25">
            <a:extLst>
              <a:ext uri="{FF2B5EF4-FFF2-40B4-BE49-F238E27FC236}">
                <a16:creationId xmlns:a16="http://schemas.microsoft.com/office/drawing/2014/main" id="{6BEDD45C-6ACA-AA88-E8E9-0E03718F9635}"/>
              </a:ext>
            </a:extLst>
          </p:cNvPr>
          <p:cNvSpPr txBox="1"/>
          <p:nvPr/>
        </p:nvSpPr>
        <p:spPr>
          <a:xfrm>
            <a:off x="12604201" y="-12075"/>
            <a:ext cx="2788199" cy="3242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32"/>
              </a:lnSpc>
            </a:pPr>
            <a:r>
              <a:rPr lang="en-US" sz="1951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Critical Discussion</a:t>
            </a:r>
          </a:p>
        </p:txBody>
      </p:sp>
      <p:sp>
        <p:nvSpPr>
          <p:cNvPr id="40" name="TextBox 26">
            <a:extLst>
              <a:ext uri="{FF2B5EF4-FFF2-40B4-BE49-F238E27FC236}">
                <a16:creationId xmlns:a16="http://schemas.microsoft.com/office/drawing/2014/main" id="{5A0FF7B7-76CE-E6BA-B2B7-DC14C337427C}"/>
              </a:ext>
            </a:extLst>
          </p:cNvPr>
          <p:cNvSpPr txBox="1"/>
          <p:nvPr/>
        </p:nvSpPr>
        <p:spPr>
          <a:xfrm>
            <a:off x="16408410" y="-24047"/>
            <a:ext cx="1498589" cy="3242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32"/>
              </a:lnSpc>
            </a:pPr>
            <a:r>
              <a:rPr lang="en-US" sz="1951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Conclusion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78475" cy="366016"/>
            <a:chOff x="0" y="0"/>
            <a:chExt cx="4814084" cy="9639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4084" cy="96399"/>
            </a:xfrm>
            <a:custGeom>
              <a:avLst/>
              <a:gdLst/>
              <a:ahLst/>
              <a:cxnLst/>
              <a:rect l="l" t="t" r="r" b="b"/>
              <a:pathLst>
                <a:path w="4814084" h="96399">
                  <a:moveTo>
                    <a:pt x="0" y="0"/>
                  </a:moveTo>
                  <a:lnTo>
                    <a:pt x="4814084" y="0"/>
                  </a:lnTo>
                  <a:lnTo>
                    <a:pt x="4814084" y="96399"/>
                  </a:lnTo>
                  <a:lnTo>
                    <a:pt x="0" y="96399"/>
                  </a:lnTo>
                  <a:close/>
                </a:path>
              </a:pathLst>
            </a:custGeom>
            <a:solidFill>
              <a:srgbClr val="897993"/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4084" cy="1344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-55288"/>
            <a:ext cx="3923736" cy="421303"/>
            <a:chOff x="0" y="0"/>
            <a:chExt cx="1033412" cy="11096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33412" cy="110961"/>
            </a:xfrm>
            <a:custGeom>
              <a:avLst/>
              <a:gdLst/>
              <a:ahLst/>
              <a:cxnLst/>
              <a:rect l="l" t="t" r="r" b="b"/>
              <a:pathLst>
                <a:path w="1033412" h="110961">
                  <a:moveTo>
                    <a:pt x="0" y="0"/>
                  </a:moveTo>
                  <a:lnTo>
                    <a:pt x="1033412" y="0"/>
                  </a:lnTo>
                  <a:lnTo>
                    <a:pt x="1033412" y="110961"/>
                  </a:lnTo>
                  <a:lnTo>
                    <a:pt x="0" y="110961"/>
                  </a:lnTo>
                  <a:close/>
                </a:path>
              </a:pathLst>
            </a:custGeom>
            <a:solidFill>
              <a:srgbClr val="B00B39">
                <a:alpha val="19608"/>
              </a:srgbClr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033412" cy="1490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5694945" y="-40855"/>
            <a:ext cx="3923736" cy="389959"/>
            <a:chOff x="0" y="0"/>
            <a:chExt cx="1033412" cy="102705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033412" cy="102705"/>
            </a:xfrm>
            <a:custGeom>
              <a:avLst/>
              <a:gdLst/>
              <a:ahLst/>
              <a:cxnLst/>
              <a:rect l="l" t="t" r="r" b="b"/>
              <a:pathLst>
                <a:path w="1033412" h="102705">
                  <a:moveTo>
                    <a:pt x="0" y="0"/>
                  </a:moveTo>
                  <a:lnTo>
                    <a:pt x="1033412" y="0"/>
                  </a:lnTo>
                  <a:lnTo>
                    <a:pt x="1033412" y="102705"/>
                  </a:lnTo>
                  <a:lnTo>
                    <a:pt x="0" y="102705"/>
                  </a:lnTo>
                  <a:close/>
                </a:path>
              </a:pathLst>
            </a:custGeom>
            <a:solidFill>
              <a:srgbClr val="B00B39">
                <a:alpha val="19608"/>
              </a:srgbClr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1033412" cy="1408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873658" y="952500"/>
            <a:ext cx="11425405" cy="573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19"/>
              </a:lnSpc>
              <a:spcBef>
                <a:spcPct val="0"/>
              </a:spcBef>
            </a:pPr>
            <a:r>
              <a:rPr lang="en-US" sz="3299" b="1" u="sng">
                <a:solidFill>
                  <a:srgbClr val="B00B39"/>
                </a:solidFill>
                <a:latin typeface="Cardo Bold"/>
                <a:ea typeface="Cardo Bold"/>
                <a:cs typeface="Cardo Bold"/>
                <a:sym typeface="Cardo Bold"/>
              </a:rPr>
              <a:t>Training strategy</a:t>
            </a:r>
          </a:p>
        </p:txBody>
      </p:sp>
      <p:grpSp>
        <p:nvGrpSpPr>
          <p:cNvPr id="27" name="Group 8">
            <a:extLst>
              <a:ext uri="{FF2B5EF4-FFF2-40B4-BE49-F238E27FC236}">
                <a16:creationId xmlns:a16="http://schemas.microsoft.com/office/drawing/2014/main" id="{A5588E16-B4A4-C517-C91D-9B022A677498}"/>
              </a:ext>
            </a:extLst>
          </p:cNvPr>
          <p:cNvGrpSpPr/>
          <p:nvPr/>
        </p:nvGrpSpPr>
        <p:grpSpPr>
          <a:xfrm>
            <a:off x="3923736" y="-23943"/>
            <a:ext cx="3923736" cy="389959"/>
            <a:chOff x="0" y="0"/>
            <a:chExt cx="1033412" cy="102705"/>
          </a:xfrm>
        </p:grpSpPr>
        <p:sp>
          <p:nvSpPr>
            <p:cNvPr id="28" name="Freeform 9">
              <a:extLst>
                <a:ext uri="{FF2B5EF4-FFF2-40B4-BE49-F238E27FC236}">
                  <a16:creationId xmlns:a16="http://schemas.microsoft.com/office/drawing/2014/main" id="{1AAEFAB1-0E26-6D86-63E7-0F021EF0ACC5}"/>
                </a:ext>
              </a:extLst>
            </p:cNvPr>
            <p:cNvSpPr/>
            <p:nvPr/>
          </p:nvSpPr>
          <p:spPr>
            <a:xfrm>
              <a:off x="0" y="0"/>
              <a:ext cx="1033412" cy="102705"/>
            </a:xfrm>
            <a:custGeom>
              <a:avLst/>
              <a:gdLst/>
              <a:ahLst/>
              <a:cxnLst/>
              <a:rect l="l" t="t" r="r" b="b"/>
              <a:pathLst>
                <a:path w="1033412" h="102705">
                  <a:moveTo>
                    <a:pt x="0" y="0"/>
                  </a:moveTo>
                  <a:lnTo>
                    <a:pt x="1033412" y="0"/>
                  </a:lnTo>
                  <a:lnTo>
                    <a:pt x="1033412" y="102705"/>
                  </a:lnTo>
                  <a:lnTo>
                    <a:pt x="0" y="102705"/>
                  </a:lnTo>
                  <a:close/>
                </a:path>
              </a:pathLst>
            </a:custGeom>
            <a:solidFill>
              <a:srgbClr val="B00B39"/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29" name="TextBox 10">
              <a:extLst>
                <a:ext uri="{FF2B5EF4-FFF2-40B4-BE49-F238E27FC236}">
                  <a16:creationId xmlns:a16="http://schemas.microsoft.com/office/drawing/2014/main" id="{75F46F0A-45AB-4F13-4ED2-ADFF7D369C1E}"/>
                </a:ext>
              </a:extLst>
            </p:cNvPr>
            <p:cNvSpPr txBox="1"/>
            <p:nvPr/>
          </p:nvSpPr>
          <p:spPr>
            <a:xfrm>
              <a:off x="0" y="-38100"/>
              <a:ext cx="1033412" cy="1408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0" name="Group 11">
            <a:extLst>
              <a:ext uri="{FF2B5EF4-FFF2-40B4-BE49-F238E27FC236}">
                <a16:creationId xmlns:a16="http://schemas.microsoft.com/office/drawing/2014/main" id="{35A94918-336C-C580-694B-3FBFFC36F013}"/>
              </a:ext>
            </a:extLst>
          </p:cNvPr>
          <p:cNvGrpSpPr/>
          <p:nvPr/>
        </p:nvGrpSpPr>
        <p:grpSpPr>
          <a:xfrm>
            <a:off x="7847472" y="-101928"/>
            <a:ext cx="3923736" cy="467944"/>
            <a:chOff x="0" y="0"/>
            <a:chExt cx="1033412" cy="123245"/>
          </a:xfrm>
        </p:grpSpPr>
        <p:sp>
          <p:nvSpPr>
            <p:cNvPr id="31" name="Freeform 12">
              <a:extLst>
                <a:ext uri="{FF2B5EF4-FFF2-40B4-BE49-F238E27FC236}">
                  <a16:creationId xmlns:a16="http://schemas.microsoft.com/office/drawing/2014/main" id="{93D72EA9-19E3-2548-4E92-FDCCEB82C1AB}"/>
                </a:ext>
              </a:extLst>
            </p:cNvPr>
            <p:cNvSpPr/>
            <p:nvPr/>
          </p:nvSpPr>
          <p:spPr>
            <a:xfrm>
              <a:off x="0" y="0"/>
              <a:ext cx="1033412" cy="123245"/>
            </a:xfrm>
            <a:custGeom>
              <a:avLst/>
              <a:gdLst/>
              <a:ahLst/>
              <a:cxnLst/>
              <a:rect l="l" t="t" r="r" b="b"/>
              <a:pathLst>
                <a:path w="1033412" h="123245">
                  <a:moveTo>
                    <a:pt x="0" y="0"/>
                  </a:moveTo>
                  <a:lnTo>
                    <a:pt x="1033412" y="0"/>
                  </a:lnTo>
                  <a:lnTo>
                    <a:pt x="1033412" y="123245"/>
                  </a:lnTo>
                  <a:lnTo>
                    <a:pt x="0" y="123245"/>
                  </a:lnTo>
                  <a:close/>
                </a:path>
              </a:pathLst>
            </a:custGeom>
            <a:solidFill>
              <a:srgbClr val="B00B39">
                <a:alpha val="19608"/>
              </a:srgbClr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32" name="TextBox 13">
              <a:extLst>
                <a:ext uri="{FF2B5EF4-FFF2-40B4-BE49-F238E27FC236}">
                  <a16:creationId xmlns:a16="http://schemas.microsoft.com/office/drawing/2014/main" id="{ED122CD6-4010-D4D6-810B-93C4C1ECF787}"/>
                </a:ext>
              </a:extLst>
            </p:cNvPr>
            <p:cNvSpPr txBox="1"/>
            <p:nvPr/>
          </p:nvSpPr>
          <p:spPr>
            <a:xfrm>
              <a:off x="0" y="-38100"/>
              <a:ext cx="1033412" cy="1613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3" name="Group 14">
            <a:extLst>
              <a:ext uri="{FF2B5EF4-FFF2-40B4-BE49-F238E27FC236}">
                <a16:creationId xmlns:a16="http://schemas.microsoft.com/office/drawing/2014/main" id="{9C2EBE5E-0811-CC21-923B-32802C9E04EA}"/>
              </a:ext>
            </a:extLst>
          </p:cNvPr>
          <p:cNvGrpSpPr/>
          <p:nvPr/>
        </p:nvGrpSpPr>
        <p:grpSpPr>
          <a:xfrm>
            <a:off x="11771209" y="-23943"/>
            <a:ext cx="3923736" cy="389959"/>
            <a:chOff x="0" y="0"/>
            <a:chExt cx="1033412" cy="102705"/>
          </a:xfrm>
        </p:grpSpPr>
        <p:sp>
          <p:nvSpPr>
            <p:cNvPr id="34" name="Freeform 15">
              <a:extLst>
                <a:ext uri="{FF2B5EF4-FFF2-40B4-BE49-F238E27FC236}">
                  <a16:creationId xmlns:a16="http://schemas.microsoft.com/office/drawing/2014/main" id="{E238B13E-7261-B1EE-C96D-4817EEF20D91}"/>
                </a:ext>
              </a:extLst>
            </p:cNvPr>
            <p:cNvSpPr/>
            <p:nvPr/>
          </p:nvSpPr>
          <p:spPr>
            <a:xfrm>
              <a:off x="0" y="0"/>
              <a:ext cx="1033412" cy="102705"/>
            </a:xfrm>
            <a:custGeom>
              <a:avLst/>
              <a:gdLst/>
              <a:ahLst/>
              <a:cxnLst/>
              <a:rect l="l" t="t" r="r" b="b"/>
              <a:pathLst>
                <a:path w="1033412" h="102705">
                  <a:moveTo>
                    <a:pt x="0" y="0"/>
                  </a:moveTo>
                  <a:lnTo>
                    <a:pt x="1033412" y="0"/>
                  </a:lnTo>
                  <a:lnTo>
                    <a:pt x="1033412" y="102705"/>
                  </a:lnTo>
                  <a:lnTo>
                    <a:pt x="0" y="102705"/>
                  </a:lnTo>
                  <a:close/>
                </a:path>
              </a:pathLst>
            </a:custGeom>
            <a:solidFill>
              <a:srgbClr val="B00B39">
                <a:alpha val="19608"/>
              </a:srgbClr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35" name="TextBox 16">
              <a:extLst>
                <a:ext uri="{FF2B5EF4-FFF2-40B4-BE49-F238E27FC236}">
                  <a16:creationId xmlns:a16="http://schemas.microsoft.com/office/drawing/2014/main" id="{58C6E081-7A3A-A6FB-3F40-0301C5D048D8}"/>
                </a:ext>
              </a:extLst>
            </p:cNvPr>
            <p:cNvSpPr txBox="1"/>
            <p:nvPr/>
          </p:nvSpPr>
          <p:spPr>
            <a:xfrm>
              <a:off x="0" y="-38100"/>
              <a:ext cx="1033412" cy="1408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6" name="TextBox 22">
            <a:extLst>
              <a:ext uri="{FF2B5EF4-FFF2-40B4-BE49-F238E27FC236}">
                <a16:creationId xmlns:a16="http://schemas.microsoft.com/office/drawing/2014/main" id="{C29CC5E8-D857-92D6-AC4D-20B899603DA4}"/>
              </a:ext>
            </a:extLst>
          </p:cNvPr>
          <p:cNvSpPr txBox="1"/>
          <p:nvPr/>
        </p:nvSpPr>
        <p:spPr>
          <a:xfrm>
            <a:off x="1146942" y="-12075"/>
            <a:ext cx="1629853" cy="342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2"/>
              </a:lnSpc>
            </a:pPr>
            <a:r>
              <a:rPr lang="en-US" sz="1951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Introduction </a:t>
            </a:r>
          </a:p>
        </p:txBody>
      </p:sp>
      <p:sp>
        <p:nvSpPr>
          <p:cNvPr id="37" name="TextBox 23">
            <a:extLst>
              <a:ext uri="{FF2B5EF4-FFF2-40B4-BE49-F238E27FC236}">
                <a16:creationId xmlns:a16="http://schemas.microsoft.com/office/drawing/2014/main" id="{8AF2790A-C26E-25C8-9EF1-7E8BBC19661E}"/>
              </a:ext>
            </a:extLst>
          </p:cNvPr>
          <p:cNvSpPr txBox="1"/>
          <p:nvPr/>
        </p:nvSpPr>
        <p:spPr>
          <a:xfrm>
            <a:off x="5073241" y="-12075"/>
            <a:ext cx="1941238" cy="3305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32"/>
              </a:lnSpc>
            </a:pPr>
            <a:r>
              <a:rPr lang="en-US" sz="1951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Methodology</a:t>
            </a:r>
          </a:p>
        </p:txBody>
      </p:sp>
      <p:sp>
        <p:nvSpPr>
          <p:cNvPr id="38" name="TextBox 24">
            <a:extLst>
              <a:ext uri="{FF2B5EF4-FFF2-40B4-BE49-F238E27FC236}">
                <a16:creationId xmlns:a16="http://schemas.microsoft.com/office/drawing/2014/main" id="{79252FCB-3813-1A25-8CE5-1AAC9A82DD11}"/>
              </a:ext>
            </a:extLst>
          </p:cNvPr>
          <p:cNvSpPr txBox="1"/>
          <p:nvPr/>
        </p:nvSpPr>
        <p:spPr>
          <a:xfrm>
            <a:off x="9358004" y="-24047"/>
            <a:ext cx="1082526" cy="3242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32"/>
              </a:lnSpc>
            </a:pPr>
            <a:r>
              <a:rPr lang="en-US" sz="1951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Results</a:t>
            </a:r>
          </a:p>
        </p:txBody>
      </p:sp>
      <p:sp>
        <p:nvSpPr>
          <p:cNvPr id="39" name="TextBox 25">
            <a:extLst>
              <a:ext uri="{FF2B5EF4-FFF2-40B4-BE49-F238E27FC236}">
                <a16:creationId xmlns:a16="http://schemas.microsoft.com/office/drawing/2014/main" id="{E7C68E1B-84B7-6496-780F-F94EF8799755}"/>
              </a:ext>
            </a:extLst>
          </p:cNvPr>
          <p:cNvSpPr txBox="1"/>
          <p:nvPr/>
        </p:nvSpPr>
        <p:spPr>
          <a:xfrm>
            <a:off x="12604201" y="-12075"/>
            <a:ext cx="2788199" cy="3242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32"/>
              </a:lnSpc>
            </a:pPr>
            <a:r>
              <a:rPr lang="en-US" sz="1951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Critical Discussion</a:t>
            </a:r>
          </a:p>
        </p:txBody>
      </p:sp>
      <p:sp>
        <p:nvSpPr>
          <p:cNvPr id="40" name="TextBox 26">
            <a:extLst>
              <a:ext uri="{FF2B5EF4-FFF2-40B4-BE49-F238E27FC236}">
                <a16:creationId xmlns:a16="http://schemas.microsoft.com/office/drawing/2014/main" id="{ACF4EE3E-7092-2985-8CDF-59A561EC320A}"/>
              </a:ext>
            </a:extLst>
          </p:cNvPr>
          <p:cNvSpPr txBox="1"/>
          <p:nvPr/>
        </p:nvSpPr>
        <p:spPr>
          <a:xfrm>
            <a:off x="16408410" y="-24047"/>
            <a:ext cx="1498589" cy="3242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32"/>
              </a:lnSpc>
            </a:pPr>
            <a:r>
              <a:rPr lang="en-US" sz="1951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Conclusion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D560C92-F9B9-AD45-5328-5AD75DF9B9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658" y="3695700"/>
            <a:ext cx="12994742" cy="370371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78475" cy="366016"/>
            <a:chOff x="0" y="0"/>
            <a:chExt cx="4814084" cy="9639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4084" cy="96399"/>
            </a:xfrm>
            <a:custGeom>
              <a:avLst/>
              <a:gdLst/>
              <a:ahLst/>
              <a:cxnLst/>
              <a:rect l="l" t="t" r="r" b="b"/>
              <a:pathLst>
                <a:path w="4814084" h="96399">
                  <a:moveTo>
                    <a:pt x="0" y="0"/>
                  </a:moveTo>
                  <a:lnTo>
                    <a:pt x="4814084" y="0"/>
                  </a:lnTo>
                  <a:lnTo>
                    <a:pt x="4814084" y="96399"/>
                  </a:lnTo>
                  <a:lnTo>
                    <a:pt x="0" y="96399"/>
                  </a:lnTo>
                  <a:close/>
                </a:path>
              </a:pathLst>
            </a:custGeom>
            <a:solidFill>
              <a:srgbClr val="897993"/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4084" cy="1344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5694945" y="-40855"/>
            <a:ext cx="3923736" cy="389959"/>
            <a:chOff x="0" y="0"/>
            <a:chExt cx="1033412" cy="102705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033412" cy="102705"/>
            </a:xfrm>
            <a:custGeom>
              <a:avLst/>
              <a:gdLst/>
              <a:ahLst/>
              <a:cxnLst/>
              <a:rect l="l" t="t" r="r" b="b"/>
              <a:pathLst>
                <a:path w="1033412" h="102705">
                  <a:moveTo>
                    <a:pt x="0" y="0"/>
                  </a:moveTo>
                  <a:lnTo>
                    <a:pt x="1033412" y="0"/>
                  </a:lnTo>
                  <a:lnTo>
                    <a:pt x="1033412" y="102705"/>
                  </a:lnTo>
                  <a:lnTo>
                    <a:pt x="0" y="102705"/>
                  </a:lnTo>
                  <a:close/>
                </a:path>
              </a:pathLst>
            </a:custGeom>
            <a:solidFill>
              <a:srgbClr val="B00B39">
                <a:alpha val="19608"/>
              </a:srgbClr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1033412" cy="1408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49515" y="5025495"/>
            <a:ext cx="6818772" cy="1193821"/>
            <a:chOff x="0" y="0"/>
            <a:chExt cx="9091697" cy="1591761"/>
          </a:xfrm>
        </p:grpSpPr>
        <p:sp>
          <p:nvSpPr>
            <p:cNvPr id="21" name="Freeform 21"/>
            <p:cNvSpPr/>
            <p:nvPr/>
          </p:nvSpPr>
          <p:spPr>
            <a:xfrm>
              <a:off x="0" y="107016"/>
              <a:ext cx="4202082" cy="1384777"/>
            </a:xfrm>
            <a:custGeom>
              <a:avLst/>
              <a:gdLst/>
              <a:ahLst/>
              <a:cxnLst/>
              <a:rect l="l" t="t" r="r" b="b"/>
              <a:pathLst>
                <a:path w="4202082" h="1384777">
                  <a:moveTo>
                    <a:pt x="0" y="0"/>
                  </a:moveTo>
                  <a:lnTo>
                    <a:pt x="4202082" y="0"/>
                  </a:lnTo>
                  <a:lnTo>
                    <a:pt x="4202082" y="1384777"/>
                  </a:lnTo>
                  <a:lnTo>
                    <a:pt x="0" y="13847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GR"/>
            </a:p>
          </p:txBody>
        </p:sp>
        <p:sp>
          <p:nvSpPr>
            <p:cNvPr id="22" name="Freeform 22"/>
            <p:cNvSpPr/>
            <p:nvPr/>
          </p:nvSpPr>
          <p:spPr>
            <a:xfrm>
              <a:off x="4865296" y="0"/>
              <a:ext cx="4226400" cy="1591761"/>
            </a:xfrm>
            <a:custGeom>
              <a:avLst/>
              <a:gdLst/>
              <a:ahLst/>
              <a:cxnLst/>
              <a:rect l="l" t="t" r="r" b="b"/>
              <a:pathLst>
                <a:path w="4226400" h="1591761">
                  <a:moveTo>
                    <a:pt x="0" y="0"/>
                  </a:moveTo>
                  <a:lnTo>
                    <a:pt x="4226401" y="0"/>
                  </a:lnTo>
                  <a:lnTo>
                    <a:pt x="4226401" y="1591761"/>
                  </a:lnTo>
                  <a:lnTo>
                    <a:pt x="0" y="15917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GR"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859246" y="7493010"/>
            <a:ext cx="11276655" cy="1187626"/>
            <a:chOff x="0" y="0"/>
            <a:chExt cx="15035541" cy="1583502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9747373" cy="574090"/>
            </a:xfrm>
            <a:custGeom>
              <a:avLst/>
              <a:gdLst/>
              <a:ahLst/>
              <a:cxnLst/>
              <a:rect l="l" t="t" r="r" b="b"/>
              <a:pathLst>
                <a:path w="9747373" h="574090">
                  <a:moveTo>
                    <a:pt x="0" y="0"/>
                  </a:moveTo>
                  <a:lnTo>
                    <a:pt x="9747373" y="0"/>
                  </a:lnTo>
                  <a:lnTo>
                    <a:pt x="9747373" y="574090"/>
                  </a:lnTo>
                  <a:lnTo>
                    <a:pt x="0" y="5740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-3995"/>
              </a:stretch>
            </a:blipFill>
          </p:spPr>
          <p:txBody>
            <a:bodyPr/>
            <a:lstStyle/>
            <a:p>
              <a:endParaRPr lang="en-GR"/>
            </a:p>
          </p:txBody>
        </p:sp>
        <p:sp>
          <p:nvSpPr>
            <p:cNvPr id="25" name="Freeform 25"/>
            <p:cNvSpPr/>
            <p:nvPr/>
          </p:nvSpPr>
          <p:spPr>
            <a:xfrm>
              <a:off x="0" y="925697"/>
              <a:ext cx="15035541" cy="657805"/>
            </a:xfrm>
            <a:custGeom>
              <a:avLst/>
              <a:gdLst/>
              <a:ahLst/>
              <a:cxnLst/>
              <a:rect l="l" t="t" r="r" b="b"/>
              <a:pathLst>
                <a:path w="15035541" h="657805">
                  <a:moveTo>
                    <a:pt x="0" y="0"/>
                  </a:moveTo>
                  <a:lnTo>
                    <a:pt x="15035541" y="0"/>
                  </a:lnTo>
                  <a:lnTo>
                    <a:pt x="15035541" y="657805"/>
                  </a:lnTo>
                  <a:lnTo>
                    <a:pt x="0" y="6578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GR"/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873658" y="952500"/>
            <a:ext cx="11425405" cy="573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19"/>
              </a:lnSpc>
              <a:spcBef>
                <a:spcPct val="0"/>
              </a:spcBef>
            </a:pPr>
            <a:r>
              <a:rPr lang="en-US" sz="3299" b="1" u="sng">
                <a:solidFill>
                  <a:srgbClr val="B00B39"/>
                </a:solidFill>
                <a:latin typeface="Cardo Bold"/>
                <a:ea typeface="Cardo Bold"/>
                <a:cs typeface="Cardo Bold"/>
                <a:sym typeface="Cardo Bold"/>
              </a:rPr>
              <a:t>Model Evaluation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59245" y="2396173"/>
            <a:ext cx="16438155" cy="13556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 u="none" strike="noStrik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Semantic segmentation evaluation metrics measure the overlap between predicted and target masks</a:t>
            </a:r>
          </a:p>
          <a:p>
            <a:pPr marL="561341" lvl="1" indent="-280670" algn="l">
              <a:lnSpc>
                <a:spcPts val="3640"/>
              </a:lnSpc>
              <a:spcBef>
                <a:spcPct val="0"/>
              </a:spcBef>
              <a:buFont typeface="Arial"/>
              <a:buChar char="•"/>
            </a:pPr>
            <a:r>
              <a:rPr lang="en-US" sz="2600" u="none" strike="noStrik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Dice Similarity Coefficient</a:t>
            </a:r>
          </a:p>
          <a:p>
            <a:pPr marL="561341" lvl="1" indent="-280670" algn="l">
              <a:lnSpc>
                <a:spcPts val="3640"/>
              </a:lnSpc>
              <a:spcBef>
                <a:spcPct val="0"/>
              </a:spcBef>
              <a:buFont typeface="Arial"/>
              <a:buChar char="•"/>
            </a:pPr>
            <a:r>
              <a:rPr lang="en-US" sz="2600" u="none" strike="noStrik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Intersection over Union (</a:t>
            </a:r>
            <a:r>
              <a:rPr lang="en-US" sz="2600" u="none" strike="noStrik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IoU</a:t>
            </a:r>
            <a:r>
              <a:rPr lang="en-US" sz="2600" u="none" strike="noStrik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)</a:t>
            </a:r>
          </a:p>
        </p:txBody>
      </p:sp>
      <p:grpSp>
        <p:nvGrpSpPr>
          <p:cNvPr id="33" name="Group 8">
            <a:extLst>
              <a:ext uri="{FF2B5EF4-FFF2-40B4-BE49-F238E27FC236}">
                <a16:creationId xmlns:a16="http://schemas.microsoft.com/office/drawing/2014/main" id="{D944D2A0-1842-5325-D619-5220FA2BB479}"/>
              </a:ext>
            </a:extLst>
          </p:cNvPr>
          <p:cNvGrpSpPr/>
          <p:nvPr/>
        </p:nvGrpSpPr>
        <p:grpSpPr>
          <a:xfrm>
            <a:off x="3923736" y="-23943"/>
            <a:ext cx="3923736" cy="389959"/>
            <a:chOff x="0" y="0"/>
            <a:chExt cx="1033412" cy="102705"/>
          </a:xfrm>
        </p:grpSpPr>
        <p:sp>
          <p:nvSpPr>
            <p:cNvPr id="34" name="Freeform 9">
              <a:extLst>
                <a:ext uri="{FF2B5EF4-FFF2-40B4-BE49-F238E27FC236}">
                  <a16:creationId xmlns:a16="http://schemas.microsoft.com/office/drawing/2014/main" id="{4780ADA1-2BC9-95EE-7AC1-160940C0018E}"/>
                </a:ext>
              </a:extLst>
            </p:cNvPr>
            <p:cNvSpPr/>
            <p:nvPr/>
          </p:nvSpPr>
          <p:spPr>
            <a:xfrm>
              <a:off x="0" y="0"/>
              <a:ext cx="1033412" cy="102705"/>
            </a:xfrm>
            <a:custGeom>
              <a:avLst/>
              <a:gdLst/>
              <a:ahLst/>
              <a:cxnLst/>
              <a:rect l="l" t="t" r="r" b="b"/>
              <a:pathLst>
                <a:path w="1033412" h="102705">
                  <a:moveTo>
                    <a:pt x="0" y="0"/>
                  </a:moveTo>
                  <a:lnTo>
                    <a:pt x="1033412" y="0"/>
                  </a:lnTo>
                  <a:lnTo>
                    <a:pt x="1033412" y="102705"/>
                  </a:lnTo>
                  <a:lnTo>
                    <a:pt x="0" y="102705"/>
                  </a:lnTo>
                  <a:close/>
                </a:path>
              </a:pathLst>
            </a:custGeom>
            <a:solidFill>
              <a:srgbClr val="B00B39"/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35" name="TextBox 10">
              <a:extLst>
                <a:ext uri="{FF2B5EF4-FFF2-40B4-BE49-F238E27FC236}">
                  <a16:creationId xmlns:a16="http://schemas.microsoft.com/office/drawing/2014/main" id="{F2147373-5977-16C9-A1D8-3885C32CEFFE}"/>
                </a:ext>
              </a:extLst>
            </p:cNvPr>
            <p:cNvSpPr txBox="1"/>
            <p:nvPr/>
          </p:nvSpPr>
          <p:spPr>
            <a:xfrm>
              <a:off x="0" y="-38100"/>
              <a:ext cx="1033412" cy="1408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6" name="Group 11">
            <a:extLst>
              <a:ext uri="{FF2B5EF4-FFF2-40B4-BE49-F238E27FC236}">
                <a16:creationId xmlns:a16="http://schemas.microsoft.com/office/drawing/2014/main" id="{0FEC1BA7-E3DF-71BE-38DE-B38EF29EAA6B}"/>
              </a:ext>
            </a:extLst>
          </p:cNvPr>
          <p:cNvGrpSpPr/>
          <p:nvPr/>
        </p:nvGrpSpPr>
        <p:grpSpPr>
          <a:xfrm>
            <a:off x="7847472" y="-101928"/>
            <a:ext cx="3923736" cy="467944"/>
            <a:chOff x="0" y="0"/>
            <a:chExt cx="1033412" cy="123245"/>
          </a:xfrm>
        </p:grpSpPr>
        <p:sp>
          <p:nvSpPr>
            <p:cNvPr id="37" name="Freeform 12">
              <a:extLst>
                <a:ext uri="{FF2B5EF4-FFF2-40B4-BE49-F238E27FC236}">
                  <a16:creationId xmlns:a16="http://schemas.microsoft.com/office/drawing/2014/main" id="{E79B31DE-5E2F-1978-7E78-0A2738F00D7A}"/>
                </a:ext>
              </a:extLst>
            </p:cNvPr>
            <p:cNvSpPr/>
            <p:nvPr/>
          </p:nvSpPr>
          <p:spPr>
            <a:xfrm>
              <a:off x="0" y="0"/>
              <a:ext cx="1033412" cy="123245"/>
            </a:xfrm>
            <a:custGeom>
              <a:avLst/>
              <a:gdLst/>
              <a:ahLst/>
              <a:cxnLst/>
              <a:rect l="l" t="t" r="r" b="b"/>
              <a:pathLst>
                <a:path w="1033412" h="123245">
                  <a:moveTo>
                    <a:pt x="0" y="0"/>
                  </a:moveTo>
                  <a:lnTo>
                    <a:pt x="1033412" y="0"/>
                  </a:lnTo>
                  <a:lnTo>
                    <a:pt x="1033412" y="123245"/>
                  </a:lnTo>
                  <a:lnTo>
                    <a:pt x="0" y="123245"/>
                  </a:lnTo>
                  <a:close/>
                </a:path>
              </a:pathLst>
            </a:custGeom>
            <a:solidFill>
              <a:srgbClr val="B00B39">
                <a:alpha val="19608"/>
              </a:srgbClr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38" name="TextBox 13">
              <a:extLst>
                <a:ext uri="{FF2B5EF4-FFF2-40B4-BE49-F238E27FC236}">
                  <a16:creationId xmlns:a16="http://schemas.microsoft.com/office/drawing/2014/main" id="{4A3CA494-D673-23F7-3615-B243B3EA2230}"/>
                </a:ext>
              </a:extLst>
            </p:cNvPr>
            <p:cNvSpPr txBox="1"/>
            <p:nvPr/>
          </p:nvSpPr>
          <p:spPr>
            <a:xfrm>
              <a:off x="0" y="-38100"/>
              <a:ext cx="1033412" cy="1613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9" name="Group 14">
            <a:extLst>
              <a:ext uri="{FF2B5EF4-FFF2-40B4-BE49-F238E27FC236}">
                <a16:creationId xmlns:a16="http://schemas.microsoft.com/office/drawing/2014/main" id="{BE2B4054-1C41-3DA1-6408-BA641C267E84}"/>
              </a:ext>
            </a:extLst>
          </p:cNvPr>
          <p:cNvGrpSpPr/>
          <p:nvPr/>
        </p:nvGrpSpPr>
        <p:grpSpPr>
          <a:xfrm>
            <a:off x="11771209" y="-23943"/>
            <a:ext cx="3923736" cy="389959"/>
            <a:chOff x="0" y="0"/>
            <a:chExt cx="1033412" cy="102705"/>
          </a:xfrm>
        </p:grpSpPr>
        <p:sp>
          <p:nvSpPr>
            <p:cNvPr id="40" name="Freeform 15">
              <a:extLst>
                <a:ext uri="{FF2B5EF4-FFF2-40B4-BE49-F238E27FC236}">
                  <a16:creationId xmlns:a16="http://schemas.microsoft.com/office/drawing/2014/main" id="{66A0D0D7-C8B1-41E3-A1B0-C027776A72A2}"/>
                </a:ext>
              </a:extLst>
            </p:cNvPr>
            <p:cNvSpPr/>
            <p:nvPr/>
          </p:nvSpPr>
          <p:spPr>
            <a:xfrm>
              <a:off x="0" y="0"/>
              <a:ext cx="1033412" cy="102705"/>
            </a:xfrm>
            <a:custGeom>
              <a:avLst/>
              <a:gdLst/>
              <a:ahLst/>
              <a:cxnLst/>
              <a:rect l="l" t="t" r="r" b="b"/>
              <a:pathLst>
                <a:path w="1033412" h="102705">
                  <a:moveTo>
                    <a:pt x="0" y="0"/>
                  </a:moveTo>
                  <a:lnTo>
                    <a:pt x="1033412" y="0"/>
                  </a:lnTo>
                  <a:lnTo>
                    <a:pt x="1033412" y="102705"/>
                  </a:lnTo>
                  <a:lnTo>
                    <a:pt x="0" y="102705"/>
                  </a:lnTo>
                  <a:close/>
                </a:path>
              </a:pathLst>
            </a:custGeom>
            <a:solidFill>
              <a:srgbClr val="B00B39">
                <a:alpha val="19608"/>
              </a:srgbClr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41" name="TextBox 16">
              <a:extLst>
                <a:ext uri="{FF2B5EF4-FFF2-40B4-BE49-F238E27FC236}">
                  <a16:creationId xmlns:a16="http://schemas.microsoft.com/office/drawing/2014/main" id="{5B8737E9-C010-14AD-EB72-9D2D2F3CE7E8}"/>
                </a:ext>
              </a:extLst>
            </p:cNvPr>
            <p:cNvSpPr txBox="1"/>
            <p:nvPr/>
          </p:nvSpPr>
          <p:spPr>
            <a:xfrm>
              <a:off x="0" y="-38100"/>
              <a:ext cx="1033412" cy="1408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42" name="TextBox 22">
            <a:extLst>
              <a:ext uri="{FF2B5EF4-FFF2-40B4-BE49-F238E27FC236}">
                <a16:creationId xmlns:a16="http://schemas.microsoft.com/office/drawing/2014/main" id="{02549DE5-1F1F-E0F8-D898-54B1D47494C8}"/>
              </a:ext>
            </a:extLst>
          </p:cNvPr>
          <p:cNvSpPr txBox="1"/>
          <p:nvPr/>
        </p:nvSpPr>
        <p:spPr>
          <a:xfrm>
            <a:off x="1146942" y="-12075"/>
            <a:ext cx="1629853" cy="342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2"/>
              </a:lnSpc>
            </a:pPr>
            <a:r>
              <a:rPr lang="en-US" sz="1951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Introduction </a:t>
            </a:r>
          </a:p>
        </p:txBody>
      </p:sp>
      <p:sp>
        <p:nvSpPr>
          <p:cNvPr id="43" name="TextBox 23">
            <a:extLst>
              <a:ext uri="{FF2B5EF4-FFF2-40B4-BE49-F238E27FC236}">
                <a16:creationId xmlns:a16="http://schemas.microsoft.com/office/drawing/2014/main" id="{E9C5643E-5D0C-F01D-4377-8E1162518D21}"/>
              </a:ext>
            </a:extLst>
          </p:cNvPr>
          <p:cNvSpPr txBox="1"/>
          <p:nvPr/>
        </p:nvSpPr>
        <p:spPr>
          <a:xfrm>
            <a:off x="5073241" y="-12075"/>
            <a:ext cx="1941238" cy="3305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32"/>
              </a:lnSpc>
            </a:pPr>
            <a:r>
              <a:rPr lang="en-US" sz="1951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Methodology</a:t>
            </a:r>
          </a:p>
        </p:txBody>
      </p:sp>
      <p:sp>
        <p:nvSpPr>
          <p:cNvPr id="44" name="TextBox 24">
            <a:extLst>
              <a:ext uri="{FF2B5EF4-FFF2-40B4-BE49-F238E27FC236}">
                <a16:creationId xmlns:a16="http://schemas.microsoft.com/office/drawing/2014/main" id="{961EEEE0-3959-584F-2DDC-39DCF1B22FAD}"/>
              </a:ext>
            </a:extLst>
          </p:cNvPr>
          <p:cNvSpPr txBox="1"/>
          <p:nvPr/>
        </p:nvSpPr>
        <p:spPr>
          <a:xfrm>
            <a:off x="9358004" y="-24047"/>
            <a:ext cx="1082526" cy="3242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32"/>
              </a:lnSpc>
            </a:pPr>
            <a:r>
              <a:rPr lang="en-US" sz="1951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Results</a:t>
            </a:r>
          </a:p>
        </p:txBody>
      </p:sp>
      <p:sp>
        <p:nvSpPr>
          <p:cNvPr id="45" name="TextBox 25">
            <a:extLst>
              <a:ext uri="{FF2B5EF4-FFF2-40B4-BE49-F238E27FC236}">
                <a16:creationId xmlns:a16="http://schemas.microsoft.com/office/drawing/2014/main" id="{85BE544A-5D17-2904-25D6-A974A49CC166}"/>
              </a:ext>
            </a:extLst>
          </p:cNvPr>
          <p:cNvSpPr txBox="1"/>
          <p:nvPr/>
        </p:nvSpPr>
        <p:spPr>
          <a:xfrm>
            <a:off x="12604201" y="-12075"/>
            <a:ext cx="2788199" cy="3242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32"/>
              </a:lnSpc>
            </a:pPr>
            <a:r>
              <a:rPr lang="en-US" sz="1951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Critical Discussion</a:t>
            </a:r>
          </a:p>
        </p:txBody>
      </p:sp>
      <p:sp>
        <p:nvSpPr>
          <p:cNvPr id="46" name="TextBox 26">
            <a:extLst>
              <a:ext uri="{FF2B5EF4-FFF2-40B4-BE49-F238E27FC236}">
                <a16:creationId xmlns:a16="http://schemas.microsoft.com/office/drawing/2014/main" id="{9CE83654-56E3-FD8E-26B7-8BD191936B9D}"/>
              </a:ext>
            </a:extLst>
          </p:cNvPr>
          <p:cNvSpPr txBox="1"/>
          <p:nvPr/>
        </p:nvSpPr>
        <p:spPr>
          <a:xfrm>
            <a:off x="16408410" y="-24047"/>
            <a:ext cx="1498589" cy="3242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32"/>
              </a:lnSpc>
            </a:pPr>
            <a:r>
              <a:rPr lang="en-US" sz="1951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Conclusion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78475" cy="366016"/>
            <a:chOff x="0" y="0"/>
            <a:chExt cx="4814084" cy="9639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4084" cy="96399"/>
            </a:xfrm>
            <a:custGeom>
              <a:avLst/>
              <a:gdLst/>
              <a:ahLst/>
              <a:cxnLst/>
              <a:rect l="l" t="t" r="r" b="b"/>
              <a:pathLst>
                <a:path w="4814084" h="96399">
                  <a:moveTo>
                    <a:pt x="0" y="0"/>
                  </a:moveTo>
                  <a:lnTo>
                    <a:pt x="4814084" y="0"/>
                  </a:lnTo>
                  <a:lnTo>
                    <a:pt x="4814084" y="96399"/>
                  </a:lnTo>
                  <a:lnTo>
                    <a:pt x="0" y="96399"/>
                  </a:lnTo>
                  <a:close/>
                </a:path>
              </a:pathLst>
            </a:custGeom>
            <a:solidFill>
              <a:srgbClr val="897993"/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4084" cy="1344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-55288"/>
            <a:ext cx="3923736" cy="421303"/>
            <a:chOff x="0" y="0"/>
            <a:chExt cx="1033412" cy="11096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33412" cy="110961"/>
            </a:xfrm>
            <a:custGeom>
              <a:avLst/>
              <a:gdLst/>
              <a:ahLst/>
              <a:cxnLst/>
              <a:rect l="l" t="t" r="r" b="b"/>
              <a:pathLst>
                <a:path w="1033412" h="110961">
                  <a:moveTo>
                    <a:pt x="0" y="0"/>
                  </a:moveTo>
                  <a:lnTo>
                    <a:pt x="1033412" y="0"/>
                  </a:lnTo>
                  <a:lnTo>
                    <a:pt x="1033412" y="110961"/>
                  </a:lnTo>
                  <a:lnTo>
                    <a:pt x="0" y="110961"/>
                  </a:lnTo>
                  <a:close/>
                </a:path>
              </a:pathLst>
            </a:custGeom>
            <a:solidFill>
              <a:srgbClr val="B00B39">
                <a:alpha val="19608"/>
              </a:srgbClr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033412" cy="1490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5694945" y="-40855"/>
            <a:ext cx="3923736" cy="389959"/>
            <a:chOff x="0" y="0"/>
            <a:chExt cx="1033412" cy="102705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033412" cy="102705"/>
            </a:xfrm>
            <a:custGeom>
              <a:avLst/>
              <a:gdLst/>
              <a:ahLst/>
              <a:cxnLst/>
              <a:rect l="l" t="t" r="r" b="b"/>
              <a:pathLst>
                <a:path w="1033412" h="102705">
                  <a:moveTo>
                    <a:pt x="0" y="0"/>
                  </a:moveTo>
                  <a:lnTo>
                    <a:pt x="1033412" y="0"/>
                  </a:lnTo>
                  <a:lnTo>
                    <a:pt x="1033412" y="102705"/>
                  </a:lnTo>
                  <a:lnTo>
                    <a:pt x="0" y="102705"/>
                  </a:lnTo>
                  <a:close/>
                </a:path>
              </a:pathLst>
            </a:custGeom>
            <a:solidFill>
              <a:srgbClr val="B00B39">
                <a:alpha val="19608"/>
              </a:srgbClr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1033412" cy="1408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873658" y="952500"/>
            <a:ext cx="14969093" cy="573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19"/>
              </a:lnSpc>
              <a:spcBef>
                <a:spcPct val="0"/>
              </a:spcBef>
            </a:pPr>
            <a:r>
              <a:rPr lang="en-US" sz="3299" b="1" u="sng">
                <a:solidFill>
                  <a:srgbClr val="B00B39"/>
                </a:solidFill>
                <a:latin typeface="Cardo Bold"/>
                <a:ea typeface="Cardo Bold"/>
                <a:cs typeface="Cardo Bold"/>
                <a:sym typeface="Cardo Bold"/>
              </a:rPr>
              <a:t>Thresholding &amp; Post-processing - Three-Stage Threshold Search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73658" y="2849859"/>
            <a:ext cx="16253966" cy="45872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endParaRPr dirty="0"/>
          </a:p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 b="1" u="none" strike="noStrike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Stage 1 - Coarse search:</a:t>
            </a:r>
          </a:p>
          <a:p>
            <a:pPr marL="561341" lvl="1" indent="-280670">
              <a:lnSpc>
                <a:spcPts val="3640"/>
              </a:lnSpc>
              <a:spcBef>
                <a:spcPct val="0"/>
              </a:spcBef>
              <a:buFont typeface="Arial"/>
              <a:buChar char="•"/>
            </a:pPr>
            <a:r>
              <a:rPr lang="en-US" sz="2600" u="none" strike="noStrik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Test thresholds from 0.50–0.78, try light Gaussian </a:t>
            </a:r>
            <a:r>
              <a:rPr lang="en-US" sz="26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smoothing (</a:t>
            </a:r>
            <a:r>
              <a:rPr lang="el-GR" sz="2600" dirty="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σ = 0.0 → 1.0</a:t>
            </a:r>
            <a:r>
              <a:rPr lang="en-US" sz="2600" dirty="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)</a:t>
            </a:r>
            <a:r>
              <a:rPr lang="en-US" sz="26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and </a:t>
            </a:r>
            <a:r>
              <a:rPr lang="en-US" sz="2600" u="none" strike="noStrik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mild morphological opening (0-1) / closing (1-2)</a:t>
            </a:r>
          </a:p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 b="1" u="none" strike="noStrike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Stage 2 - Refinement:</a:t>
            </a:r>
          </a:p>
          <a:p>
            <a:pPr marL="561341" lvl="1" indent="-280670" algn="l">
              <a:lnSpc>
                <a:spcPts val="3640"/>
              </a:lnSpc>
              <a:spcBef>
                <a:spcPct val="0"/>
              </a:spcBef>
              <a:buFont typeface="Arial"/>
              <a:buChar char="•"/>
            </a:pPr>
            <a:r>
              <a:rPr lang="en-US" sz="2600" u="none" strike="noStrik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Narrow the search around the best values; adjust filter sizes</a:t>
            </a:r>
          </a:p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 b="1" u="none" strike="noStrike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Stage 3 - Final selection</a:t>
            </a:r>
            <a:r>
              <a:rPr lang="el-GR" sz="2600" b="1" u="none" strike="noStrike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sz="2600" b="1" u="none" strike="noStrike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on validation set:</a:t>
            </a:r>
          </a:p>
          <a:p>
            <a:pPr marL="561341" lvl="1" indent="-280670" algn="l">
              <a:lnSpc>
                <a:spcPts val="3640"/>
              </a:lnSpc>
              <a:spcBef>
                <a:spcPct val="0"/>
              </a:spcBef>
              <a:buFont typeface="Arial"/>
              <a:buChar char="•"/>
            </a:pPr>
            <a:r>
              <a:rPr lang="en-US" sz="2600" u="none" strike="noStrik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Pick the threshold + cleaning setup that gives highest validation Dice/Jaccard</a:t>
            </a:r>
          </a:p>
          <a:p>
            <a:pPr algn="l">
              <a:lnSpc>
                <a:spcPts val="3640"/>
              </a:lnSpc>
              <a:spcBef>
                <a:spcPct val="0"/>
              </a:spcBef>
            </a:pPr>
            <a:endParaRPr lang="en-US" sz="2600" u="none" strike="noStrike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3640"/>
              </a:lnSpc>
              <a:spcBef>
                <a:spcPct val="0"/>
              </a:spcBef>
            </a:pPr>
            <a:endParaRPr lang="en-US" sz="2600" u="none" strike="noStrike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41" name="Group 8">
            <a:extLst>
              <a:ext uri="{FF2B5EF4-FFF2-40B4-BE49-F238E27FC236}">
                <a16:creationId xmlns:a16="http://schemas.microsoft.com/office/drawing/2014/main" id="{262718BC-D6D2-FD2D-5652-87E9C9E5CCBA}"/>
              </a:ext>
            </a:extLst>
          </p:cNvPr>
          <p:cNvGrpSpPr/>
          <p:nvPr/>
        </p:nvGrpSpPr>
        <p:grpSpPr>
          <a:xfrm>
            <a:off x="3923736" y="-23943"/>
            <a:ext cx="3923736" cy="389959"/>
            <a:chOff x="0" y="0"/>
            <a:chExt cx="1033412" cy="102705"/>
          </a:xfrm>
        </p:grpSpPr>
        <p:sp>
          <p:nvSpPr>
            <p:cNvPr id="42" name="Freeform 9">
              <a:extLst>
                <a:ext uri="{FF2B5EF4-FFF2-40B4-BE49-F238E27FC236}">
                  <a16:creationId xmlns:a16="http://schemas.microsoft.com/office/drawing/2014/main" id="{527490B3-55F3-6EC5-D08F-210527BD1D2B}"/>
                </a:ext>
              </a:extLst>
            </p:cNvPr>
            <p:cNvSpPr/>
            <p:nvPr/>
          </p:nvSpPr>
          <p:spPr>
            <a:xfrm>
              <a:off x="0" y="0"/>
              <a:ext cx="1033412" cy="102705"/>
            </a:xfrm>
            <a:custGeom>
              <a:avLst/>
              <a:gdLst/>
              <a:ahLst/>
              <a:cxnLst/>
              <a:rect l="l" t="t" r="r" b="b"/>
              <a:pathLst>
                <a:path w="1033412" h="102705">
                  <a:moveTo>
                    <a:pt x="0" y="0"/>
                  </a:moveTo>
                  <a:lnTo>
                    <a:pt x="1033412" y="0"/>
                  </a:lnTo>
                  <a:lnTo>
                    <a:pt x="1033412" y="102705"/>
                  </a:lnTo>
                  <a:lnTo>
                    <a:pt x="0" y="102705"/>
                  </a:lnTo>
                  <a:close/>
                </a:path>
              </a:pathLst>
            </a:custGeom>
            <a:solidFill>
              <a:srgbClr val="B00B39"/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43" name="TextBox 10">
              <a:extLst>
                <a:ext uri="{FF2B5EF4-FFF2-40B4-BE49-F238E27FC236}">
                  <a16:creationId xmlns:a16="http://schemas.microsoft.com/office/drawing/2014/main" id="{A1CA4E01-584D-5800-C487-CFE99AAA975B}"/>
                </a:ext>
              </a:extLst>
            </p:cNvPr>
            <p:cNvSpPr txBox="1"/>
            <p:nvPr/>
          </p:nvSpPr>
          <p:spPr>
            <a:xfrm>
              <a:off x="0" y="-38100"/>
              <a:ext cx="1033412" cy="1408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44" name="Group 11">
            <a:extLst>
              <a:ext uri="{FF2B5EF4-FFF2-40B4-BE49-F238E27FC236}">
                <a16:creationId xmlns:a16="http://schemas.microsoft.com/office/drawing/2014/main" id="{D0542A04-4539-559F-3157-8F90FD3B69C4}"/>
              </a:ext>
            </a:extLst>
          </p:cNvPr>
          <p:cNvGrpSpPr/>
          <p:nvPr/>
        </p:nvGrpSpPr>
        <p:grpSpPr>
          <a:xfrm>
            <a:off x="7847472" y="-101928"/>
            <a:ext cx="3923736" cy="467944"/>
            <a:chOff x="0" y="0"/>
            <a:chExt cx="1033412" cy="123245"/>
          </a:xfrm>
        </p:grpSpPr>
        <p:sp>
          <p:nvSpPr>
            <p:cNvPr id="45" name="Freeform 12">
              <a:extLst>
                <a:ext uri="{FF2B5EF4-FFF2-40B4-BE49-F238E27FC236}">
                  <a16:creationId xmlns:a16="http://schemas.microsoft.com/office/drawing/2014/main" id="{5C113555-3F09-F9CF-B3C7-25199F4E46A0}"/>
                </a:ext>
              </a:extLst>
            </p:cNvPr>
            <p:cNvSpPr/>
            <p:nvPr/>
          </p:nvSpPr>
          <p:spPr>
            <a:xfrm>
              <a:off x="0" y="0"/>
              <a:ext cx="1033412" cy="123245"/>
            </a:xfrm>
            <a:custGeom>
              <a:avLst/>
              <a:gdLst/>
              <a:ahLst/>
              <a:cxnLst/>
              <a:rect l="l" t="t" r="r" b="b"/>
              <a:pathLst>
                <a:path w="1033412" h="123245">
                  <a:moveTo>
                    <a:pt x="0" y="0"/>
                  </a:moveTo>
                  <a:lnTo>
                    <a:pt x="1033412" y="0"/>
                  </a:lnTo>
                  <a:lnTo>
                    <a:pt x="1033412" y="123245"/>
                  </a:lnTo>
                  <a:lnTo>
                    <a:pt x="0" y="123245"/>
                  </a:lnTo>
                  <a:close/>
                </a:path>
              </a:pathLst>
            </a:custGeom>
            <a:solidFill>
              <a:srgbClr val="B00B39">
                <a:alpha val="19608"/>
              </a:srgbClr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46" name="TextBox 13">
              <a:extLst>
                <a:ext uri="{FF2B5EF4-FFF2-40B4-BE49-F238E27FC236}">
                  <a16:creationId xmlns:a16="http://schemas.microsoft.com/office/drawing/2014/main" id="{15B34782-F05D-705E-35F1-E6BA6D0EB080}"/>
                </a:ext>
              </a:extLst>
            </p:cNvPr>
            <p:cNvSpPr txBox="1"/>
            <p:nvPr/>
          </p:nvSpPr>
          <p:spPr>
            <a:xfrm>
              <a:off x="0" y="-38100"/>
              <a:ext cx="1033412" cy="1613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47" name="Group 14">
            <a:extLst>
              <a:ext uri="{FF2B5EF4-FFF2-40B4-BE49-F238E27FC236}">
                <a16:creationId xmlns:a16="http://schemas.microsoft.com/office/drawing/2014/main" id="{21B35CD2-956E-16DE-5D06-8C887FF217BA}"/>
              </a:ext>
            </a:extLst>
          </p:cNvPr>
          <p:cNvGrpSpPr/>
          <p:nvPr/>
        </p:nvGrpSpPr>
        <p:grpSpPr>
          <a:xfrm>
            <a:off x="11771209" y="-23943"/>
            <a:ext cx="3923736" cy="389959"/>
            <a:chOff x="0" y="0"/>
            <a:chExt cx="1033412" cy="102705"/>
          </a:xfrm>
        </p:grpSpPr>
        <p:sp>
          <p:nvSpPr>
            <p:cNvPr id="48" name="Freeform 15">
              <a:extLst>
                <a:ext uri="{FF2B5EF4-FFF2-40B4-BE49-F238E27FC236}">
                  <a16:creationId xmlns:a16="http://schemas.microsoft.com/office/drawing/2014/main" id="{48EB7F97-EF66-AE2D-7245-C1C7E3C4B75A}"/>
                </a:ext>
              </a:extLst>
            </p:cNvPr>
            <p:cNvSpPr/>
            <p:nvPr/>
          </p:nvSpPr>
          <p:spPr>
            <a:xfrm>
              <a:off x="0" y="0"/>
              <a:ext cx="1033412" cy="102705"/>
            </a:xfrm>
            <a:custGeom>
              <a:avLst/>
              <a:gdLst/>
              <a:ahLst/>
              <a:cxnLst/>
              <a:rect l="l" t="t" r="r" b="b"/>
              <a:pathLst>
                <a:path w="1033412" h="102705">
                  <a:moveTo>
                    <a:pt x="0" y="0"/>
                  </a:moveTo>
                  <a:lnTo>
                    <a:pt x="1033412" y="0"/>
                  </a:lnTo>
                  <a:lnTo>
                    <a:pt x="1033412" y="102705"/>
                  </a:lnTo>
                  <a:lnTo>
                    <a:pt x="0" y="102705"/>
                  </a:lnTo>
                  <a:close/>
                </a:path>
              </a:pathLst>
            </a:custGeom>
            <a:solidFill>
              <a:srgbClr val="B00B39">
                <a:alpha val="19608"/>
              </a:srgbClr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49" name="TextBox 16">
              <a:extLst>
                <a:ext uri="{FF2B5EF4-FFF2-40B4-BE49-F238E27FC236}">
                  <a16:creationId xmlns:a16="http://schemas.microsoft.com/office/drawing/2014/main" id="{1E2FC652-5B18-3224-3907-00965228F6CB}"/>
                </a:ext>
              </a:extLst>
            </p:cNvPr>
            <p:cNvSpPr txBox="1"/>
            <p:nvPr/>
          </p:nvSpPr>
          <p:spPr>
            <a:xfrm>
              <a:off x="0" y="-38100"/>
              <a:ext cx="1033412" cy="1408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0" name="TextBox 22">
            <a:extLst>
              <a:ext uri="{FF2B5EF4-FFF2-40B4-BE49-F238E27FC236}">
                <a16:creationId xmlns:a16="http://schemas.microsoft.com/office/drawing/2014/main" id="{F280B84B-D1B4-1863-74D6-7AC064DFCE92}"/>
              </a:ext>
            </a:extLst>
          </p:cNvPr>
          <p:cNvSpPr txBox="1"/>
          <p:nvPr/>
        </p:nvSpPr>
        <p:spPr>
          <a:xfrm>
            <a:off x="1146942" y="-12075"/>
            <a:ext cx="1629853" cy="342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2"/>
              </a:lnSpc>
            </a:pPr>
            <a:r>
              <a:rPr lang="en-US" sz="1951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Introduction </a:t>
            </a:r>
          </a:p>
        </p:txBody>
      </p:sp>
      <p:sp>
        <p:nvSpPr>
          <p:cNvPr id="51" name="TextBox 23">
            <a:extLst>
              <a:ext uri="{FF2B5EF4-FFF2-40B4-BE49-F238E27FC236}">
                <a16:creationId xmlns:a16="http://schemas.microsoft.com/office/drawing/2014/main" id="{2F582DFD-2CDA-7BA5-8817-A3AA477F662A}"/>
              </a:ext>
            </a:extLst>
          </p:cNvPr>
          <p:cNvSpPr txBox="1"/>
          <p:nvPr/>
        </p:nvSpPr>
        <p:spPr>
          <a:xfrm>
            <a:off x="5073241" y="-12075"/>
            <a:ext cx="1941238" cy="3305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32"/>
              </a:lnSpc>
            </a:pPr>
            <a:r>
              <a:rPr lang="en-US" sz="1951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Methodology</a:t>
            </a:r>
          </a:p>
        </p:txBody>
      </p:sp>
      <p:sp>
        <p:nvSpPr>
          <p:cNvPr id="52" name="TextBox 24">
            <a:extLst>
              <a:ext uri="{FF2B5EF4-FFF2-40B4-BE49-F238E27FC236}">
                <a16:creationId xmlns:a16="http://schemas.microsoft.com/office/drawing/2014/main" id="{CE989689-3270-DC31-EEA9-0151B7001722}"/>
              </a:ext>
            </a:extLst>
          </p:cNvPr>
          <p:cNvSpPr txBox="1"/>
          <p:nvPr/>
        </p:nvSpPr>
        <p:spPr>
          <a:xfrm>
            <a:off x="9358004" y="-24047"/>
            <a:ext cx="1082526" cy="3242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32"/>
              </a:lnSpc>
            </a:pPr>
            <a:r>
              <a:rPr lang="en-US" sz="1951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Results</a:t>
            </a:r>
          </a:p>
        </p:txBody>
      </p:sp>
      <p:sp>
        <p:nvSpPr>
          <p:cNvPr id="53" name="TextBox 25">
            <a:extLst>
              <a:ext uri="{FF2B5EF4-FFF2-40B4-BE49-F238E27FC236}">
                <a16:creationId xmlns:a16="http://schemas.microsoft.com/office/drawing/2014/main" id="{39DB0096-AE88-2ED9-82E9-1749E9BC0F45}"/>
              </a:ext>
            </a:extLst>
          </p:cNvPr>
          <p:cNvSpPr txBox="1"/>
          <p:nvPr/>
        </p:nvSpPr>
        <p:spPr>
          <a:xfrm>
            <a:off x="12604201" y="-12075"/>
            <a:ext cx="2788199" cy="3242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32"/>
              </a:lnSpc>
            </a:pPr>
            <a:r>
              <a:rPr lang="en-US" sz="1951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Critical Discussion</a:t>
            </a:r>
          </a:p>
        </p:txBody>
      </p:sp>
      <p:sp>
        <p:nvSpPr>
          <p:cNvPr id="54" name="TextBox 26">
            <a:extLst>
              <a:ext uri="{FF2B5EF4-FFF2-40B4-BE49-F238E27FC236}">
                <a16:creationId xmlns:a16="http://schemas.microsoft.com/office/drawing/2014/main" id="{DE8F1264-46D5-CF4D-1F8C-184F63067ED1}"/>
              </a:ext>
            </a:extLst>
          </p:cNvPr>
          <p:cNvSpPr txBox="1"/>
          <p:nvPr/>
        </p:nvSpPr>
        <p:spPr>
          <a:xfrm>
            <a:off x="16408410" y="-24047"/>
            <a:ext cx="1498589" cy="3242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32"/>
              </a:lnSpc>
            </a:pPr>
            <a:r>
              <a:rPr lang="en-US" sz="1951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Conclusion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78475" cy="366016"/>
            <a:chOff x="0" y="0"/>
            <a:chExt cx="4814084" cy="9639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4084" cy="96399"/>
            </a:xfrm>
            <a:custGeom>
              <a:avLst/>
              <a:gdLst/>
              <a:ahLst/>
              <a:cxnLst/>
              <a:rect l="l" t="t" r="r" b="b"/>
              <a:pathLst>
                <a:path w="4814084" h="96399">
                  <a:moveTo>
                    <a:pt x="0" y="0"/>
                  </a:moveTo>
                  <a:lnTo>
                    <a:pt x="4814084" y="0"/>
                  </a:lnTo>
                  <a:lnTo>
                    <a:pt x="4814084" y="96399"/>
                  </a:lnTo>
                  <a:lnTo>
                    <a:pt x="0" y="96399"/>
                  </a:lnTo>
                  <a:close/>
                </a:path>
              </a:pathLst>
            </a:custGeom>
            <a:solidFill>
              <a:srgbClr val="897993"/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4084" cy="1344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-55288"/>
            <a:ext cx="3923736" cy="421303"/>
            <a:chOff x="0" y="0"/>
            <a:chExt cx="1033412" cy="11096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33412" cy="110961"/>
            </a:xfrm>
            <a:custGeom>
              <a:avLst/>
              <a:gdLst/>
              <a:ahLst/>
              <a:cxnLst/>
              <a:rect l="l" t="t" r="r" b="b"/>
              <a:pathLst>
                <a:path w="1033412" h="110961">
                  <a:moveTo>
                    <a:pt x="0" y="0"/>
                  </a:moveTo>
                  <a:lnTo>
                    <a:pt x="1033412" y="0"/>
                  </a:lnTo>
                  <a:lnTo>
                    <a:pt x="1033412" y="110961"/>
                  </a:lnTo>
                  <a:lnTo>
                    <a:pt x="0" y="110961"/>
                  </a:lnTo>
                  <a:close/>
                </a:path>
              </a:pathLst>
            </a:custGeom>
            <a:solidFill>
              <a:srgbClr val="B00B39">
                <a:alpha val="19608"/>
              </a:srgbClr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033412" cy="1490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923736" y="-23943"/>
            <a:ext cx="3923736" cy="389959"/>
            <a:chOff x="0" y="0"/>
            <a:chExt cx="1033412" cy="10270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33412" cy="102705"/>
            </a:xfrm>
            <a:custGeom>
              <a:avLst/>
              <a:gdLst/>
              <a:ahLst/>
              <a:cxnLst/>
              <a:rect l="l" t="t" r="r" b="b"/>
              <a:pathLst>
                <a:path w="1033412" h="102705">
                  <a:moveTo>
                    <a:pt x="0" y="0"/>
                  </a:moveTo>
                  <a:lnTo>
                    <a:pt x="1033412" y="0"/>
                  </a:lnTo>
                  <a:lnTo>
                    <a:pt x="1033412" y="102705"/>
                  </a:lnTo>
                  <a:lnTo>
                    <a:pt x="0" y="102705"/>
                  </a:lnTo>
                  <a:close/>
                </a:path>
              </a:pathLst>
            </a:custGeom>
            <a:solidFill>
              <a:srgbClr val="B00B39">
                <a:alpha val="19608"/>
              </a:srgbClr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033412" cy="1408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847472" y="-101928"/>
            <a:ext cx="3923736" cy="467944"/>
            <a:chOff x="0" y="0"/>
            <a:chExt cx="1033412" cy="12324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33412" cy="123245"/>
            </a:xfrm>
            <a:custGeom>
              <a:avLst/>
              <a:gdLst/>
              <a:ahLst/>
              <a:cxnLst/>
              <a:rect l="l" t="t" r="r" b="b"/>
              <a:pathLst>
                <a:path w="1033412" h="123245">
                  <a:moveTo>
                    <a:pt x="0" y="0"/>
                  </a:moveTo>
                  <a:lnTo>
                    <a:pt x="1033412" y="0"/>
                  </a:lnTo>
                  <a:lnTo>
                    <a:pt x="1033412" y="123245"/>
                  </a:lnTo>
                  <a:lnTo>
                    <a:pt x="0" y="123245"/>
                  </a:lnTo>
                  <a:close/>
                </a:path>
              </a:pathLst>
            </a:custGeom>
            <a:solidFill>
              <a:srgbClr val="B00B39"/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033412" cy="1613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1771209" y="-23943"/>
            <a:ext cx="3923736" cy="389959"/>
            <a:chOff x="0" y="0"/>
            <a:chExt cx="1033412" cy="10270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33412" cy="102705"/>
            </a:xfrm>
            <a:custGeom>
              <a:avLst/>
              <a:gdLst/>
              <a:ahLst/>
              <a:cxnLst/>
              <a:rect l="l" t="t" r="r" b="b"/>
              <a:pathLst>
                <a:path w="1033412" h="102705">
                  <a:moveTo>
                    <a:pt x="0" y="0"/>
                  </a:moveTo>
                  <a:lnTo>
                    <a:pt x="1033412" y="0"/>
                  </a:lnTo>
                  <a:lnTo>
                    <a:pt x="1033412" y="102705"/>
                  </a:lnTo>
                  <a:lnTo>
                    <a:pt x="0" y="102705"/>
                  </a:lnTo>
                  <a:close/>
                </a:path>
              </a:pathLst>
            </a:custGeom>
            <a:solidFill>
              <a:srgbClr val="B00B39">
                <a:alpha val="19608"/>
              </a:srgbClr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1033412" cy="1408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5694945" y="-40855"/>
            <a:ext cx="3923736" cy="389959"/>
            <a:chOff x="0" y="0"/>
            <a:chExt cx="1033412" cy="102705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033412" cy="102705"/>
            </a:xfrm>
            <a:custGeom>
              <a:avLst/>
              <a:gdLst/>
              <a:ahLst/>
              <a:cxnLst/>
              <a:rect l="l" t="t" r="r" b="b"/>
              <a:pathLst>
                <a:path w="1033412" h="102705">
                  <a:moveTo>
                    <a:pt x="0" y="0"/>
                  </a:moveTo>
                  <a:lnTo>
                    <a:pt x="1033412" y="0"/>
                  </a:lnTo>
                  <a:lnTo>
                    <a:pt x="1033412" y="102705"/>
                  </a:lnTo>
                  <a:lnTo>
                    <a:pt x="0" y="102705"/>
                  </a:lnTo>
                  <a:close/>
                </a:path>
              </a:pathLst>
            </a:custGeom>
            <a:solidFill>
              <a:srgbClr val="B00B39">
                <a:alpha val="19608"/>
              </a:srgbClr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1033412" cy="1408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0" name="Freeform 20"/>
          <p:cNvSpPr/>
          <p:nvPr/>
        </p:nvSpPr>
        <p:spPr>
          <a:xfrm>
            <a:off x="632825" y="2569871"/>
            <a:ext cx="9320552" cy="5732139"/>
          </a:xfrm>
          <a:custGeom>
            <a:avLst/>
            <a:gdLst/>
            <a:ahLst/>
            <a:cxnLst/>
            <a:rect l="l" t="t" r="r" b="b"/>
            <a:pathLst>
              <a:path w="9320552" h="5732139">
                <a:moveTo>
                  <a:pt x="0" y="0"/>
                </a:moveTo>
                <a:lnTo>
                  <a:pt x="9320552" y="0"/>
                </a:lnTo>
                <a:lnTo>
                  <a:pt x="9320552" y="5732139"/>
                </a:lnTo>
                <a:lnTo>
                  <a:pt x="0" y="57321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GR"/>
          </a:p>
        </p:txBody>
      </p:sp>
      <p:sp>
        <p:nvSpPr>
          <p:cNvPr id="21" name="TextBox 21"/>
          <p:cNvSpPr txBox="1"/>
          <p:nvPr/>
        </p:nvSpPr>
        <p:spPr>
          <a:xfrm>
            <a:off x="1146942" y="-12075"/>
            <a:ext cx="1629853" cy="342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2"/>
              </a:lnSpc>
            </a:pPr>
            <a:r>
              <a:rPr lang="en-US" sz="1951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Introduction 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073241" y="-12075"/>
            <a:ext cx="1941238" cy="3242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32"/>
              </a:lnSpc>
            </a:pPr>
            <a:r>
              <a:rPr lang="en-US" sz="1951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Methodology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358004" y="-24046"/>
            <a:ext cx="1072999" cy="3362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32"/>
              </a:lnSpc>
            </a:pPr>
            <a:r>
              <a:rPr lang="en-US" sz="1951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Results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604201" y="-12075"/>
            <a:ext cx="2464004" cy="3242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32"/>
              </a:lnSpc>
            </a:pPr>
            <a:r>
              <a:rPr lang="en-US" sz="1951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Critical Discussion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6408410" y="-24046"/>
            <a:ext cx="1498589" cy="3362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32"/>
              </a:lnSpc>
            </a:pPr>
            <a:r>
              <a:rPr lang="en-US" sz="1951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Conclusion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73658" y="952500"/>
            <a:ext cx="14969093" cy="573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19"/>
              </a:lnSpc>
              <a:spcBef>
                <a:spcPct val="0"/>
              </a:spcBef>
            </a:pPr>
            <a:r>
              <a:rPr lang="en-US" sz="3299" b="1" u="sng">
                <a:solidFill>
                  <a:srgbClr val="B00B39"/>
                </a:solidFill>
                <a:latin typeface="Cardo Bold"/>
                <a:ea typeface="Cardo Bold"/>
                <a:cs typeface="Cardo Bold"/>
                <a:sym typeface="Cardo Bold"/>
              </a:rPr>
              <a:t>Thunder Benchmark Evaluation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089641" y="4104646"/>
            <a:ext cx="7493124" cy="26625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3224" lvl="1" indent="-266612" algn="l">
              <a:lnSpc>
                <a:spcPts val="3457"/>
              </a:lnSpc>
              <a:buFont typeface="Arial"/>
              <a:buChar char="•"/>
            </a:pPr>
            <a:r>
              <a:rPr lang="en-US" sz="2469" u="none" strike="noStrik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Evaluated: UNI2-H, UNI, Virchow2, Midnight</a:t>
            </a:r>
          </a:p>
          <a:p>
            <a:pPr marL="533224" lvl="1" indent="-266612" algn="l">
              <a:lnSpc>
                <a:spcPts val="3457"/>
              </a:lnSpc>
              <a:spcBef>
                <a:spcPct val="0"/>
              </a:spcBef>
              <a:buFont typeface="Arial"/>
              <a:buChar char="•"/>
            </a:pPr>
            <a:r>
              <a:rPr lang="en-US" sz="2469" u="none" strike="noStrik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Still below top COSAS challenge teams</a:t>
            </a:r>
          </a:p>
          <a:p>
            <a:pPr marL="533224" lvl="1" indent="-266612" algn="l">
              <a:lnSpc>
                <a:spcPts val="3457"/>
              </a:lnSpc>
              <a:spcBef>
                <a:spcPct val="0"/>
              </a:spcBef>
              <a:buFont typeface="Arial"/>
              <a:buChar char="•"/>
            </a:pPr>
            <a:r>
              <a:rPr lang="en-US" sz="2469" u="none" strike="noStrik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Indicates:</a:t>
            </a:r>
          </a:p>
          <a:p>
            <a:pPr marL="1066448" lvl="2" indent="-355483" algn="l">
              <a:lnSpc>
                <a:spcPts val="3457"/>
              </a:lnSpc>
              <a:spcBef>
                <a:spcPct val="0"/>
              </a:spcBef>
              <a:buFont typeface="Arial"/>
              <a:buChar char="⚬"/>
            </a:pPr>
            <a:r>
              <a:rPr lang="en-US" sz="2469" u="none" strike="noStrik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Foundation models capture global structure</a:t>
            </a:r>
          </a:p>
          <a:p>
            <a:pPr marL="1066448" lvl="2" indent="-355483" algn="l">
              <a:lnSpc>
                <a:spcPts val="3457"/>
              </a:lnSpc>
              <a:spcBef>
                <a:spcPct val="0"/>
              </a:spcBef>
              <a:buFont typeface="Arial"/>
              <a:buChar char="⚬"/>
            </a:pPr>
            <a:r>
              <a:rPr lang="en-US" sz="2469" u="none" strike="noStrik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But struggle with fine boundaries</a:t>
            </a:r>
          </a:p>
          <a:p>
            <a:pPr marL="533224" lvl="1" indent="-266612" algn="l">
              <a:lnSpc>
                <a:spcPts val="3457"/>
              </a:lnSpc>
              <a:spcBef>
                <a:spcPct val="0"/>
              </a:spcBef>
              <a:buFont typeface="Arial"/>
              <a:buChar char="•"/>
            </a:pPr>
            <a:r>
              <a:rPr lang="en-US" sz="2469" u="none" strike="noStrik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Chosen backbone for all experiments: </a:t>
            </a:r>
            <a:r>
              <a:rPr lang="en-US" sz="2469" b="1" u="none" strike="noStrike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UNI2-H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78475" cy="366016"/>
            <a:chOff x="0" y="0"/>
            <a:chExt cx="4814084" cy="9639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4084" cy="96399"/>
            </a:xfrm>
            <a:custGeom>
              <a:avLst/>
              <a:gdLst/>
              <a:ahLst/>
              <a:cxnLst/>
              <a:rect l="l" t="t" r="r" b="b"/>
              <a:pathLst>
                <a:path w="4814084" h="96399">
                  <a:moveTo>
                    <a:pt x="0" y="0"/>
                  </a:moveTo>
                  <a:lnTo>
                    <a:pt x="4814084" y="0"/>
                  </a:lnTo>
                  <a:lnTo>
                    <a:pt x="4814084" y="96399"/>
                  </a:lnTo>
                  <a:lnTo>
                    <a:pt x="0" y="96399"/>
                  </a:lnTo>
                  <a:close/>
                </a:path>
              </a:pathLst>
            </a:custGeom>
            <a:solidFill>
              <a:srgbClr val="897993"/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4084" cy="1344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-55288"/>
            <a:ext cx="3923736" cy="421303"/>
            <a:chOff x="0" y="0"/>
            <a:chExt cx="1033412" cy="11096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33412" cy="110961"/>
            </a:xfrm>
            <a:custGeom>
              <a:avLst/>
              <a:gdLst/>
              <a:ahLst/>
              <a:cxnLst/>
              <a:rect l="l" t="t" r="r" b="b"/>
              <a:pathLst>
                <a:path w="1033412" h="110961">
                  <a:moveTo>
                    <a:pt x="0" y="0"/>
                  </a:moveTo>
                  <a:lnTo>
                    <a:pt x="1033412" y="0"/>
                  </a:lnTo>
                  <a:lnTo>
                    <a:pt x="1033412" y="110961"/>
                  </a:lnTo>
                  <a:lnTo>
                    <a:pt x="0" y="110961"/>
                  </a:lnTo>
                  <a:close/>
                </a:path>
              </a:pathLst>
            </a:custGeom>
            <a:solidFill>
              <a:srgbClr val="B00B39">
                <a:alpha val="19608"/>
              </a:srgbClr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033412" cy="1490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5694945" y="-40855"/>
            <a:ext cx="3923736" cy="389959"/>
            <a:chOff x="0" y="0"/>
            <a:chExt cx="1033412" cy="102705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033412" cy="102705"/>
            </a:xfrm>
            <a:custGeom>
              <a:avLst/>
              <a:gdLst/>
              <a:ahLst/>
              <a:cxnLst/>
              <a:rect l="l" t="t" r="r" b="b"/>
              <a:pathLst>
                <a:path w="1033412" h="102705">
                  <a:moveTo>
                    <a:pt x="0" y="0"/>
                  </a:moveTo>
                  <a:lnTo>
                    <a:pt x="1033412" y="0"/>
                  </a:lnTo>
                  <a:lnTo>
                    <a:pt x="1033412" y="102705"/>
                  </a:lnTo>
                  <a:lnTo>
                    <a:pt x="0" y="102705"/>
                  </a:lnTo>
                  <a:close/>
                </a:path>
              </a:pathLst>
            </a:custGeom>
            <a:solidFill>
              <a:srgbClr val="B00B39">
                <a:alpha val="19608"/>
              </a:srgbClr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1033412" cy="1408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0" name="Freeform 20"/>
          <p:cNvSpPr/>
          <p:nvPr/>
        </p:nvSpPr>
        <p:spPr>
          <a:xfrm>
            <a:off x="856456" y="1525906"/>
            <a:ext cx="12613359" cy="8561317"/>
          </a:xfrm>
          <a:custGeom>
            <a:avLst/>
            <a:gdLst/>
            <a:ahLst/>
            <a:cxnLst/>
            <a:rect l="l" t="t" r="r" b="b"/>
            <a:pathLst>
              <a:path w="12613359" h="8561317">
                <a:moveTo>
                  <a:pt x="0" y="0"/>
                </a:moveTo>
                <a:lnTo>
                  <a:pt x="12613359" y="0"/>
                </a:lnTo>
                <a:lnTo>
                  <a:pt x="12613359" y="8561317"/>
                </a:lnTo>
                <a:lnTo>
                  <a:pt x="0" y="85613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GR"/>
          </a:p>
        </p:txBody>
      </p:sp>
      <p:sp>
        <p:nvSpPr>
          <p:cNvPr id="26" name="TextBox 26"/>
          <p:cNvSpPr txBox="1"/>
          <p:nvPr/>
        </p:nvSpPr>
        <p:spPr>
          <a:xfrm>
            <a:off x="856456" y="703897"/>
            <a:ext cx="14969093" cy="573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19"/>
              </a:lnSpc>
              <a:spcBef>
                <a:spcPct val="0"/>
              </a:spcBef>
            </a:pPr>
            <a:r>
              <a:rPr lang="en-US" sz="3299" b="1" u="sng">
                <a:solidFill>
                  <a:srgbClr val="B00B39"/>
                </a:solidFill>
                <a:latin typeface="Cardo Bold"/>
                <a:ea typeface="Cardo Bold"/>
                <a:cs typeface="Cardo Bold"/>
                <a:sym typeface="Cardo Bold"/>
              </a:rPr>
              <a:t>Experiment 1: UNI2-H + DeepLabV3 (No Aux)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684981" y="3822316"/>
            <a:ext cx="6353943" cy="26042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3224" lvl="1" indent="-266612" algn="l">
              <a:lnSpc>
                <a:spcPts val="3457"/>
              </a:lnSpc>
              <a:spcBef>
                <a:spcPct val="0"/>
              </a:spcBef>
              <a:buFont typeface="Arial"/>
              <a:buChar char="•"/>
            </a:pPr>
            <a:r>
              <a:rPr lang="en-US" sz="2469" u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Added an ASPP segmentation head</a:t>
            </a:r>
          </a:p>
          <a:p>
            <a:pPr marL="533224" lvl="1" indent="-266612" algn="l">
              <a:lnSpc>
                <a:spcPts val="3457"/>
              </a:lnSpc>
              <a:spcBef>
                <a:spcPct val="0"/>
              </a:spcBef>
              <a:buFont typeface="Arial"/>
              <a:buChar char="•"/>
            </a:pPr>
            <a:r>
              <a:rPr lang="en-US" sz="2469" u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Captures multi-scale context (dilations 12, 24, 36)</a:t>
            </a:r>
          </a:p>
          <a:p>
            <a:pPr marL="533224" lvl="1" indent="-266612" algn="l">
              <a:lnSpc>
                <a:spcPts val="3457"/>
              </a:lnSpc>
              <a:spcBef>
                <a:spcPct val="0"/>
              </a:spcBef>
              <a:buFont typeface="Arial"/>
              <a:buChar char="•"/>
            </a:pPr>
            <a:r>
              <a:rPr lang="en-US" sz="2469" u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Early stopping at epoch 47, 11.63 GB per epoch</a:t>
            </a:r>
          </a:p>
          <a:p>
            <a:pPr marL="533224" lvl="1" indent="-266612" algn="l">
              <a:lnSpc>
                <a:spcPts val="3457"/>
              </a:lnSpc>
              <a:spcBef>
                <a:spcPct val="0"/>
              </a:spcBef>
              <a:buFont typeface="Arial"/>
              <a:buChar char="•"/>
            </a:pPr>
            <a:r>
              <a:rPr lang="en-US" sz="2469" u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Final COSAS score: </a:t>
            </a:r>
            <a:r>
              <a:rPr lang="en-US" sz="2469" b="1" u="none" strike="noStrik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0.8209</a:t>
            </a:r>
          </a:p>
        </p:txBody>
      </p:sp>
      <p:grpSp>
        <p:nvGrpSpPr>
          <p:cNvPr id="41" name="Group 8">
            <a:extLst>
              <a:ext uri="{FF2B5EF4-FFF2-40B4-BE49-F238E27FC236}">
                <a16:creationId xmlns:a16="http://schemas.microsoft.com/office/drawing/2014/main" id="{08A4B662-D79E-9DEB-709F-7E316FFEAAB7}"/>
              </a:ext>
            </a:extLst>
          </p:cNvPr>
          <p:cNvGrpSpPr/>
          <p:nvPr/>
        </p:nvGrpSpPr>
        <p:grpSpPr>
          <a:xfrm>
            <a:off x="3923736" y="-23943"/>
            <a:ext cx="3923736" cy="389959"/>
            <a:chOff x="0" y="0"/>
            <a:chExt cx="1033412" cy="102705"/>
          </a:xfrm>
        </p:grpSpPr>
        <p:sp>
          <p:nvSpPr>
            <p:cNvPr id="42" name="Freeform 9">
              <a:extLst>
                <a:ext uri="{FF2B5EF4-FFF2-40B4-BE49-F238E27FC236}">
                  <a16:creationId xmlns:a16="http://schemas.microsoft.com/office/drawing/2014/main" id="{CE834AD5-02ED-64E1-C0B6-41AE4BAC7344}"/>
                </a:ext>
              </a:extLst>
            </p:cNvPr>
            <p:cNvSpPr/>
            <p:nvPr/>
          </p:nvSpPr>
          <p:spPr>
            <a:xfrm>
              <a:off x="0" y="0"/>
              <a:ext cx="1033412" cy="102705"/>
            </a:xfrm>
            <a:custGeom>
              <a:avLst/>
              <a:gdLst/>
              <a:ahLst/>
              <a:cxnLst/>
              <a:rect l="l" t="t" r="r" b="b"/>
              <a:pathLst>
                <a:path w="1033412" h="102705">
                  <a:moveTo>
                    <a:pt x="0" y="0"/>
                  </a:moveTo>
                  <a:lnTo>
                    <a:pt x="1033412" y="0"/>
                  </a:lnTo>
                  <a:lnTo>
                    <a:pt x="1033412" y="102705"/>
                  </a:lnTo>
                  <a:lnTo>
                    <a:pt x="0" y="102705"/>
                  </a:lnTo>
                  <a:close/>
                </a:path>
              </a:pathLst>
            </a:custGeom>
            <a:solidFill>
              <a:srgbClr val="B00B39">
                <a:alpha val="19608"/>
              </a:srgbClr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43" name="TextBox 10">
              <a:extLst>
                <a:ext uri="{FF2B5EF4-FFF2-40B4-BE49-F238E27FC236}">
                  <a16:creationId xmlns:a16="http://schemas.microsoft.com/office/drawing/2014/main" id="{E4D9E853-F04B-D11E-AF8F-89EEE8F61A1A}"/>
                </a:ext>
              </a:extLst>
            </p:cNvPr>
            <p:cNvSpPr txBox="1"/>
            <p:nvPr/>
          </p:nvSpPr>
          <p:spPr>
            <a:xfrm>
              <a:off x="0" y="-38100"/>
              <a:ext cx="1033412" cy="1408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44" name="Group 11">
            <a:extLst>
              <a:ext uri="{FF2B5EF4-FFF2-40B4-BE49-F238E27FC236}">
                <a16:creationId xmlns:a16="http://schemas.microsoft.com/office/drawing/2014/main" id="{3C6922D3-80E4-4279-5F9E-02CAECE12BA8}"/>
              </a:ext>
            </a:extLst>
          </p:cNvPr>
          <p:cNvGrpSpPr/>
          <p:nvPr/>
        </p:nvGrpSpPr>
        <p:grpSpPr>
          <a:xfrm>
            <a:off x="7847472" y="-101928"/>
            <a:ext cx="3923736" cy="467944"/>
            <a:chOff x="0" y="0"/>
            <a:chExt cx="1033412" cy="123245"/>
          </a:xfrm>
        </p:grpSpPr>
        <p:sp>
          <p:nvSpPr>
            <p:cNvPr id="45" name="Freeform 12">
              <a:extLst>
                <a:ext uri="{FF2B5EF4-FFF2-40B4-BE49-F238E27FC236}">
                  <a16:creationId xmlns:a16="http://schemas.microsoft.com/office/drawing/2014/main" id="{CA07F422-58A9-100B-FBA9-F5FEE109939A}"/>
                </a:ext>
              </a:extLst>
            </p:cNvPr>
            <p:cNvSpPr/>
            <p:nvPr/>
          </p:nvSpPr>
          <p:spPr>
            <a:xfrm>
              <a:off x="0" y="0"/>
              <a:ext cx="1033412" cy="123245"/>
            </a:xfrm>
            <a:custGeom>
              <a:avLst/>
              <a:gdLst/>
              <a:ahLst/>
              <a:cxnLst/>
              <a:rect l="l" t="t" r="r" b="b"/>
              <a:pathLst>
                <a:path w="1033412" h="123245">
                  <a:moveTo>
                    <a:pt x="0" y="0"/>
                  </a:moveTo>
                  <a:lnTo>
                    <a:pt x="1033412" y="0"/>
                  </a:lnTo>
                  <a:lnTo>
                    <a:pt x="1033412" y="123245"/>
                  </a:lnTo>
                  <a:lnTo>
                    <a:pt x="0" y="123245"/>
                  </a:lnTo>
                  <a:close/>
                </a:path>
              </a:pathLst>
            </a:custGeom>
            <a:solidFill>
              <a:srgbClr val="B00B39"/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46" name="TextBox 13">
              <a:extLst>
                <a:ext uri="{FF2B5EF4-FFF2-40B4-BE49-F238E27FC236}">
                  <a16:creationId xmlns:a16="http://schemas.microsoft.com/office/drawing/2014/main" id="{91D0763C-9DBE-2F0D-148E-AE1889A6E863}"/>
                </a:ext>
              </a:extLst>
            </p:cNvPr>
            <p:cNvSpPr txBox="1"/>
            <p:nvPr/>
          </p:nvSpPr>
          <p:spPr>
            <a:xfrm>
              <a:off x="0" y="-38100"/>
              <a:ext cx="1033412" cy="1613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47" name="Group 14">
            <a:extLst>
              <a:ext uri="{FF2B5EF4-FFF2-40B4-BE49-F238E27FC236}">
                <a16:creationId xmlns:a16="http://schemas.microsoft.com/office/drawing/2014/main" id="{FD2F2A49-7FBD-F9A0-D6C0-5D0AAD863ABE}"/>
              </a:ext>
            </a:extLst>
          </p:cNvPr>
          <p:cNvGrpSpPr/>
          <p:nvPr/>
        </p:nvGrpSpPr>
        <p:grpSpPr>
          <a:xfrm>
            <a:off x="11771209" y="-23943"/>
            <a:ext cx="3923736" cy="389959"/>
            <a:chOff x="0" y="0"/>
            <a:chExt cx="1033412" cy="102705"/>
          </a:xfrm>
        </p:grpSpPr>
        <p:sp>
          <p:nvSpPr>
            <p:cNvPr id="48" name="Freeform 15">
              <a:extLst>
                <a:ext uri="{FF2B5EF4-FFF2-40B4-BE49-F238E27FC236}">
                  <a16:creationId xmlns:a16="http://schemas.microsoft.com/office/drawing/2014/main" id="{566EF0D6-28B6-CCEE-8331-6B7C824A8577}"/>
                </a:ext>
              </a:extLst>
            </p:cNvPr>
            <p:cNvSpPr/>
            <p:nvPr/>
          </p:nvSpPr>
          <p:spPr>
            <a:xfrm>
              <a:off x="0" y="0"/>
              <a:ext cx="1033412" cy="102705"/>
            </a:xfrm>
            <a:custGeom>
              <a:avLst/>
              <a:gdLst/>
              <a:ahLst/>
              <a:cxnLst/>
              <a:rect l="l" t="t" r="r" b="b"/>
              <a:pathLst>
                <a:path w="1033412" h="102705">
                  <a:moveTo>
                    <a:pt x="0" y="0"/>
                  </a:moveTo>
                  <a:lnTo>
                    <a:pt x="1033412" y="0"/>
                  </a:lnTo>
                  <a:lnTo>
                    <a:pt x="1033412" y="102705"/>
                  </a:lnTo>
                  <a:lnTo>
                    <a:pt x="0" y="102705"/>
                  </a:lnTo>
                  <a:close/>
                </a:path>
              </a:pathLst>
            </a:custGeom>
            <a:solidFill>
              <a:srgbClr val="B00B39">
                <a:alpha val="19608"/>
              </a:srgbClr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49" name="TextBox 16">
              <a:extLst>
                <a:ext uri="{FF2B5EF4-FFF2-40B4-BE49-F238E27FC236}">
                  <a16:creationId xmlns:a16="http://schemas.microsoft.com/office/drawing/2014/main" id="{3FC72C18-3BC1-AD2F-36C8-9DB92C4A83D9}"/>
                </a:ext>
              </a:extLst>
            </p:cNvPr>
            <p:cNvSpPr txBox="1"/>
            <p:nvPr/>
          </p:nvSpPr>
          <p:spPr>
            <a:xfrm>
              <a:off x="0" y="-38100"/>
              <a:ext cx="1033412" cy="1408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0" name="TextBox 21">
            <a:extLst>
              <a:ext uri="{FF2B5EF4-FFF2-40B4-BE49-F238E27FC236}">
                <a16:creationId xmlns:a16="http://schemas.microsoft.com/office/drawing/2014/main" id="{D3C189DE-36FB-9029-BC77-0B3DA0D32F9E}"/>
              </a:ext>
            </a:extLst>
          </p:cNvPr>
          <p:cNvSpPr txBox="1"/>
          <p:nvPr/>
        </p:nvSpPr>
        <p:spPr>
          <a:xfrm>
            <a:off x="1146942" y="-12075"/>
            <a:ext cx="1629853" cy="342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2"/>
              </a:lnSpc>
            </a:pPr>
            <a:r>
              <a:rPr lang="en-US" sz="1951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Introduction </a:t>
            </a:r>
          </a:p>
        </p:txBody>
      </p:sp>
      <p:sp>
        <p:nvSpPr>
          <p:cNvPr id="51" name="TextBox 22">
            <a:extLst>
              <a:ext uri="{FF2B5EF4-FFF2-40B4-BE49-F238E27FC236}">
                <a16:creationId xmlns:a16="http://schemas.microsoft.com/office/drawing/2014/main" id="{30F4D5D4-3534-44B5-0618-0C7024B38040}"/>
              </a:ext>
            </a:extLst>
          </p:cNvPr>
          <p:cNvSpPr txBox="1"/>
          <p:nvPr/>
        </p:nvSpPr>
        <p:spPr>
          <a:xfrm>
            <a:off x="5073241" y="-12075"/>
            <a:ext cx="1941238" cy="3242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32"/>
              </a:lnSpc>
            </a:pPr>
            <a:r>
              <a:rPr lang="en-US" sz="1951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Methodology</a:t>
            </a:r>
          </a:p>
        </p:txBody>
      </p:sp>
      <p:sp>
        <p:nvSpPr>
          <p:cNvPr id="52" name="TextBox 23">
            <a:extLst>
              <a:ext uri="{FF2B5EF4-FFF2-40B4-BE49-F238E27FC236}">
                <a16:creationId xmlns:a16="http://schemas.microsoft.com/office/drawing/2014/main" id="{03BE985B-024D-FAAD-7771-EC2C63154C60}"/>
              </a:ext>
            </a:extLst>
          </p:cNvPr>
          <p:cNvSpPr txBox="1"/>
          <p:nvPr/>
        </p:nvSpPr>
        <p:spPr>
          <a:xfrm>
            <a:off x="9358004" y="-24046"/>
            <a:ext cx="1072999" cy="3362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32"/>
              </a:lnSpc>
            </a:pPr>
            <a:r>
              <a:rPr lang="en-US" sz="1951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Results</a:t>
            </a:r>
          </a:p>
        </p:txBody>
      </p:sp>
      <p:sp>
        <p:nvSpPr>
          <p:cNvPr id="53" name="TextBox 24">
            <a:extLst>
              <a:ext uri="{FF2B5EF4-FFF2-40B4-BE49-F238E27FC236}">
                <a16:creationId xmlns:a16="http://schemas.microsoft.com/office/drawing/2014/main" id="{8D745F30-022E-BC86-B593-1133F5CD681F}"/>
              </a:ext>
            </a:extLst>
          </p:cNvPr>
          <p:cNvSpPr txBox="1"/>
          <p:nvPr/>
        </p:nvSpPr>
        <p:spPr>
          <a:xfrm>
            <a:off x="12604201" y="-12075"/>
            <a:ext cx="2464004" cy="3242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32"/>
              </a:lnSpc>
            </a:pPr>
            <a:r>
              <a:rPr lang="en-US" sz="1951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Critical Discussion</a:t>
            </a:r>
          </a:p>
        </p:txBody>
      </p:sp>
      <p:sp>
        <p:nvSpPr>
          <p:cNvPr id="54" name="TextBox 25">
            <a:extLst>
              <a:ext uri="{FF2B5EF4-FFF2-40B4-BE49-F238E27FC236}">
                <a16:creationId xmlns:a16="http://schemas.microsoft.com/office/drawing/2014/main" id="{3A60A8F1-A565-68D4-F231-42145FA2E3EB}"/>
              </a:ext>
            </a:extLst>
          </p:cNvPr>
          <p:cNvSpPr txBox="1"/>
          <p:nvPr/>
        </p:nvSpPr>
        <p:spPr>
          <a:xfrm>
            <a:off x="16408410" y="-24046"/>
            <a:ext cx="1498589" cy="3362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32"/>
              </a:lnSpc>
            </a:pPr>
            <a:r>
              <a:rPr lang="en-US" sz="1951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Conclusion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78475" cy="366016"/>
            <a:chOff x="0" y="0"/>
            <a:chExt cx="4814084" cy="9639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4084" cy="96399"/>
            </a:xfrm>
            <a:custGeom>
              <a:avLst/>
              <a:gdLst/>
              <a:ahLst/>
              <a:cxnLst/>
              <a:rect l="l" t="t" r="r" b="b"/>
              <a:pathLst>
                <a:path w="4814084" h="96399">
                  <a:moveTo>
                    <a:pt x="0" y="0"/>
                  </a:moveTo>
                  <a:lnTo>
                    <a:pt x="4814084" y="0"/>
                  </a:lnTo>
                  <a:lnTo>
                    <a:pt x="4814084" y="96399"/>
                  </a:lnTo>
                  <a:lnTo>
                    <a:pt x="0" y="96399"/>
                  </a:lnTo>
                  <a:close/>
                </a:path>
              </a:pathLst>
            </a:custGeom>
            <a:solidFill>
              <a:srgbClr val="897993"/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4084" cy="1344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-55288"/>
            <a:ext cx="3923736" cy="421303"/>
            <a:chOff x="0" y="0"/>
            <a:chExt cx="1033412" cy="11096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33412" cy="110961"/>
            </a:xfrm>
            <a:custGeom>
              <a:avLst/>
              <a:gdLst/>
              <a:ahLst/>
              <a:cxnLst/>
              <a:rect l="l" t="t" r="r" b="b"/>
              <a:pathLst>
                <a:path w="1033412" h="110961">
                  <a:moveTo>
                    <a:pt x="0" y="0"/>
                  </a:moveTo>
                  <a:lnTo>
                    <a:pt x="1033412" y="0"/>
                  </a:lnTo>
                  <a:lnTo>
                    <a:pt x="1033412" y="110961"/>
                  </a:lnTo>
                  <a:lnTo>
                    <a:pt x="0" y="110961"/>
                  </a:lnTo>
                  <a:close/>
                </a:path>
              </a:pathLst>
            </a:custGeom>
            <a:solidFill>
              <a:srgbClr val="B00B39">
                <a:alpha val="19608"/>
              </a:srgbClr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033412" cy="1490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5694945" y="-40855"/>
            <a:ext cx="3923736" cy="389959"/>
            <a:chOff x="0" y="0"/>
            <a:chExt cx="1033412" cy="102705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033412" cy="102705"/>
            </a:xfrm>
            <a:custGeom>
              <a:avLst/>
              <a:gdLst/>
              <a:ahLst/>
              <a:cxnLst/>
              <a:rect l="l" t="t" r="r" b="b"/>
              <a:pathLst>
                <a:path w="1033412" h="102705">
                  <a:moveTo>
                    <a:pt x="0" y="0"/>
                  </a:moveTo>
                  <a:lnTo>
                    <a:pt x="1033412" y="0"/>
                  </a:lnTo>
                  <a:lnTo>
                    <a:pt x="1033412" y="102705"/>
                  </a:lnTo>
                  <a:lnTo>
                    <a:pt x="0" y="102705"/>
                  </a:lnTo>
                  <a:close/>
                </a:path>
              </a:pathLst>
            </a:custGeom>
            <a:solidFill>
              <a:srgbClr val="B00B39">
                <a:alpha val="19608"/>
              </a:srgbClr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1033412" cy="1408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856456" y="703897"/>
            <a:ext cx="14969093" cy="573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19"/>
              </a:lnSpc>
              <a:spcBef>
                <a:spcPct val="0"/>
              </a:spcBef>
            </a:pPr>
            <a:r>
              <a:rPr lang="en-US" sz="3299" b="1" u="sng">
                <a:solidFill>
                  <a:srgbClr val="B00B39"/>
                </a:solidFill>
                <a:latin typeface="Cardo Bold"/>
                <a:ea typeface="Cardo Bold"/>
                <a:cs typeface="Cardo Bold"/>
                <a:sym typeface="Cardo Bold"/>
              </a:rPr>
              <a:t>Experiment 2: UNI2-H + DeepLabV3 (Auxiliary Head)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924646" y="4041391"/>
            <a:ext cx="6363354" cy="26625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3224" lvl="1" indent="-266612" algn="l">
              <a:lnSpc>
                <a:spcPts val="3457"/>
              </a:lnSpc>
              <a:spcBef>
                <a:spcPct val="0"/>
              </a:spcBef>
              <a:buFont typeface="Arial"/>
              <a:buChar char="•"/>
            </a:pPr>
            <a:r>
              <a:rPr lang="en-US" sz="2469" u="none" strike="noStrik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Added secondary segmentation head</a:t>
            </a:r>
          </a:p>
          <a:p>
            <a:pPr marL="533224" lvl="1" indent="-266612" algn="l">
              <a:lnSpc>
                <a:spcPts val="3457"/>
              </a:lnSpc>
              <a:spcBef>
                <a:spcPct val="0"/>
              </a:spcBef>
              <a:buFont typeface="Arial"/>
              <a:buChar char="•"/>
            </a:pPr>
            <a:r>
              <a:rPr lang="en-US" sz="2469" u="none" strike="noStrik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Weighted auxiliary loss (</a:t>
            </a:r>
            <a:r>
              <a:rPr lang="en-US" sz="2469" u="none" strike="noStrik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λ</a:t>
            </a:r>
            <a:r>
              <a:rPr lang="en-US" sz="2469" u="none" strike="noStrik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= 0.4)</a:t>
            </a:r>
          </a:p>
          <a:p>
            <a:pPr marL="533224" lvl="1" indent="-266612" algn="l">
              <a:lnSpc>
                <a:spcPts val="3457"/>
              </a:lnSpc>
              <a:spcBef>
                <a:spcPct val="0"/>
              </a:spcBef>
              <a:buFont typeface="Arial"/>
              <a:buChar char="•"/>
            </a:pPr>
            <a:r>
              <a:rPr lang="en-US" sz="2469" u="none" strike="noStrik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Early stopping at epoch 43,  11.64 GB per epoch</a:t>
            </a:r>
          </a:p>
          <a:p>
            <a:pPr marL="533224" lvl="1" indent="-266612" algn="l">
              <a:lnSpc>
                <a:spcPts val="3457"/>
              </a:lnSpc>
              <a:spcBef>
                <a:spcPct val="0"/>
              </a:spcBef>
              <a:buFont typeface="Arial"/>
              <a:buChar char="•"/>
            </a:pPr>
            <a:r>
              <a:rPr lang="en-US" sz="2469" u="none" strike="noStrik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Slight improvement in training stability</a:t>
            </a:r>
          </a:p>
          <a:p>
            <a:pPr marL="533224" lvl="1" indent="-266612" algn="l">
              <a:lnSpc>
                <a:spcPts val="3457"/>
              </a:lnSpc>
              <a:spcBef>
                <a:spcPct val="0"/>
              </a:spcBef>
              <a:buFont typeface="Arial"/>
              <a:buChar char="•"/>
            </a:pPr>
            <a:r>
              <a:rPr lang="en-US" sz="2469" u="none" strike="noStrik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But lower score: </a:t>
            </a:r>
            <a:r>
              <a:rPr lang="en-US" sz="2469" b="1" u="none" strike="noStrike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0.8204</a:t>
            </a:r>
          </a:p>
        </p:txBody>
      </p:sp>
      <p:grpSp>
        <p:nvGrpSpPr>
          <p:cNvPr id="42" name="Group 8">
            <a:extLst>
              <a:ext uri="{FF2B5EF4-FFF2-40B4-BE49-F238E27FC236}">
                <a16:creationId xmlns:a16="http://schemas.microsoft.com/office/drawing/2014/main" id="{675B9434-52AC-0F0B-5262-824AA6E07052}"/>
              </a:ext>
            </a:extLst>
          </p:cNvPr>
          <p:cNvGrpSpPr/>
          <p:nvPr/>
        </p:nvGrpSpPr>
        <p:grpSpPr>
          <a:xfrm>
            <a:off x="3923736" y="-23943"/>
            <a:ext cx="3923736" cy="389959"/>
            <a:chOff x="0" y="0"/>
            <a:chExt cx="1033412" cy="102705"/>
          </a:xfrm>
        </p:grpSpPr>
        <p:sp>
          <p:nvSpPr>
            <p:cNvPr id="43" name="Freeform 9">
              <a:extLst>
                <a:ext uri="{FF2B5EF4-FFF2-40B4-BE49-F238E27FC236}">
                  <a16:creationId xmlns:a16="http://schemas.microsoft.com/office/drawing/2014/main" id="{DAC130E0-8869-1F8B-E154-1C0C33889042}"/>
                </a:ext>
              </a:extLst>
            </p:cNvPr>
            <p:cNvSpPr/>
            <p:nvPr/>
          </p:nvSpPr>
          <p:spPr>
            <a:xfrm>
              <a:off x="0" y="0"/>
              <a:ext cx="1033412" cy="102705"/>
            </a:xfrm>
            <a:custGeom>
              <a:avLst/>
              <a:gdLst/>
              <a:ahLst/>
              <a:cxnLst/>
              <a:rect l="l" t="t" r="r" b="b"/>
              <a:pathLst>
                <a:path w="1033412" h="102705">
                  <a:moveTo>
                    <a:pt x="0" y="0"/>
                  </a:moveTo>
                  <a:lnTo>
                    <a:pt x="1033412" y="0"/>
                  </a:lnTo>
                  <a:lnTo>
                    <a:pt x="1033412" y="102705"/>
                  </a:lnTo>
                  <a:lnTo>
                    <a:pt x="0" y="102705"/>
                  </a:lnTo>
                  <a:close/>
                </a:path>
              </a:pathLst>
            </a:custGeom>
            <a:solidFill>
              <a:srgbClr val="B00B39">
                <a:alpha val="19608"/>
              </a:srgbClr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44" name="TextBox 10">
              <a:extLst>
                <a:ext uri="{FF2B5EF4-FFF2-40B4-BE49-F238E27FC236}">
                  <a16:creationId xmlns:a16="http://schemas.microsoft.com/office/drawing/2014/main" id="{6B5FE974-38A9-78EB-59C6-939ECC298E0E}"/>
                </a:ext>
              </a:extLst>
            </p:cNvPr>
            <p:cNvSpPr txBox="1"/>
            <p:nvPr/>
          </p:nvSpPr>
          <p:spPr>
            <a:xfrm>
              <a:off x="0" y="-38100"/>
              <a:ext cx="1033412" cy="1408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45" name="Group 11">
            <a:extLst>
              <a:ext uri="{FF2B5EF4-FFF2-40B4-BE49-F238E27FC236}">
                <a16:creationId xmlns:a16="http://schemas.microsoft.com/office/drawing/2014/main" id="{65652773-A297-5DBA-48EA-68951B8CA467}"/>
              </a:ext>
            </a:extLst>
          </p:cNvPr>
          <p:cNvGrpSpPr/>
          <p:nvPr/>
        </p:nvGrpSpPr>
        <p:grpSpPr>
          <a:xfrm>
            <a:off x="7847472" y="-101928"/>
            <a:ext cx="3923736" cy="467944"/>
            <a:chOff x="0" y="0"/>
            <a:chExt cx="1033412" cy="123245"/>
          </a:xfrm>
        </p:grpSpPr>
        <p:sp>
          <p:nvSpPr>
            <p:cNvPr id="46" name="Freeform 12">
              <a:extLst>
                <a:ext uri="{FF2B5EF4-FFF2-40B4-BE49-F238E27FC236}">
                  <a16:creationId xmlns:a16="http://schemas.microsoft.com/office/drawing/2014/main" id="{75F019EE-1903-652E-92BD-EF576DA1AC1F}"/>
                </a:ext>
              </a:extLst>
            </p:cNvPr>
            <p:cNvSpPr/>
            <p:nvPr/>
          </p:nvSpPr>
          <p:spPr>
            <a:xfrm>
              <a:off x="0" y="0"/>
              <a:ext cx="1033412" cy="123245"/>
            </a:xfrm>
            <a:custGeom>
              <a:avLst/>
              <a:gdLst/>
              <a:ahLst/>
              <a:cxnLst/>
              <a:rect l="l" t="t" r="r" b="b"/>
              <a:pathLst>
                <a:path w="1033412" h="123245">
                  <a:moveTo>
                    <a:pt x="0" y="0"/>
                  </a:moveTo>
                  <a:lnTo>
                    <a:pt x="1033412" y="0"/>
                  </a:lnTo>
                  <a:lnTo>
                    <a:pt x="1033412" y="123245"/>
                  </a:lnTo>
                  <a:lnTo>
                    <a:pt x="0" y="123245"/>
                  </a:lnTo>
                  <a:close/>
                </a:path>
              </a:pathLst>
            </a:custGeom>
            <a:solidFill>
              <a:srgbClr val="B00B39"/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47" name="TextBox 13">
              <a:extLst>
                <a:ext uri="{FF2B5EF4-FFF2-40B4-BE49-F238E27FC236}">
                  <a16:creationId xmlns:a16="http://schemas.microsoft.com/office/drawing/2014/main" id="{7DD7970F-44C7-AAF8-1EC7-1B77B8CBA429}"/>
                </a:ext>
              </a:extLst>
            </p:cNvPr>
            <p:cNvSpPr txBox="1"/>
            <p:nvPr/>
          </p:nvSpPr>
          <p:spPr>
            <a:xfrm>
              <a:off x="0" y="-38100"/>
              <a:ext cx="1033412" cy="1613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48" name="Group 14">
            <a:extLst>
              <a:ext uri="{FF2B5EF4-FFF2-40B4-BE49-F238E27FC236}">
                <a16:creationId xmlns:a16="http://schemas.microsoft.com/office/drawing/2014/main" id="{B3A778CA-AEA6-B8C3-3695-6F26AA300AA7}"/>
              </a:ext>
            </a:extLst>
          </p:cNvPr>
          <p:cNvGrpSpPr/>
          <p:nvPr/>
        </p:nvGrpSpPr>
        <p:grpSpPr>
          <a:xfrm>
            <a:off x="11771209" y="-23943"/>
            <a:ext cx="3923736" cy="389959"/>
            <a:chOff x="0" y="0"/>
            <a:chExt cx="1033412" cy="102705"/>
          </a:xfrm>
        </p:grpSpPr>
        <p:sp>
          <p:nvSpPr>
            <p:cNvPr id="49" name="Freeform 15">
              <a:extLst>
                <a:ext uri="{FF2B5EF4-FFF2-40B4-BE49-F238E27FC236}">
                  <a16:creationId xmlns:a16="http://schemas.microsoft.com/office/drawing/2014/main" id="{3364A307-0C8C-0C82-F890-4343BD38BB96}"/>
                </a:ext>
              </a:extLst>
            </p:cNvPr>
            <p:cNvSpPr/>
            <p:nvPr/>
          </p:nvSpPr>
          <p:spPr>
            <a:xfrm>
              <a:off x="0" y="0"/>
              <a:ext cx="1033412" cy="102705"/>
            </a:xfrm>
            <a:custGeom>
              <a:avLst/>
              <a:gdLst/>
              <a:ahLst/>
              <a:cxnLst/>
              <a:rect l="l" t="t" r="r" b="b"/>
              <a:pathLst>
                <a:path w="1033412" h="102705">
                  <a:moveTo>
                    <a:pt x="0" y="0"/>
                  </a:moveTo>
                  <a:lnTo>
                    <a:pt x="1033412" y="0"/>
                  </a:lnTo>
                  <a:lnTo>
                    <a:pt x="1033412" y="102705"/>
                  </a:lnTo>
                  <a:lnTo>
                    <a:pt x="0" y="102705"/>
                  </a:lnTo>
                  <a:close/>
                </a:path>
              </a:pathLst>
            </a:custGeom>
            <a:solidFill>
              <a:srgbClr val="B00B39">
                <a:alpha val="19608"/>
              </a:srgbClr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50" name="TextBox 16">
              <a:extLst>
                <a:ext uri="{FF2B5EF4-FFF2-40B4-BE49-F238E27FC236}">
                  <a16:creationId xmlns:a16="http://schemas.microsoft.com/office/drawing/2014/main" id="{A517F85F-8FDA-36B9-BBA8-D8868C11E1D5}"/>
                </a:ext>
              </a:extLst>
            </p:cNvPr>
            <p:cNvSpPr txBox="1"/>
            <p:nvPr/>
          </p:nvSpPr>
          <p:spPr>
            <a:xfrm>
              <a:off x="0" y="-38100"/>
              <a:ext cx="1033412" cy="1408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1" name="TextBox 21">
            <a:extLst>
              <a:ext uri="{FF2B5EF4-FFF2-40B4-BE49-F238E27FC236}">
                <a16:creationId xmlns:a16="http://schemas.microsoft.com/office/drawing/2014/main" id="{C7D2D874-17B2-5CA1-910A-141D0B01892C}"/>
              </a:ext>
            </a:extLst>
          </p:cNvPr>
          <p:cNvSpPr txBox="1"/>
          <p:nvPr/>
        </p:nvSpPr>
        <p:spPr>
          <a:xfrm>
            <a:off x="1146942" y="-12075"/>
            <a:ext cx="1629853" cy="342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2"/>
              </a:lnSpc>
            </a:pPr>
            <a:r>
              <a:rPr lang="en-US" sz="1951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Introduction </a:t>
            </a:r>
          </a:p>
        </p:txBody>
      </p:sp>
      <p:sp>
        <p:nvSpPr>
          <p:cNvPr id="52" name="TextBox 22">
            <a:extLst>
              <a:ext uri="{FF2B5EF4-FFF2-40B4-BE49-F238E27FC236}">
                <a16:creationId xmlns:a16="http://schemas.microsoft.com/office/drawing/2014/main" id="{2F842009-8AD7-04C5-96C3-E0F15760E330}"/>
              </a:ext>
            </a:extLst>
          </p:cNvPr>
          <p:cNvSpPr txBox="1"/>
          <p:nvPr/>
        </p:nvSpPr>
        <p:spPr>
          <a:xfrm>
            <a:off x="5073241" y="-12075"/>
            <a:ext cx="1941238" cy="3242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32"/>
              </a:lnSpc>
            </a:pPr>
            <a:r>
              <a:rPr lang="en-US" sz="1951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Methodology</a:t>
            </a:r>
          </a:p>
        </p:txBody>
      </p:sp>
      <p:sp>
        <p:nvSpPr>
          <p:cNvPr id="53" name="TextBox 23">
            <a:extLst>
              <a:ext uri="{FF2B5EF4-FFF2-40B4-BE49-F238E27FC236}">
                <a16:creationId xmlns:a16="http://schemas.microsoft.com/office/drawing/2014/main" id="{136C3C4B-D122-9F07-FB70-4A29927C27FC}"/>
              </a:ext>
            </a:extLst>
          </p:cNvPr>
          <p:cNvSpPr txBox="1"/>
          <p:nvPr/>
        </p:nvSpPr>
        <p:spPr>
          <a:xfrm>
            <a:off x="9358004" y="-24046"/>
            <a:ext cx="1072999" cy="3362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32"/>
              </a:lnSpc>
            </a:pPr>
            <a:r>
              <a:rPr lang="en-US" sz="1951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Results</a:t>
            </a:r>
          </a:p>
        </p:txBody>
      </p:sp>
      <p:sp>
        <p:nvSpPr>
          <p:cNvPr id="54" name="TextBox 24">
            <a:extLst>
              <a:ext uri="{FF2B5EF4-FFF2-40B4-BE49-F238E27FC236}">
                <a16:creationId xmlns:a16="http://schemas.microsoft.com/office/drawing/2014/main" id="{118223A1-66EC-6587-7C7E-A3BB8B3F66B6}"/>
              </a:ext>
            </a:extLst>
          </p:cNvPr>
          <p:cNvSpPr txBox="1"/>
          <p:nvPr/>
        </p:nvSpPr>
        <p:spPr>
          <a:xfrm>
            <a:off x="12604201" y="-12075"/>
            <a:ext cx="2464004" cy="3242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32"/>
              </a:lnSpc>
            </a:pPr>
            <a:r>
              <a:rPr lang="en-US" sz="1951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Critical Discussion</a:t>
            </a:r>
          </a:p>
        </p:txBody>
      </p:sp>
      <p:sp>
        <p:nvSpPr>
          <p:cNvPr id="55" name="TextBox 25">
            <a:extLst>
              <a:ext uri="{FF2B5EF4-FFF2-40B4-BE49-F238E27FC236}">
                <a16:creationId xmlns:a16="http://schemas.microsoft.com/office/drawing/2014/main" id="{2EA64F00-AE1D-BB96-C9E2-973E62E8ECF4}"/>
              </a:ext>
            </a:extLst>
          </p:cNvPr>
          <p:cNvSpPr txBox="1"/>
          <p:nvPr/>
        </p:nvSpPr>
        <p:spPr>
          <a:xfrm>
            <a:off x="16408410" y="-24046"/>
            <a:ext cx="1498589" cy="3362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32"/>
              </a:lnSpc>
            </a:pPr>
            <a:r>
              <a:rPr lang="en-US" sz="1951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Conclusion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2CA7508-0867-60E4-D7AD-BC6CAAA07B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396" y="1943100"/>
            <a:ext cx="10268744" cy="7929693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78475" cy="366016"/>
            <a:chOff x="0" y="0"/>
            <a:chExt cx="4814084" cy="9639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4084" cy="96399"/>
            </a:xfrm>
            <a:custGeom>
              <a:avLst/>
              <a:gdLst/>
              <a:ahLst/>
              <a:cxnLst/>
              <a:rect l="l" t="t" r="r" b="b"/>
              <a:pathLst>
                <a:path w="4814084" h="96399">
                  <a:moveTo>
                    <a:pt x="0" y="0"/>
                  </a:moveTo>
                  <a:lnTo>
                    <a:pt x="4814084" y="0"/>
                  </a:lnTo>
                  <a:lnTo>
                    <a:pt x="4814084" y="96399"/>
                  </a:lnTo>
                  <a:lnTo>
                    <a:pt x="0" y="96399"/>
                  </a:lnTo>
                  <a:close/>
                </a:path>
              </a:pathLst>
            </a:custGeom>
            <a:solidFill>
              <a:srgbClr val="897993"/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4084" cy="1344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-55288"/>
            <a:ext cx="3923736" cy="421303"/>
            <a:chOff x="0" y="0"/>
            <a:chExt cx="1033412" cy="11096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33412" cy="110961"/>
            </a:xfrm>
            <a:custGeom>
              <a:avLst/>
              <a:gdLst/>
              <a:ahLst/>
              <a:cxnLst/>
              <a:rect l="l" t="t" r="r" b="b"/>
              <a:pathLst>
                <a:path w="1033412" h="110961">
                  <a:moveTo>
                    <a:pt x="0" y="0"/>
                  </a:moveTo>
                  <a:lnTo>
                    <a:pt x="1033412" y="0"/>
                  </a:lnTo>
                  <a:lnTo>
                    <a:pt x="1033412" y="110961"/>
                  </a:lnTo>
                  <a:lnTo>
                    <a:pt x="0" y="110961"/>
                  </a:lnTo>
                  <a:close/>
                </a:path>
              </a:pathLst>
            </a:custGeom>
            <a:solidFill>
              <a:srgbClr val="B00B39">
                <a:alpha val="19608"/>
              </a:srgbClr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033412" cy="1490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5694945" y="-40855"/>
            <a:ext cx="3923736" cy="389959"/>
            <a:chOff x="0" y="0"/>
            <a:chExt cx="1033412" cy="102705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033412" cy="102705"/>
            </a:xfrm>
            <a:custGeom>
              <a:avLst/>
              <a:gdLst/>
              <a:ahLst/>
              <a:cxnLst/>
              <a:rect l="l" t="t" r="r" b="b"/>
              <a:pathLst>
                <a:path w="1033412" h="102705">
                  <a:moveTo>
                    <a:pt x="0" y="0"/>
                  </a:moveTo>
                  <a:lnTo>
                    <a:pt x="1033412" y="0"/>
                  </a:lnTo>
                  <a:lnTo>
                    <a:pt x="1033412" y="102705"/>
                  </a:lnTo>
                  <a:lnTo>
                    <a:pt x="0" y="102705"/>
                  </a:lnTo>
                  <a:close/>
                </a:path>
              </a:pathLst>
            </a:custGeom>
            <a:solidFill>
              <a:srgbClr val="B00B39">
                <a:alpha val="19608"/>
              </a:srgbClr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1033412" cy="1408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0" name="Freeform 20"/>
          <p:cNvSpPr/>
          <p:nvPr/>
        </p:nvSpPr>
        <p:spPr>
          <a:xfrm>
            <a:off x="125830" y="2185747"/>
            <a:ext cx="12827903" cy="7841055"/>
          </a:xfrm>
          <a:custGeom>
            <a:avLst/>
            <a:gdLst/>
            <a:ahLst/>
            <a:cxnLst/>
            <a:rect l="l" t="t" r="r" b="b"/>
            <a:pathLst>
              <a:path w="12827903" h="7841055">
                <a:moveTo>
                  <a:pt x="0" y="0"/>
                </a:moveTo>
                <a:lnTo>
                  <a:pt x="12827902" y="0"/>
                </a:lnTo>
                <a:lnTo>
                  <a:pt x="12827902" y="7841055"/>
                </a:lnTo>
                <a:lnTo>
                  <a:pt x="0" y="78410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GR"/>
          </a:p>
        </p:txBody>
      </p:sp>
      <p:sp>
        <p:nvSpPr>
          <p:cNvPr id="26" name="TextBox 26"/>
          <p:cNvSpPr txBox="1"/>
          <p:nvPr/>
        </p:nvSpPr>
        <p:spPr>
          <a:xfrm>
            <a:off x="856456" y="703897"/>
            <a:ext cx="14969093" cy="573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19"/>
              </a:lnSpc>
              <a:spcBef>
                <a:spcPct val="0"/>
              </a:spcBef>
            </a:pPr>
            <a:r>
              <a:rPr lang="en-US" sz="3299" b="1" u="sng" dirty="0">
                <a:solidFill>
                  <a:srgbClr val="B00B39"/>
                </a:solidFill>
                <a:latin typeface="Cardo Bold"/>
                <a:ea typeface="Cardo Bold"/>
                <a:cs typeface="Cardo Bold"/>
                <a:sym typeface="Cardo Bold"/>
              </a:rPr>
              <a:t>Experiment 3: UNI2-H + Low-Resolution Fusion and DeepLabV3 Decoder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771209" y="3396254"/>
            <a:ext cx="6258562" cy="34805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3224" lvl="1" indent="-266612" algn="l">
              <a:lnSpc>
                <a:spcPts val="3457"/>
              </a:lnSpc>
              <a:spcBef>
                <a:spcPct val="0"/>
              </a:spcBef>
              <a:buFont typeface="Arial"/>
              <a:buChar char="•"/>
            </a:pPr>
            <a:r>
              <a:rPr lang="en-US" sz="2469" u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Two forward passes:</a:t>
            </a:r>
          </a:p>
          <a:p>
            <a:pPr marL="1066448" lvl="2" indent="-355483" algn="l">
              <a:lnSpc>
                <a:spcPts val="3457"/>
              </a:lnSpc>
              <a:spcBef>
                <a:spcPct val="0"/>
              </a:spcBef>
              <a:buFont typeface="Arial"/>
              <a:buChar char="⚬"/>
            </a:pPr>
            <a:r>
              <a:rPr lang="en-US" sz="2469" u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High-res path (1512×1512) → fine nuclei details</a:t>
            </a:r>
          </a:p>
          <a:p>
            <a:pPr marL="1066448" lvl="2" indent="-355483" algn="l">
              <a:lnSpc>
                <a:spcPts val="3457"/>
              </a:lnSpc>
              <a:spcBef>
                <a:spcPct val="0"/>
              </a:spcBef>
              <a:buFont typeface="Arial"/>
              <a:buChar char="⚬"/>
            </a:pPr>
            <a:r>
              <a:rPr lang="en-US" sz="2469" u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Low-res path (756×756) → tissue-level structure</a:t>
            </a:r>
          </a:p>
          <a:p>
            <a:pPr marL="533224" lvl="1" indent="-266612" algn="l">
              <a:lnSpc>
                <a:spcPts val="3457"/>
              </a:lnSpc>
              <a:spcBef>
                <a:spcPct val="0"/>
              </a:spcBef>
              <a:buFont typeface="Arial"/>
              <a:buChar char="•"/>
            </a:pPr>
            <a:r>
              <a:rPr lang="en-US" sz="2469" u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Cross-attention fusion merges the two </a:t>
            </a:r>
          </a:p>
          <a:p>
            <a:pPr marL="533224" lvl="1" indent="-266612" algn="l">
              <a:lnSpc>
                <a:spcPts val="3457"/>
              </a:lnSpc>
              <a:spcBef>
                <a:spcPct val="0"/>
              </a:spcBef>
              <a:buFont typeface="Arial"/>
              <a:buChar char="•"/>
            </a:pPr>
            <a:r>
              <a:rPr lang="en-US" sz="2469" u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Higher GPU use (~19.4 GB)</a:t>
            </a:r>
          </a:p>
          <a:p>
            <a:pPr marL="533224" lvl="1" indent="-266612" algn="l">
              <a:lnSpc>
                <a:spcPts val="3457"/>
              </a:lnSpc>
              <a:spcBef>
                <a:spcPct val="0"/>
              </a:spcBef>
              <a:buFont typeface="Arial"/>
              <a:buChar char="•"/>
            </a:pPr>
            <a:r>
              <a:rPr lang="en-US" sz="2469" u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Best score among all models: </a:t>
            </a:r>
            <a:r>
              <a:rPr lang="en-US" sz="2469" b="1" u="none" strike="noStrik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0.8217</a:t>
            </a:r>
          </a:p>
        </p:txBody>
      </p:sp>
      <p:grpSp>
        <p:nvGrpSpPr>
          <p:cNvPr id="42" name="Group 8">
            <a:extLst>
              <a:ext uri="{FF2B5EF4-FFF2-40B4-BE49-F238E27FC236}">
                <a16:creationId xmlns:a16="http://schemas.microsoft.com/office/drawing/2014/main" id="{1C32784F-5480-99C5-83BC-5D0ABDAFC634}"/>
              </a:ext>
            </a:extLst>
          </p:cNvPr>
          <p:cNvGrpSpPr/>
          <p:nvPr/>
        </p:nvGrpSpPr>
        <p:grpSpPr>
          <a:xfrm>
            <a:off x="3923736" y="-23943"/>
            <a:ext cx="3923736" cy="389959"/>
            <a:chOff x="0" y="0"/>
            <a:chExt cx="1033412" cy="102705"/>
          </a:xfrm>
        </p:grpSpPr>
        <p:sp>
          <p:nvSpPr>
            <p:cNvPr id="43" name="Freeform 9">
              <a:extLst>
                <a:ext uri="{FF2B5EF4-FFF2-40B4-BE49-F238E27FC236}">
                  <a16:creationId xmlns:a16="http://schemas.microsoft.com/office/drawing/2014/main" id="{1F935C9A-5FB5-01E2-D936-BB6BB7D7FEFD}"/>
                </a:ext>
              </a:extLst>
            </p:cNvPr>
            <p:cNvSpPr/>
            <p:nvPr/>
          </p:nvSpPr>
          <p:spPr>
            <a:xfrm>
              <a:off x="0" y="0"/>
              <a:ext cx="1033412" cy="102705"/>
            </a:xfrm>
            <a:custGeom>
              <a:avLst/>
              <a:gdLst/>
              <a:ahLst/>
              <a:cxnLst/>
              <a:rect l="l" t="t" r="r" b="b"/>
              <a:pathLst>
                <a:path w="1033412" h="102705">
                  <a:moveTo>
                    <a:pt x="0" y="0"/>
                  </a:moveTo>
                  <a:lnTo>
                    <a:pt x="1033412" y="0"/>
                  </a:lnTo>
                  <a:lnTo>
                    <a:pt x="1033412" y="102705"/>
                  </a:lnTo>
                  <a:lnTo>
                    <a:pt x="0" y="102705"/>
                  </a:lnTo>
                  <a:close/>
                </a:path>
              </a:pathLst>
            </a:custGeom>
            <a:solidFill>
              <a:srgbClr val="B00B39">
                <a:alpha val="19608"/>
              </a:srgbClr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44" name="TextBox 10">
              <a:extLst>
                <a:ext uri="{FF2B5EF4-FFF2-40B4-BE49-F238E27FC236}">
                  <a16:creationId xmlns:a16="http://schemas.microsoft.com/office/drawing/2014/main" id="{8E76621D-9663-E9DD-BEDC-6F410FEE0E22}"/>
                </a:ext>
              </a:extLst>
            </p:cNvPr>
            <p:cNvSpPr txBox="1"/>
            <p:nvPr/>
          </p:nvSpPr>
          <p:spPr>
            <a:xfrm>
              <a:off x="0" y="-38100"/>
              <a:ext cx="1033412" cy="1408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45" name="Group 11">
            <a:extLst>
              <a:ext uri="{FF2B5EF4-FFF2-40B4-BE49-F238E27FC236}">
                <a16:creationId xmlns:a16="http://schemas.microsoft.com/office/drawing/2014/main" id="{64D4425A-8B44-DFFE-9B89-577A51C635C4}"/>
              </a:ext>
            </a:extLst>
          </p:cNvPr>
          <p:cNvGrpSpPr/>
          <p:nvPr/>
        </p:nvGrpSpPr>
        <p:grpSpPr>
          <a:xfrm>
            <a:off x="7847472" y="-101928"/>
            <a:ext cx="3923736" cy="467944"/>
            <a:chOff x="0" y="0"/>
            <a:chExt cx="1033412" cy="123245"/>
          </a:xfrm>
        </p:grpSpPr>
        <p:sp>
          <p:nvSpPr>
            <p:cNvPr id="46" name="Freeform 12">
              <a:extLst>
                <a:ext uri="{FF2B5EF4-FFF2-40B4-BE49-F238E27FC236}">
                  <a16:creationId xmlns:a16="http://schemas.microsoft.com/office/drawing/2014/main" id="{A233CF4D-460F-24CA-CAA1-FF39B87AD434}"/>
                </a:ext>
              </a:extLst>
            </p:cNvPr>
            <p:cNvSpPr/>
            <p:nvPr/>
          </p:nvSpPr>
          <p:spPr>
            <a:xfrm>
              <a:off x="0" y="0"/>
              <a:ext cx="1033412" cy="123245"/>
            </a:xfrm>
            <a:custGeom>
              <a:avLst/>
              <a:gdLst/>
              <a:ahLst/>
              <a:cxnLst/>
              <a:rect l="l" t="t" r="r" b="b"/>
              <a:pathLst>
                <a:path w="1033412" h="123245">
                  <a:moveTo>
                    <a:pt x="0" y="0"/>
                  </a:moveTo>
                  <a:lnTo>
                    <a:pt x="1033412" y="0"/>
                  </a:lnTo>
                  <a:lnTo>
                    <a:pt x="1033412" y="123245"/>
                  </a:lnTo>
                  <a:lnTo>
                    <a:pt x="0" y="123245"/>
                  </a:lnTo>
                  <a:close/>
                </a:path>
              </a:pathLst>
            </a:custGeom>
            <a:solidFill>
              <a:srgbClr val="B00B39"/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47" name="TextBox 13">
              <a:extLst>
                <a:ext uri="{FF2B5EF4-FFF2-40B4-BE49-F238E27FC236}">
                  <a16:creationId xmlns:a16="http://schemas.microsoft.com/office/drawing/2014/main" id="{1BF0DB41-EEE5-A457-2023-162E09B55596}"/>
                </a:ext>
              </a:extLst>
            </p:cNvPr>
            <p:cNvSpPr txBox="1"/>
            <p:nvPr/>
          </p:nvSpPr>
          <p:spPr>
            <a:xfrm>
              <a:off x="0" y="-38100"/>
              <a:ext cx="1033412" cy="1613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48" name="Group 14">
            <a:extLst>
              <a:ext uri="{FF2B5EF4-FFF2-40B4-BE49-F238E27FC236}">
                <a16:creationId xmlns:a16="http://schemas.microsoft.com/office/drawing/2014/main" id="{F56DB87E-CD57-A16A-4EF3-D84B5C2558E1}"/>
              </a:ext>
            </a:extLst>
          </p:cNvPr>
          <p:cNvGrpSpPr/>
          <p:nvPr/>
        </p:nvGrpSpPr>
        <p:grpSpPr>
          <a:xfrm>
            <a:off x="11771209" y="-23943"/>
            <a:ext cx="3923736" cy="389959"/>
            <a:chOff x="0" y="0"/>
            <a:chExt cx="1033412" cy="102705"/>
          </a:xfrm>
        </p:grpSpPr>
        <p:sp>
          <p:nvSpPr>
            <p:cNvPr id="49" name="Freeform 15">
              <a:extLst>
                <a:ext uri="{FF2B5EF4-FFF2-40B4-BE49-F238E27FC236}">
                  <a16:creationId xmlns:a16="http://schemas.microsoft.com/office/drawing/2014/main" id="{CF021FC5-A3AE-0642-8591-B7E0BECB0E2C}"/>
                </a:ext>
              </a:extLst>
            </p:cNvPr>
            <p:cNvSpPr/>
            <p:nvPr/>
          </p:nvSpPr>
          <p:spPr>
            <a:xfrm>
              <a:off x="0" y="0"/>
              <a:ext cx="1033412" cy="102705"/>
            </a:xfrm>
            <a:custGeom>
              <a:avLst/>
              <a:gdLst/>
              <a:ahLst/>
              <a:cxnLst/>
              <a:rect l="l" t="t" r="r" b="b"/>
              <a:pathLst>
                <a:path w="1033412" h="102705">
                  <a:moveTo>
                    <a:pt x="0" y="0"/>
                  </a:moveTo>
                  <a:lnTo>
                    <a:pt x="1033412" y="0"/>
                  </a:lnTo>
                  <a:lnTo>
                    <a:pt x="1033412" y="102705"/>
                  </a:lnTo>
                  <a:lnTo>
                    <a:pt x="0" y="102705"/>
                  </a:lnTo>
                  <a:close/>
                </a:path>
              </a:pathLst>
            </a:custGeom>
            <a:solidFill>
              <a:srgbClr val="B00B39">
                <a:alpha val="19608"/>
              </a:srgbClr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50" name="TextBox 16">
              <a:extLst>
                <a:ext uri="{FF2B5EF4-FFF2-40B4-BE49-F238E27FC236}">
                  <a16:creationId xmlns:a16="http://schemas.microsoft.com/office/drawing/2014/main" id="{D9462AC0-8A32-8ECC-E1BD-49FE20FE791F}"/>
                </a:ext>
              </a:extLst>
            </p:cNvPr>
            <p:cNvSpPr txBox="1"/>
            <p:nvPr/>
          </p:nvSpPr>
          <p:spPr>
            <a:xfrm>
              <a:off x="0" y="-38100"/>
              <a:ext cx="1033412" cy="1408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1" name="TextBox 21">
            <a:extLst>
              <a:ext uri="{FF2B5EF4-FFF2-40B4-BE49-F238E27FC236}">
                <a16:creationId xmlns:a16="http://schemas.microsoft.com/office/drawing/2014/main" id="{51E4EC2D-887F-010D-361F-66054590FC4C}"/>
              </a:ext>
            </a:extLst>
          </p:cNvPr>
          <p:cNvSpPr txBox="1"/>
          <p:nvPr/>
        </p:nvSpPr>
        <p:spPr>
          <a:xfrm>
            <a:off x="1146942" y="-12075"/>
            <a:ext cx="1629853" cy="342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2"/>
              </a:lnSpc>
            </a:pPr>
            <a:r>
              <a:rPr lang="en-US" sz="1951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Introduction </a:t>
            </a:r>
          </a:p>
        </p:txBody>
      </p:sp>
      <p:sp>
        <p:nvSpPr>
          <p:cNvPr id="52" name="TextBox 22">
            <a:extLst>
              <a:ext uri="{FF2B5EF4-FFF2-40B4-BE49-F238E27FC236}">
                <a16:creationId xmlns:a16="http://schemas.microsoft.com/office/drawing/2014/main" id="{45BCD938-AADD-47D0-776A-503A15A538C7}"/>
              </a:ext>
            </a:extLst>
          </p:cNvPr>
          <p:cNvSpPr txBox="1"/>
          <p:nvPr/>
        </p:nvSpPr>
        <p:spPr>
          <a:xfrm>
            <a:off x="5073241" y="-12075"/>
            <a:ext cx="1941238" cy="3242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32"/>
              </a:lnSpc>
            </a:pPr>
            <a:r>
              <a:rPr lang="en-US" sz="1951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Methodology</a:t>
            </a:r>
          </a:p>
        </p:txBody>
      </p:sp>
      <p:sp>
        <p:nvSpPr>
          <p:cNvPr id="53" name="TextBox 23">
            <a:extLst>
              <a:ext uri="{FF2B5EF4-FFF2-40B4-BE49-F238E27FC236}">
                <a16:creationId xmlns:a16="http://schemas.microsoft.com/office/drawing/2014/main" id="{A94A8524-E2B1-A209-6C05-1F801F133804}"/>
              </a:ext>
            </a:extLst>
          </p:cNvPr>
          <p:cNvSpPr txBox="1"/>
          <p:nvPr/>
        </p:nvSpPr>
        <p:spPr>
          <a:xfrm>
            <a:off x="9358004" y="-24046"/>
            <a:ext cx="1072999" cy="3362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32"/>
              </a:lnSpc>
            </a:pPr>
            <a:r>
              <a:rPr lang="en-US" sz="1951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Results</a:t>
            </a:r>
          </a:p>
        </p:txBody>
      </p:sp>
      <p:sp>
        <p:nvSpPr>
          <p:cNvPr id="54" name="TextBox 24">
            <a:extLst>
              <a:ext uri="{FF2B5EF4-FFF2-40B4-BE49-F238E27FC236}">
                <a16:creationId xmlns:a16="http://schemas.microsoft.com/office/drawing/2014/main" id="{C536A196-8360-D210-5C95-E0EC7B7C872F}"/>
              </a:ext>
            </a:extLst>
          </p:cNvPr>
          <p:cNvSpPr txBox="1"/>
          <p:nvPr/>
        </p:nvSpPr>
        <p:spPr>
          <a:xfrm>
            <a:off x="12604201" y="-12075"/>
            <a:ext cx="2464004" cy="3242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32"/>
              </a:lnSpc>
            </a:pPr>
            <a:r>
              <a:rPr lang="en-US" sz="1951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Critical Discussion</a:t>
            </a:r>
          </a:p>
        </p:txBody>
      </p:sp>
      <p:sp>
        <p:nvSpPr>
          <p:cNvPr id="55" name="TextBox 25">
            <a:extLst>
              <a:ext uri="{FF2B5EF4-FFF2-40B4-BE49-F238E27FC236}">
                <a16:creationId xmlns:a16="http://schemas.microsoft.com/office/drawing/2014/main" id="{277A5D23-C945-41A4-1511-BE6598B56DAD}"/>
              </a:ext>
            </a:extLst>
          </p:cNvPr>
          <p:cNvSpPr txBox="1"/>
          <p:nvPr/>
        </p:nvSpPr>
        <p:spPr>
          <a:xfrm>
            <a:off x="16408410" y="-24046"/>
            <a:ext cx="1498589" cy="3362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32"/>
              </a:lnSpc>
            </a:pPr>
            <a:r>
              <a:rPr lang="en-US" sz="1951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Conclusion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78475" cy="366016"/>
            <a:chOff x="0" y="0"/>
            <a:chExt cx="4814084" cy="9639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4084" cy="96399"/>
            </a:xfrm>
            <a:custGeom>
              <a:avLst/>
              <a:gdLst/>
              <a:ahLst/>
              <a:cxnLst/>
              <a:rect l="l" t="t" r="r" b="b"/>
              <a:pathLst>
                <a:path w="4814084" h="96399">
                  <a:moveTo>
                    <a:pt x="0" y="0"/>
                  </a:moveTo>
                  <a:lnTo>
                    <a:pt x="4814084" y="0"/>
                  </a:lnTo>
                  <a:lnTo>
                    <a:pt x="4814084" y="96399"/>
                  </a:lnTo>
                  <a:lnTo>
                    <a:pt x="0" y="96399"/>
                  </a:lnTo>
                  <a:close/>
                </a:path>
              </a:pathLst>
            </a:custGeom>
            <a:solidFill>
              <a:srgbClr val="897993"/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4084" cy="1344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-55288"/>
            <a:ext cx="3923736" cy="421303"/>
            <a:chOff x="0" y="0"/>
            <a:chExt cx="1033412" cy="11096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33412" cy="110961"/>
            </a:xfrm>
            <a:custGeom>
              <a:avLst/>
              <a:gdLst/>
              <a:ahLst/>
              <a:cxnLst/>
              <a:rect l="l" t="t" r="r" b="b"/>
              <a:pathLst>
                <a:path w="1033412" h="110961">
                  <a:moveTo>
                    <a:pt x="0" y="0"/>
                  </a:moveTo>
                  <a:lnTo>
                    <a:pt x="1033412" y="0"/>
                  </a:lnTo>
                  <a:lnTo>
                    <a:pt x="1033412" y="110961"/>
                  </a:lnTo>
                  <a:lnTo>
                    <a:pt x="0" y="110961"/>
                  </a:lnTo>
                  <a:close/>
                </a:path>
              </a:pathLst>
            </a:custGeom>
            <a:solidFill>
              <a:srgbClr val="B00B39">
                <a:alpha val="19608"/>
              </a:srgbClr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033412" cy="1490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5694945" y="-40855"/>
            <a:ext cx="3923736" cy="389959"/>
            <a:chOff x="0" y="0"/>
            <a:chExt cx="1033412" cy="102705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033412" cy="102705"/>
            </a:xfrm>
            <a:custGeom>
              <a:avLst/>
              <a:gdLst/>
              <a:ahLst/>
              <a:cxnLst/>
              <a:rect l="l" t="t" r="r" b="b"/>
              <a:pathLst>
                <a:path w="1033412" h="102705">
                  <a:moveTo>
                    <a:pt x="0" y="0"/>
                  </a:moveTo>
                  <a:lnTo>
                    <a:pt x="1033412" y="0"/>
                  </a:lnTo>
                  <a:lnTo>
                    <a:pt x="1033412" y="102705"/>
                  </a:lnTo>
                  <a:lnTo>
                    <a:pt x="0" y="102705"/>
                  </a:lnTo>
                  <a:close/>
                </a:path>
              </a:pathLst>
            </a:custGeom>
            <a:solidFill>
              <a:srgbClr val="B00B39">
                <a:alpha val="19608"/>
              </a:srgbClr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1033412" cy="1408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0" name="Freeform 20"/>
          <p:cNvSpPr/>
          <p:nvPr/>
        </p:nvSpPr>
        <p:spPr>
          <a:xfrm>
            <a:off x="392212" y="2602538"/>
            <a:ext cx="7280922" cy="6045256"/>
          </a:xfrm>
          <a:custGeom>
            <a:avLst/>
            <a:gdLst/>
            <a:ahLst/>
            <a:cxnLst/>
            <a:rect l="l" t="t" r="r" b="b"/>
            <a:pathLst>
              <a:path w="7280922" h="6045256">
                <a:moveTo>
                  <a:pt x="0" y="0"/>
                </a:moveTo>
                <a:lnTo>
                  <a:pt x="7280922" y="0"/>
                </a:lnTo>
                <a:lnTo>
                  <a:pt x="7280922" y="6045256"/>
                </a:lnTo>
                <a:lnTo>
                  <a:pt x="0" y="60452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GR"/>
          </a:p>
        </p:txBody>
      </p:sp>
      <p:sp>
        <p:nvSpPr>
          <p:cNvPr id="21" name="Freeform 21"/>
          <p:cNvSpPr/>
          <p:nvPr/>
        </p:nvSpPr>
        <p:spPr>
          <a:xfrm>
            <a:off x="7379698" y="2456758"/>
            <a:ext cx="10449007" cy="6191037"/>
          </a:xfrm>
          <a:custGeom>
            <a:avLst/>
            <a:gdLst/>
            <a:ahLst/>
            <a:cxnLst/>
            <a:rect l="l" t="t" r="r" b="b"/>
            <a:pathLst>
              <a:path w="10449007" h="6191037">
                <a:moveTo>
                  <a:pt x="0" y="0"/>
                </a:moveTo>
                <a:lnTo>
                  <a:pt x="10449007" y="0"/>
                </a:lnTo>
                <a:lnTo>
                  <a:pt x="10449007" y="6191036"/>
                </a:lnTo>
                <a:lnTo>
                  <a:pt x="0" y="61910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GR"/>
          </a:p>
        </p:txBody>
      </p:sp>
      <p:sp>
        <p:nvSpPr>
          <p:cNvPr id="27" name="TextBox 27"/>
          <p:cNvSpPr txBox="1"/>
          <p:nvPr/>
        </p:nvSpPr>
        <p:spPr>
          <a:xfrm>
            <a:off x="856456" y="703897"/>
            <a:ext cx="14969093" cy="573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19"/>
              </a:lnSpc>
              <a:spcBef>
                <a:spcPct val="0"/>
              </a:spcBef>
            </a:pPr>
            <a:r>
              <a:rPr lang="en-US" sz="3299" b="1" u="sng" dirty="0">
                <a:solidFill>
                  <a:srgbClr val="B00B39"/>
                </a:solidFill>
                <a:latin typeface="Cardo Bold"/>
                <a:ea typeface="Cardo Bold"/>
                <a:cs typeface="Cardo Bold"/>
                <a:sym typeface="Cardo Bold"/>
              </a:rPr>
              <a:t>Experiment 3: UNI2-H + Low-Resolution Fusion and DeepLabV3 Decoder</a:t>
            </a:r>
          </a:p>
        </p:txBody>
      </p:sp>
      <p:grpSp>
        <p:nvGrpSpPr>
          <p:cNvPr id="42" name="Group 8">
            <a:extLst>
              <a:ext uri="{FF2B5EF4-FFF2-40B4-BE49-F238E27FC236}">
                <a16:creationId xmlns:a16="http://schemas.microsoft.com/office/drawing/2014/main" id="{FB1E843F-78F7-F7CA-B8A4-BD5ED91AF423}"/>
              </a:ext>
            </a:extLst>
          </p:cNvPr>
          <p:cNvGrpSpPr/>
          <p:nvPr/>
        </p:nvGrpSpPr>
        <p:grpSpPr>
          <a:xfrm>
            <a:off x="3923736" y="-23943"/>
            <a:ext cx="3923736" cy="389959"/>
            <a:chOff x="0" y="0"/>
            <a:chExt cx="1033412" cy="102705"/>
          </a:xfrm>
        </p:grpSpPr>
        <p:sp>
          <p:nvSpPr>
            <p:cNvPr id="43" name="Freeform 9">
              <a:extLst>
                <a:ext uri="{FF2B5EF4-FFF2-40B4-BE49-F238E27FC236}">
                  <a16:creationId xmlns:a16="http://schemas.microsoft.com/office/drawing/2014/main" id="{82845405-0AAA-104C-1E2A-9A886908880B}"/>
                </a:ext>
              </a:extLst>
            </p:cNvPr>
            <p:cNvSpPr/>
            <p:nvPr/>
          </p:nvSpPr>
          <p:spPr>
            <a:xfrm>
              <a:off x="0" y="0"/>
              <a:ext cx="1033412" cy="102705"/>
            </a:xfrm>
            <a:custGeom>
              <a:avLst/>
              <a:gdLst/>
              <a:ahLst/>
              <a:cxnLst/>
              <a:rect l="l" t="t" r="r" b="b"/>
              <a:pathLst>
                <a:path w="1033412" h="102705">
                  <a:moveTo>
                    <a:pt x="0" y="0"/>
                  </a:moveTo>
                  <a:lnTo>
                    <a:pt x="1033412" y="0"/>
                  </a:lnTo>
                  <a:lnTo>
                    <a:pt x="1033412" y="102705"/>
                  </a:lnTo>
                  <a:lnTo>
                    <a:pt x="0" y="102705"/>
                  </a:lnTo>
                  <a:close/>
                </a:path>
              </a:pathLst>
            </a:custGeom>
            <a:solidFill>
              <a:srgbClr val="B00B39">
                <a:alpha val="19608"/>
              </a:srgbClr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44" name="TextBox 10">
              <a:extLst>
                <a:ext uri="{FF2B5EF4-FFF2-40B4-BE49-F238E27FC236}">
                  <a16:creationId xmlns:a16="http://schemas.microsoft.com/office/drawing/2014/main" id="{4E852A71-E634-8603-4A64-5B7B47FE4521}"/>
                </a:ext>
              </a:extLst>
            </p:cNvPr>
            <p:cNvSpPr txBox="1"/>
            <p:nvPr/>
          </p:nvSpPr>
          <p:spPr>
            <a:xfrm>
              <a:off x="0" y="-38100"/>
              <a:ext cx="1033412" cy="1408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45" name="Group 11">
            <a:extLst>
              <a:ext uri="{FF2B5EF4-FFF2-40B4-BE49-F238E27FC236}">
                <a16:creationId xmlns:a16="http://schemas.microsoft.com/office/drawing/2014/main" id="{303CE798-C880-B2BA-D338-D944AA682C98}"/>
              </a:ext>
            </a:extLst>
          </p:cNvPr>
          <p:cNvGrpSpPr/>
          <p:nvPr/>
        </p:nvGrpSpPr>
        <p:grpSpPr>
          <a:xfrm>
            <a:off x="7847472" y="-101928"/>
            <a:ext cx="3923736" cy="467944"/>
            <a:chOff x="0" y="0"/>
            <a:chExt cx="1033412" cy="123245"/>
          </a:xfrm>
        </p:grpSpPr>
        <p:sp>
          <p:nvSpPr>
            <p:cNvPr id="46" name="Freeform 12">
              <a:extLst>
                <a:ext uri="{FF2B5EF4-FFF2-40B4-BE49-F238E27FC236}">
                  <a16:creationId xmlns:a16="http://schemas.microsoft.com/office/drawing/2014/main" id="{E7372CCC-C21C-9410-5133-3EAF91944F26}"/>
                </a:ext>
              </a:extLst>
            </p:cNvPr>
            <p:cNvSpPr/>
            <p:nvPr/>
          </p:nvSpPr>
          <p:spPr>
            <a:xfrm>
              <a:off x="0" y="0"/>
              <a:ext cx="1033412" cy="123245"/>
            </a:xfrm>
            <a:custGeom>
              <a:avLst/>
              <a:gdLst/>
              <a:ahLst/>
              <a:cxnLst/>
              <a:rect l="l" t="t" r="r" b="b"/>
              <a:pathLst>
                <a:path w="1033412" h="123245">
                  <a:moveTo>
                    <a:pt x="0" y="0"/>
                  </a:moveTo>
                  <a:lnTo>
                    <a:pt x="1033412" y="0"/>
                  </a:lnTo>
                  <a:lnTo>
                    <a:pt x="1033412" y="123245"/>
                  </a:lnTo>
                  <a:lnTo>
                    <a:pt x="0" y="123245"/>
                  </a:lnTo>
                  <a:close/>
                </a:path>
              </a:pathLst>
            </a:custGeom>
            <a:solidFill>
              <a:srgbClr val="B00B39"/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47" name="TextBox 13">
              <a:extLst>
                <a:ext uri="{FF2B5EF4-FFF2-40B4-BE49-F238E27FC236}">
                  <a16:creationId xmlns:a16="http://schemas.microsoft.com/office/drawing/2014/main" id="{7BAA7805-3A54-7605-155F-038CAC353C61}"/>
                </a:ext>
              </a:extLst>
            </p:cNvPr>
            <p:cNvSpPr txBox="1"/>
            <p:nvPr/>
          </p:nvSpPr>
          <p:spPr>
            <a:xfrm>
              <a:off x="0" y="-38100"/>
              <a:ext cx="1033412" cy="1613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48" name="Group 14">
            <a:extLst>
              <a:ext uri="{FF2B5EF4-FFF2-40B4-BE49-F238E27FC236}">
                <a16:creationId xmlns:a16="http://schemas.microsoft.com/office/drawing/2014/main" id="{9387D53D-6DA6-2E56-3F5F-8207975B2A54}"/>
              </a:ext>
            </a:extLst>
          </p:cNvPr>
          <p:cNvGrpSpPr/>
          <p:nvPr/>
        </p:nvGrpSpPr>
        <p:grpSpPr>
          <a:xfrm>
            <a:off x="11771209" y="-23943"/>
            <a:ext cx="3923736" cy="389959"/>
            <a:chOff x="0" y="0"/>
            <a:chExt cx="1033412" cy="102705"/>
          </a:xfrm>
        </p:grpSpPr>
        <p:sp>
          <p:nvSpPr>
            <p:cNvPr id="49" name="Freeform 15">
              <a:extLst>
                <a:ext uri="{FF2B5EF4-FFF2-40B4-BE49-F238E27FC236}">
                  <a16:creationId xmlns:a16="http://schemas.microsoft.com/office/drawing/2014/main" id="{27EDCBCA-5FB4-A10A-0CFC-641B1C7E96B1}"/>
                </a:ext>
              </a:extLst>
            </p:cNvPr>
            <p:cNvSpPr/>
            <p:nvPr/>
          </p:nvSpPr>
          <p:spPr>
            <a:xfrm>
              <a:off x="0" y="0"/>
              <a:ext cx="1033412" cy="102705"/>
            </a:xfrm>
            <a:custGeom>
              <a:avLst/>
              <a:gdLst/>
              <a:ahLst/>
              <a:cxnLst/>
              <a:rect l="l" t="t" r="r" b="b"/>
              <a:pathLst>
                <a:path w="1033412" h="102705">
                  <a:moveTo>
                    <a:pt x="0" y="0"/>
                  </a:moveTo>
                  <a:lnTo>
                    <a:pt x="1033412" y="0"/>
                  </a:lnTo>
                  <a:lnTo>
                    <a:pt x="1033412" y="102705"/>
                  </a:lnTo>
                  <a:lnTo>
                    <a:pt x="0" y="102705"/>
                  </a:lnTo>
                  <a:close/>
                </a:path>
              </a:pathLst>
            </a:custGeom>
            <a:solidFill>
              <a:srgbClr val="B00B39">
                <a:alpha val="19608"/>
              </a:srgbClr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50" name="TextBox 16">
              <a:extLst>
                <a:ext uri="{FF2B5EF4-FFF2-40B4-BE49-F238E27FC236}">
                  <a16:creationId xmlns:a16="http://schemas.microsoft.com/office/drawing/2014/main" id="{ED295E02-4A9F-8306-7117-6175921BB2C2}"/>
                </a:ext>
              </a:extLst>
            </p:cNvPr>
            <p:cNvSpPr txBox="1"/>
            <p:nvPr/>
          </p:nvSpPr>
          <p:spPr>
            <a:xfrm>
              <a:off x="0" y="-38100"/>
              <a:ext cx="1033412" cy="1408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1" name="TextBox 21">
            <a:extLst>
              <a:ext uri="{FF2B5EF4-FFF2-40B4-BE49-F238E27FC236}">
                <a16:creationId xmlns:a16="http://schemas.microsoft.com/office/drawing/2014/main" id="{439DB036-9C6F-4FB1-3164-63AA69FA2FD5}"/>
              </a:ext>
            </a:extLst>
          </p:cNvPr>
          <p:cNvSpPr txBox="1"/>
          <p:nvPr/>
        </p:nvSpPr>
        <p:spPr>
          <a:xfrm>
            <a:off x="1146942" y="-12075"/>
            <a:ext cx="1629853" cy="342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2"/>
              </a:lnSpc>
            </a:pPr>
            <a:r>
              <a:rPr lang="en-US" sz="1951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Introduction </a:t>
            </a:r>
          </a:p>
        </p:txBody>
      </p:sp>
      <p:sp>
        <p:nvSpPr>
          <p:cNvPr id="52" name="TextBox 22">
            <a:extLst>
              <a:ext uri="{FF2B5EF4-FFF2-40B4-BE49-F238E27FC236}">
                <a16:creationId xmlns:a16="http://schemas.microsoft.com/office/drawing/2014/main" id="{F66491F7-C9CF-E75A-400F-A6DA5D247DC0}"/>
              </a:ext>
            </a:extLst>
          </p:cNvPr>
          <p:cNvSpPr txBox="1"/>
          <p:nvPr/>
        </p:nvSpPr>
        <p:spPr>
          <a:xfrm>
            <a:off x="5073241" y="-12075"/>
            <a:ext cx="1941238" cy="3242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32"/>
              </a:lnSpc>
            </a:pPr>
            <a:r>
              <a:rPr lang="en-US" sz="1951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Methodology</a:t>
            </a:r>
          </a:p>
        </p:txBody>
      </p:sp>
      <p:sp>
        <p:nvSpPr>
          <p:cNvPr id="53" name="TextBox 23">
            <a:extLst>
              <a:ext uri="{FF2B5EF4-FFF2-40B4-BE49-F238E27FC236}">
                <a16:creationId xmlns:a16="http://schemas.microsoft.com/office/drawing/2014/main" id="{DA8EF02E-2134-599E-C76D-00F097457416}"/>
              </a:ext>
            </a:extLst>
          </p:cNvPr>
          <p:cNvSpPr txBox="1"/>
          <p:nvPr/>
        </p:nvSpPr>
        <p:spPr>
          <a:xfrm>
            <a:off x="9358004" y="-24046"/>
            <a:ext cx="1072999" cy="3362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32"/>
              </a:lnSpc>
            </a:pPr>
            <a:r>
              <a:rPr lang="en-US" sz="1951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Results</a:t>
            </a:r>
          </a:p>
        </p:txBody>
      </p:sp>
      <p:sp>
        <p:nvSpPr>
          <p:cNvPr id="54" name="TextBox 24">
            <a:extLst>
              <a:ext uri="{FF2B5EF4-FFF2-40B4-BE49-F238E27FC236}">
                <a16:creationId xmlns:a16="http://schemas.microsoft.com/office/drawing/2014/main" id="{672A7924-C203-D018-53DC-3FDF94DB2B0A}"/>
              </a:ext>
            </a:extLst>
          </p:cNvPr>
          <p:cNvSpPr txBox="1"/>
          <p:nvPr/>
        </p:nvSpPr>
        <p:spPr>
          <a:xfrm>
            <a:off x="12604201" y="-12075"/>
            <a:ext cx="2464004" cy="3242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32"/>
              </a:lnSpc>
            </a:pPr>
            <a:r>
              <a:rPr lang="en-US" sz="1951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Critical Discussion</a:t>
            </a:r>
          </a:p>
        </p:txBody>
      </p:sp>
      <p:sp>
        <p:nvSpPr>
          <p:cNvPr id="55" name="TextBox 25">
            <a:extLst>
              <a:ext uri="{FF2B5EF4-FFF2-40B4-BE49-F238E27FC236}">
                <a16:creationId xmlns:a16="http://schemas.microsoft.com/office/drawing/2014/main" id="{6655E420-5AF3-4396-4A04-F9C04B47092E}"/>
              </a:ext>
            </a:extLst>
          </p:cNvPr>
          <p:cNvSpPr txBox="1"/>
          <p:nvPr/>
        </p:nvSpPr>
        <p:spPr>
          <a:xfrm>
            <a:off x="16408410" y="-24046"/>
            <a:ext cx="1498589" cy="3362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32"/>
              </a:lnSpc>
            </a:pPr>
            <a:r>
              <a:rPr lang="en-US" sz="1951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Conclusion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78475" cy="366016"/>
            <a:chOff x="0" y="0"/>
            <a:chExt cx="4814084" cy="9639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4084" cy="96399"/>
            </a:xfrm>
            <a:custGeom>
              <a:avLst/>
              <a:gdLst/>
              <a:ahLst/>
              <a:cxnLst/>
              <a:rect l="l" t="t" r="r" b="b"/>
              <a:pathLst>
                <a:path w="4814084" h="96399">
                  <a:moveTo>
                    <a:pt x="0" y="0"/>
                  </a:moveTo>
                  <a:lnTo>
                    <a:pt x="4814084" y="0"/>
                  </a:lnTo>
                  <a:lnTo>
                    <a:pt x="4814084" y="96399"/>
                  </a:lnTo>
                  <a:lnTo>
                    <a:pt x="0" y="96399"/>
                  </a:lnTo>
                  <a:close/>
                </a:path>
              </a:pathLst>
            </a:custGeom>
            <a:solidFill>
              <a:srgbClr val="897993"/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4084" cy="1344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-55288"/>
            <a:ext cx="3923736" cy="421303"/>
            <a:chOff x="0" y="0"/>
            <a:chExt cx="1033412" cy="11096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33412" cy="110961"/>
            </a:xfrm>
            <a:custGeom>
              <a:avLst/>
              <a:gdLst/>
              <a:ahLst/>
              <a:cxnLst/>
              <a:rect l="l" t="t" r="r" b="b"/>
              <a:pathLst>
                <a:path w="1033412" h="110961">
                  <a:moveTo>
                    <a:pt x="0" y="0"/>
                  </a:moveTo>
                  <a:lnTo>
                    <a:pt x="1033412" y="0"/>
                  </a:lnTo>
                  <a:lnTo>
                    <a:pt x="1033412" y="110961"/>
                  </a:lnTo>
                  <a:lnTo>
                    <a:pt x="0" y="110961"/>
                  </a:lnTo>
                  <a:close/>
                </a:path>
              </a:pathLst>
            </a:custGeom>
            <a:solidFill>
              <a:srgbClr val="B00B39">
                <a:alpha val="19608"/>
              </a:srgbClr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033412" cy="1490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5694945" y="-40855"/>
            <a:ext cx="3923736" cy="389959"/>
            <a:chOff x="0" y="0"/>
            <a:chExt cx="1033412" cy="102705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033412" cy="102705"/>
            </a:xfrm>
            <a:custGeom>
              <a:avLst/>
              <a:gdLst/>
              <a:ahLst/>
              <a:cxnLst/>
              <a:rect l="l" t="t" r="r" b="b"/>
              <a:pathLst>
                <a:path w="1033412" h="102705">
                  <a:moveTo>
                    <a:pt x="0" y="0"/>
                  </a:moveTo>
                  <a:lnTo>
                    <a:pt x="1033412" y="0"/>
                  </a:lnTo>
                  <a:lnTo>
                    <a:pt x="1033412" y="102705"/>
                  </a:lnTo>
                  <a:lnTo>
                    <a:pt x="0" y="102705"/>
                  </a:lnTo>
                  <a:close/>
                </a:path>
              </a:pathLst>
            </a:custGeom>
            <a:solidFill>
              <a:srgbClr val="B00B39">
                <a:alpha val="19608"/>
              </a:srgbClr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1033412" cy="1408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0" name="Freeform 20"/>
          <p:cNvSpPr/>
          <p:nvPr/>
        </p:nvSpPr>
        <p:spPr>
          <a:xfrm>
            <a:off x="-145895" y="2348662"/>
            <a:ext cx="13205647" cy="7263106"/>
          </a:xfrm>
          <a:custGeom>
            <a:avLst/>
            <a:gdLst/>
            <a:ahLst/>
            <a:cxnLst/>
            <a:rect l="l" t="t" r="r" b="b"/>
            <a:pathLst>
              <a:path w="13205647" h="7263106">
                <a:moveTo>
                  <a:pt x="0" y="0"/>
                </a:moveTo>
                <a:lnTo>
                  <a:pt x="13205647" y="0"/>
                </a:lnTo>
                <a:lnTo>
                  <a:pt x="13205647" y="7263106"/>
                </a:lnTo>
                <a:lnTo>
                  <a:pt x="0" y="72631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GR"/>
          </a:p>
        </p:txBody>
      </p:sp>
      <p:sp>
        <p:nvSpPr>
          <p:cNvPr id="26" name="TextBox 26"/>
          <p:cNvSpPr txBox="1"/>
          <p:nvPr/>
        </p:nvSpPr>
        <p:spPr>
          <a:xfrm>
            <a:off x="856456" y="703897"/>
            <a:ext cx="14969093" cy="573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19"/>
              </a:lnSpc>
              <a:spcBef>
                <a:spcPct val="0"/>
              </a:spcBef>
            </a:pPr>
            <a:r>
              <a:rPr lang="en-US" sz="3299" b="1" u="sng" dirty="0">
                <a:solidFill>
                  <a:srgbClr val="B00B39"/>
                </a:solidFill>
                <a:latin typeface="Cardo Bold"/>
                <a:ea typeface="Cardo Bold"/>
                <a:cs typeface="Cardo Bold"/>
                <a:sym typeface="Cardo Bold"/>
              </a:rPr>
              <a:t>Experiment 4: UNI2-H + </a:t>
            </a:r>
            <a:r>
              <a:rPr lang="en-US" sz="3299" b="1" u="sng" dirty="0" err="1">
                <a:solidFill>
                  <a:srgbClr val="B00B39"/>
                </a:solidFill>
                <a:latin typeface="Cardo Bold"/>
                <a:ea typeface="Cardo Bold"/>
                <a:cs typeface="Cardo Bold"/>
                <a:sym typeface="Cardo Bold"/>
              </a:rPr>
              <a:t>PixelFPN</a:t>
            </a:r>
            <a:r>
              <a:rPr lang="en-US" sz="3299" b="1" u="sng" dirty="0">
                <a:solidFill>
                  <a:srgbClr val="B00B39"/>
                </a:solidFill>
                <a:latin typeface="Cardo Bold"/>
                <a:ea typeface="Cardo Bold"/>
                <a:cs typeface="Cardo Bold"/>
                <a:sym typeface="Cardo Bold"/>
              </a:rPr>
              <a:t> + Simple 1×1 Decoder Head 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3059752" y="3384166"/>
            <a:ext cx="5003104" cy="34805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3224" lvl="1" indent="-266612" algn="l">
              <a:lnSpc>
                <a:spcPts val="3457"/>
              </a:lnSpc>
              <a:spcBef>
                <a:spcPct val="0"/>
              </a:spcBef>
              <a:buFont typeface="Arial"/>
              <a:buChar char="•"/>
            </a:pPr>
            <a:r>
              <a:rPr lang="en-US" sz="2469" u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Builds multi-scale features without dual forward pass</a:t>
            </a:r>
          </a:p>
          <a:p>
            <a:pPr marL="533224" lvl="1" indent="-266612" algn="l">
              <a:lnSpc>
                <a:spcPts val="3457"/>
              </a:lnSpc>
              <a:spcBef>
                <a:spcPct val="0"/>
              </a:spcBef>
              <a:buFont typeface="Arial"/>
              <a:buChar char="•"/>
            </a:pPr>
            <a:r>
              <a:rPr lang="en-US" sz="2469" u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Feature pyramid levels: P3, P4, P5</a:t>
            </a:r>
          </a:p>
          <a:p>
            <a:pPr marL="533224" lvl="1" indent="-266612" algn="l">
              <a:lnSpc>
                <a:spcPts val="3457"/>
              </a:lnSpc>
              <a:spcBef>
                <a:spcPct val="0"/>
              </a:spcBef>
              <a:buFont typeface="Arial"/>
              <a:buChar char="•"/>
            </a:pPr>
            <a:r>
              <a:rPr lang="en-US" sz="2469" u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Low computational cost (~11.36 GB)</a:t>
            </a:r>
          </a:p>
          <a:p>
            <a:pPr marL="533224" lvl="1" indent="-266612" algn="l">
              <a:lnSpc>
                <a:spcPts val="3457"/>
              </a:lnSpc>
              <a:spcBef>
                <a:spcPct val="0"/>
              </a:spcBef>
              <a:buFont typeface="Arial"/>
              <a:buChar char="•"/>
            </a:pPr>
            <a:r>
              <a:rPr lang="en-US" sz="2469" u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Simple 1×1 conv decoder</a:t>
            </a:r>
          </a:p>
          <a:p>
            <a:pPr marL="533224" lvl="1" indent="-266612" algn="l">
              <a:lnSpc>
                <a:spcPts val="3457"/>
              </a:lnSpc>
              <a:spcBef>
                <a:spcPct val="0"/>
              </a:spcBef>
              <a:buFont typeface="Arial"/>
              <a:buChar char="•"/>
            </a:pPr>
            <a:r>
              <a:rPr lang="en-US" sz="2469" u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Score: </a:t>
            </a:r>
            <a:r>
              <a:rPr lang="en-US" sz="2469" b="1" u="none" strike="noStrik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0.8130</a:t>
            </a:r>
          </a:p>
        </p:txBody>
      </p:sp>
      <p:grpSp>
        <p:nvGrpSpPr>
          <p:cNvPr id="28" name="Group 8">
            <a:extLst>
              <a:ext uri="{FF2B5EF4-FFF2-40B4-BE49-F238E27FC236}">
                <a16:creationId xmlns:a16="http://schemas.microsoft.com/office/drawing/2014/main" id="{C2674095-F18E-B36C-8740-758BED139720}"/>
              </a:ext>
            </a:extLst>
          </p:cNvPr>
          <p:cNvGrpSpPr/>
          <p:nvPr/>
        </p:nvGrpSpPr>
        <p:grpSpPr>
          <a:xfrm>
            <a:off x="3923736" y="-23943"/>
            <a:ext cx="3923736" cy="389959"/>
            <a:chOff x="0" y="0"/>
            <a:chExt cx="1033412" cy="102705"/>
          </a:xfrm>
        </p:grpSpPr>
        <p:sp>
          <p:nvSpPr>
            <p:cNvPr id="29" name="Freeform 9">
              <a:extLst>
                <a:ext uri="{FF2B5EF4-FFF2-40B4-BE49-F238E27FC236}">
                  <a16:creationId xmlns:a16="http://schemas.microsoft.com/office/drawing/2014/main" id="{FCB95B42-2726-E807-43FC-0689FDEBF388}"/>
                </a:ext>
              </a:extLst>
            </p:cNvPr>
            <p:cNvSpPr/>
            <p:nvPr/>
          </p:nvSpPr>
          <p:spPr>
            <a:xfrm>
              <a:off x="0" y="0"/>
              <a:ext cx="1033412" cy="102705"/>
            </a:xfrm>
            <a:custGeom>
              <a:avLst/>
              <a:gdLst/>
              <a:ahLst/>
              <a:cxnLst/>
              <a:rect l="l" t="t" r="r" b="b"/>
              <a:pathLst>
                <a:path w="1033412" h="102705">
                  <a:moveTo>
                    <a:pt x="0" y="0"/>
                  </a:moveTo>
                  <a:lnTo>
                    <a:pt x="1033412" y="0"/>
                  </a:lnTo>
                  <a:lnTo>
                    <a:pt x="1033412" y="102705"/>
                  </a:lnTo>
                  <a:lnTo>
                    <a:pt x="0" y="102705"/>
                  </a:lnTo>
                  <a:close/>
                </a:path>
              </a:pathLst>
            </a:custGeom>
            <a:solidFill>
              <a:srgbClr val="B00B39">
                <a:alpha val="19608"/>
              </a:srgbClr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30" name="TextBox 10">
              <a:extLst>
                <a:ext uri="{FF2B5EF4-FFF2-40B4-BE49-F238E27FC236}">
                  <a16:creationId xmlns:a16="http://schemas.microsoft.com/office/drawing/2014/main" id="{786D87A6-FF33-DF35-3CE9-03C5D1ACEA09}"/>
                </a:ext>
              </a:extLst>
            </p:cNvPr>
            <p:cNvSpPr txBox="1"/>
            <p:nvPr/>
          </p:nvSpPr>
          <p:spPr>
            <a:xfrm>
              <a:off x="0" y="-38100"/>
              <a:ext cx="1033412" cy="1408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1" name="Group 11">
            <a:extLst>
              <a:ext uri="{FF2B5EF4-FFF2-40B4-BE49-F238E27FC236}">
                <a16:creationId xmlns:a16="http://schemas.microsoft.com/office/drawing/2014/main" id="{75DAA18E-204E-3A05-FCD3-A23A6EE00287}"/>
              </a:ext>
            </a:extLst>
          </p:cNvPr>
          <p:cNvGrpSpPr/>
          <p:nvPr/>
        </p:nvGrpSpPr>
        <p:grpSpPr>
          <a:xfrm>
            <a:off x="7847472" y="-101928"/>
            <a:ext cx="3923736" cy="467944"/>
            <a:chOff x="0" y="0"/>
            <a:chExt cx="1033412" cy="123245"/>
          </a:xfrm>
        </p:grpSpPr>
        <p:sp>
          <p:nvSpPr>
            <p:cNvPr id="32" name="Freeform 12">
              <a:extLst>
                <a:ext uri="{FF2B5EF4-FFF2-40B4-BE49-F238E27FC236}">
                  <a16:creationId xmlns:a16="http://schemas.microsoft.com/office/drawing/2014/main" id="{BEB4EFA6-BF93-CE12-123B-BC917572094E}"/>
                </a:ext>
              </a:extLst>
            </p:cNvPr>
            <p:cNvSpPr/>
            <p:nvPr/>
          </p:nvSpPr>
          <p:spPr>
            <a:xfrm>
              <a:off x="0" y="0"/>
              <a:ext cx="1033412" cy="123245"/>
            </a:xfrm>
            <a:custGeom>
              <a:avLst/>
              <a:gdLst/>
              <a:ahLst/>
              <a:cxnLst/>
              <a:rect l="l" t="t" r="r" b="b"/>
              <a:pathLst>
                <a:path w="1033412" h="123245">
                  <a:moveTo>
                    <a:pt x="0" y="0"/>
                  </a:moveTo>
                  <a:lnTo>
                    <a:pt x="1033412" y="0"/>
                  </a:lnTo>
                  <a:lnTo>
                    <a:pt x="1033412" y="123245"/>
                  </a:lnTo>
                  <a:lnTo>
                    <a:pt x="0" y="123245"/>
                  </a:lnTo>
                  <a:close/>
                </a:path>
              </a:pathLst>
            </a:custGeom>
            <a:solidFill>
              <a:srgbClr val="B00B39"/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33" name="TextBox 13">
              <a:extLst>
                <a:ext uri="{FF2B5EF4-FFF2-40B4-BE49-F238E27FC236}">
                  <a16:creationId xmlns:a16="http://schemas.microsoft.com/office/drawing/2014/main" id="{F9F6C24A-514E-BEEE-CDFF-3E3E2F9313D7}"/>
                </a:ext>
              </a:extLst>
            </p:cNvPr>
            <p:cNvSpPr txBox="1"/>
            <p:nvPr/>
          </p:nvSpPr>
          <p:spPr>
            <a:xfrm>
              <a:off x="0" y="-38100"/>
              <a:ext cx="1033412" cy="1613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4" name="Group 14">
            <a:extLst>
              <a:ext uri="{FF2B5EF4-FFF2-40B4-BE49-F238E27FC236}">
                <a16:creationId xmlns:a16="http://schemas.microsoft.com/office/drawing/2014/main" id="{38ED5E21-FF6F-879A-B066-0C8CC472163C}"/>
              </a:ext>
            </a:extLst>
          </p:cNvPr>
          <p:cNvGrpSpPr/>
          <p:nvPr/>
        </p:nvGrpSpPr>
        <p:grpSpPr>
          <a:xfrm>
            <a:off x="11771209" y="-23943"/>
            <a:ext cx="3923736" cy="389959"/>
            <a:chOff x="0" y="0"/>
            <a:chExt cx="1033412" cy="102705"/>
          </a:xfrm>
        </p:grpSpPr>
        <p:sp>
          <p:nvSpPr>
            <p:cNvPr id="35" name="Freeform 15">
              <a:extLst>
                <a:ext uri="{FF2B5EF4-FFF2-40B4-BE49-F238E27FC236}">
                  <a16:creationId xmlns:a16="http://schemas.microsoft.com/office/drawing/2014/main" id="{54F55D3A-4ABC-37DD-97EE-65C4C8598946}"/>
                </a:ext>
              </a:extLst>
            </p:cNvPr>
            <p:cNvSpPr/>
            <p:nvPr/>
          </p:nvSpPr>
          <p:spPr>
            <a:xfrm>
              <a:off x="0" y="0"/>
              <a:ext cx="1033412" cy="102705"/>
            </a:xfrm>
            <a:custGeom>
              <a:avLst/>
              <a:gdLst/>
              <a:ahLst/>
              <a:cxnLst/>
              <a:rect l="l" t="t" r="r" b="b"/>
              <a:pathLst>
                <a:path w="1033412" h="102705">
                  <a:moveTo>
                    <a:pt x="0" y="0"/>
                  </a:moveTo>
                  <a:lnTo>
                    <a:pt x="1033412" y="0"/>
                  </a:lnTo>
                  <a:lnTo>
                    <a:pt x="1033412" y="102705"/>
                  </a:lnTo>
                  <a:lnTo>
                    <a:pt x="0" y="102705"/>
                  </a:lnTo>
                  <a:close/>
                </a:path>
              </a:pathLst>
            </a:custGeom>
            <a:solidFill>
              <a:srgbClr val="B00B39">
                <a:alpha val="19608"/>
              </a:srgbClr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36" name="TextBox 16">
              <a:extLst>
                <a:ext uri="{FF2B5EF4-FFF2-40B4-BE49-F238E27FC236}">
                  <a16:creationId xmlns:a16="http://schemas.microsoft.com/office/drawing/2014/main" id="{790D30F2-FD00-33D6-51DD-3B69E5576D20}"/>
                </a:ext>
              </a:extLst>
            </p:cNvPr>
            <p:cNvSpPr txBox="1"/>
            <p:nvPr/>
          </p:nvSpPr>
          <p:spPr>
            <a:xfrm>
              <a:off x="0" y="-38100"/>
              <a:ext cx="1033412" cy="1408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7" name="TextBox 21">
            <a:extLst>
              <a:ext uri="{FF2B5EF4-FFF2-40B4-BE49-F238E27FC236}">
                <a16:creationId xmlns:a16="http://schemas.microsoft.com/office/drawing/2014/main" id="{723D219F-749C-9877-1AF2-4155CE05449F}"/>
              </a:ext>
            </a:extLst>
          </p:cNvPr>
          <p:cNvSpPr txBox="1"/>
          <p:nvPr/>
        </p:nvSpPr>
        <p:spPr>
          <a:xfrm>
            <a:off x="1146942" y="-12075"/>
            <a:ext cx="1629853" cy="342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2"/>
              </a:lnSpc>
            </a:pPr>
            <a:r>
              <a:rPr lang="en-US" sz="1951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Introduction </a:t>
            </a:r>
          </a:p>
        </p:txBody>
      </p:sp>
      <p:sp>
        <p:nvSpPr>
          <p:cNvPr id="38" name="TextBox 22">
            <a:extLst>
              <a:ext uri="{FF2B5EF4-FFF2-40B4-BE49-F238E27FC236}">
                <a16:creationId xmlns:a16="http://schemas.microsoft.com/office/drawing/2014/main" id="{5966865B-AB60-09F3-6B83-025C62EC7C50}"/>
              </a:ext>
            </a:extLst>
          </p:cNvPr>
          <p:cNvSpPr txBox="1"/>
          <p:nvPr/>
        </p:nvSpPr>
        <p:spPr>
          <a:xfrm>
            <a:off x="5073241" y="-12075"/>
            <a:ext cx="1941238" cy="3242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32"/>
              </a:lnSpc>
            </a:pPr>
            <a:r>
              <a:rPr lang="en-US" sz="1951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Methodology</a:t>
            </a:r>
          </a:p>
        </p:txBody>
      </p:sp>
      <p:sp>
        <p:nvSpPr>
          <p:cNvPr id="39" name="TextBox 23">
            <a:extLst>
              <a:ext uri="{FF2B5EF4-FFF2-40B4-BE49-F238E27FC236}">
                <a16:creationId xmlns:a16="http://schemas.microsoft.com/office/drawing/2014/main" id="{CD524DA1-EEC7-86F9-101A-D65102515683}"/>
              </a:ext>
            </a:extLst>
          </p:cNvPr>
          <p:cNvSpPr txBox="1"/>
          <p:nvPr/>
        </p:nvSpPr>
        <p:spPr>
          <a:xfrm>
            <a:off x="9358004" y="-24046"/>
            <a:ext cx="1072999" cy="3362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32"/>
              </a:lnSpc>
            </a:pPr>
            <a:r>
              <a:rPr lang="en-US" sz="1951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Results</a:t>
            </a:r>
          </a:p>
        </p:txBody>
      </p:sp>
      <p:sp>
        <p:nvSpPr>
          <p:cNvPr id="40" name="TextBox 24">
            <a:extLst>
              <a:ext uri="{FF2B5EF4-FFF2-40B4-BE49-F238E27FC236}">
                <a16:creationId xmlns:a16="http://schemas.microsoft.com/office/drawing/2014/main" id="{61F4BC3F-B7CF-3CA5-8A5C-EF8A442F93A3}"/>
              </a:ext>
            </a:extLst>
          </p:cNvPr>
          <p:cNvSpPr txBox="1"/>
          <p:nvPr/>
        </p:nvSpPr>
        <p:spPr>
          <a:xfrm>
            <a:off x="12604201" y="-12075"/>
            <a:ext cx="2464004" cy="3242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32"/>
              </a:lnSpc>
            </a:pPr>
            <a:r>
              <a:rPr lang="en-US" sz="1951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Critical Discussion</a:t>
            </a:r>
          </a:p>
        </p:txBody>
      </p:sp>
      <p:sp>
        <p:nvSpPr>
          <p:cNvPr id="41" name="TextBox 25">
            <a:extLst>
              <a:ext uri="{FF2B5EF4-FFF2-40B4-BE49-F238E27FC236}">
                <a16:creationId xmlns:a16="http://schemas.microsoft.com/office/drawing/2014/main" id="{C78C0408-56A8-3552-59BA-61F47CC14A51}"/>
              </a:ext>
            </a:extLst>
          </p:cNvPr>
          <p:cNvSpPr txBox="1"/>
          <p:nvPr/>
        </p:nvSpPr>
        <p:spPr>
          <a:xfrm>
            <a:off x="16408410" y="-24046"/>
            <a:ext cx="1498589" cy="3362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32"/>
              </a:lnSpc>
            </a:pPr>
            <a:r>
              <a:rPr lang="en-US" sz="1951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Conclusion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78475" cy="366016"/>
            <a:chOff x="0" y="0"/>
            <a:chExt cx="4814084" cy="9639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4084" cy="96399"/>
            </a:xfrm>
            <a:custGeom>
              <a:avLst/>
              <a:gdLst/>
              <a:ahLst/>
              <a:cxnLst/>
              <a:rect l="l" t="t" r="r" b="b"/>
              <a:pathLst>
                <a:path w="4814084" h="96399">
                  <a:moveTo>
                    <a:pt x="0" y="0"/>
                  </a:moveTo>
                  <a:lnTo>
                    <a:pt x="4814084" y="0"/>
                  </a:lnTo>
                  <a:lnTo>
                    <a:pt x="4814084" y="96399"/>
                  </a:lnTo>
                  <a:lnTo>
                    <a:pt x="0" y="96399"/>
                  </a:lnTo>
                  <a:close/>
                </a:path>
              </a:pathLst>
            </a:custGeom>
            <a:solidFill>
              <a:srgbClr val="897993"/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4084" cy="1344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-55288"/>
            <a:ext cx="3923736" cy="421303"/>
            <a:chOff x="0" y="0"/>
            <a:chExt cx="1033412" cy="11096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33412" cy="110961"/>
            </a:xfrm>
            <a:custGeom>
              <a:avLst/>
              <a:gdLst/>
              <a:ahLst/>
              <a:cxnLst/>
              <a:rect l="l" t="t" r="r" b="b"/>
              <a:pathLst>
                <a:path w="1033412" h="110961">
                  <a:moveTo>
                    <a:pt x="0" y="0"/>
                  </a:moveTo>
                  <a:lnTo>
                    <a:pt x="1033412" y="0"/>
                  </a:lnTo>
                  <a:lnTo>
                    <a:pt x="1033412" y="110961"/>
                  </a:lnTo>
                  <a:lnTo>
                    <a:pt x="0" y="110961"/>
                  </a:lnTo>
                  <a:close/>
                </a:path>
              </a:pathLst>
            </a:custGeom>
            <a:solidFill>
              <a:srgbClr val="B00B39">
                <a:alpha val="19608"/>
              </a:srgbClr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033412" cy="1490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5694945" y="-40855"/>
            <a:ext cx="3923736" cy="389959"/>
            <a:chOff x="0" y="0"/>
            <a:chExt cx="1033412" cy="102705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033412" cy="102705"/>
            </a:xfrm>
            <a:custGeom>
              <a:avLst/>
              <a:gdLst/>
              <a:ahLst/>
              <a:cxnLst/>
              <a:rect l="l" t="t" r="r" b="b"/>
              <a:pathLst>
                <a:path w="1033412" h="102705">
                  <a:moveTo>
                    <a:pt x="0" y="0"/>
                  </a:moveTo>
                  <a:lnTo>
                    <a:pt x="1033412" y="0"/>
                  </a:lnTo>
                  <a:lnTo>
                    <a:pt x="1033412" y="102705"/>
                  </a:lnTo>
                  <a:lnTo>
                    <a:pt x="0" y="102705"/>
                  </a:lnTo>
                  <a:close/>
                </a:path>
              </a:pathLst>
            </a:custGeom>
            <a:solidFill>
              <a:srgbClr val="B00B39">
                <a:alpha val="19608"/>
              </a:srgbClr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1033412" cy="1408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0" name="Freeform 20"/>
          <p:cNvSpPr/>
          <p:nvPr/>
        </p:nvSpPr>
        <p:spPr>
          <a:xfrm>
            <a:off x="356487" y="1494130"/>
            <a:ext cx="12978406" cy="8792870"/>
          </a:xfrm>
          <a:custGeom>
            <a:avLst/>
            <a:gdLst/>
            <a:ahLst/>
            <a:cxnLst/>
            <a:rect l="l" t="t" r="r" b="b"/>
            <a:pathLst>
              <a:path w="12978406" h="8792870">
                <a:moveTo>
                  <a:pt x="0" y="0"/>
                </a:moveTo>
                <a:lnTo>
                  <a:pt x="12978406" y="0"/>
                </a:lnTo>
                <a:lnTo>
                  <a:pt x="12978406" y="8792870"/>
                </a:lnTo>
                <a:lnTo>
                  <a:pt x="0" y="87928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GR"/>
          </a:p>
        </p:txBody>
      </p:sp>
      <p:sp>
        <p:nvSpPr>
          <p:cNvPr id="26" name="TextBox 26"/>
          <p:cNvSpPr txBox="1"/>
          <p:nvPr/>
        </p:nvSpPr>
        <p:spPr>
          <a:xfrm>
            <a:off x="856456" y="703897"/>
            <a:ext cx="14969093" cy="573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19"/>
              </a:lnSpc>
              <a:spcBef>
                <a:spcPct val="0"/>
              </a:spcBef>
            </a:pPr>
            <a:r>
              <a:rPr lang="en-US" sz="3299" b="1" u="sng" dirty="0">
                <a:solidFill>
                  <a:srgbClr val="B00B39"/>
                </a:solidFill>
                <a:latin typeface="Cardo Bold"/>
                <a:ea typeface="Cardo Bold"/>
                <a:cs typeface="Cardo Bold"/>
                <a:sym typeface="Cardo Bold"/>
              </a:rPr>
              <a:t>Experiment 5: UNI2-H + </a:t>
            </a:r>
            <a:r>
              <a:rPr lang="en-US" sz="3299" b="1" u="sng" dirty="0" err="1">
                <a:solidFill>
                  <a:srgbClr val="B00B39"/>
                </a:solidFill>
                <a:latin typeface="Cardo Bold"/>
                <a:ea typeface="Cardo Bold"/>
                <a:cs typeface="Cardo Bold"/>
                <a:sym typeface="Cardo Bold"/>
              </a:rPr>
              <a:t>PixelFPN</a:t>
            </a:r>
            <a:r>
              <a:rPr lang="en-US" sz="3299" b="1" u="sng" dirty="0">
                <a:solidFill>
                  <a:srgbClr val="B00B39"/>
                </a:solidFill>
                <a:latin typeface="Cardo Bold"/>
                <a:ea typeface="Cardo Bold"/>
                <a:cs typeface="Cardo Bold"/>
                <a:sym typeface="Cardo Bold"/>
              </a:rPr>
              <a:t> + </a:t>
            </a:r>
            <a:r>
              <a:rPr lang="en-US" sz="3299" b="1" u="sng" dirty="0" err="1">
                <a:solidFill>
                  <a:srgbClr val="B00B39"/>
                </a:solidFill>
                <a:latin typeface="Cardo Bold"/>
                <a:ea typeface="Cardo Bold"/>
                <a:cs typeface="Cardo Bold"/>
                <a:sym typeface="Cardo Bold"/>
              </a:rPr>
              <a:t>Atrous</a:t>
            </a:r>
            <a:r>
              <a:rPr lang="en-US" sz="3299" b="1" u="sng" dirty="0">
                <a:solidFill>
                  <a:srgbClr val="B00B39"/>
                </a:solidFill>
                <a:latin typeface="Cardo Bold"/>
                <a:ea typeface="Cardo Bold"/>
                <a:cs typeface="Cardo Bold"/>
                <a:sym typeface="Cardo Bold"/>
              </a:rPr>
              <a:t> Spatial Pyramid Pooling (ASPP)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3315843" y="3544524"/>
            <a:ext cx="4972157" cy="34805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3224" lvl="1" indent="-266612" algn="l">
              <a:lnSpc>
                <a:spcPts val="3457"/>
              </a:lnSpc>
              <a:spcBef>
                <a:spcPct val="0"/>
              </a:spcBef>
              <a:buFont typeface="Arial"/>
              <a:buChar char="•"/>
            </a:pPr>
            <a:r>
              <a:rPr lang="en-US" sz="2469" u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Same PixelFPN backbone, with DeepLab-style ASPP block</a:t>
            </a:r>
          </a:p>
          <a:p>
            <a:pPr marL="533224" lvl="1" indent="-266612" algn="l">
              <a:lnSpc>
                <a:spcPts val="3457"/>
              </a:lnSpc>
              <a:spcBef>
                <a:spcPct val="0"/>
              </a:spcBef>
              <a:buFont typeface="Arial"/>
              <a:buChar char="•"/>
            </a:pPr>
            <a:r>
              <a:rPr lang="en-US" sz="2469" u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Slightly higher cost (~11.41 GB)</a:t>
            </a:r>
          </a:p>
          <a:p>
            <a:pPr marL="533224" lvl="1" indent="-266612" algn="l">
              <a:lnSpc>
                <a:spcPts val="3457"/>
              </a:lnSpc>
              <a:spcBef>
                <a:spcPct val="0"/>
              </a:spcBef>
              <a:buFont typeface="Arial"/>
              <a:buChar char="•"/>
            </a:pPr>
            <a:r>
              <a:rPr lang="en-US" sz="2469" u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Score: </a:t>
            </a:r>
            <a:r>
              <a:rPr lang="en-US" sz="2469" b="1" u="none" strike="noStrik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0.8129</a:t>
            </a:r>
          </a:p>
          <a:p>
            <a:pPr marL="533224" lvl="1" indent="-266612" algn="l">
              <a:lnSpc>
                <a:spcPts val="3457"/>
              </a:lnSpc>
              <a:spcBef>
                <a:spcPct val="0"/>
              </a:spcBef>
              <a:buFont typeface="Arial"/>
              <a:buChar char="•"/>
            </a:pPr>
            <a:r>
              <a:rPr lang="en-US" sz="2469" u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Very similar to 1×1 head, no improvement</a:t>
            </a:r>
          </a:p>
        </p:txBody>
      </p:sp>
      <p:grpSp>
        <p:nvGrpSpPr>
          <p:cNvPr id="28" name="Group 8">
            <a:extLst>
              <a:ext uri="{FF2B5EF4-FFF2-40B4-BE49-F238E27FC236}">
                <a16:creationId xmlns:a16="http://schemas.microsoft.com/office/drawing/2014/main" id="{626C3495-1DB5-5ED3-F6A1-73588184CDFE}"/>
              </a:ext>
            </a:extLst>
          </p:cNvPr>
          <p:cNvGrpSpPr/>
          <p:nvPr/>
        </p:nvGrpSpPr>
        <p:grpSpPr>
          <a:xfrm>
            <a:off x="3923736" y="-23943"/>
            <a:ext cx="3923736" cy="389959"/>
            <a:chOff x="0" y="0"/>
            <a:chExt cx="1033412" cy="102705"/>
          </a:xfrm>
        </p:grpSpPr>
        <p:sp>
          <p:nvSpPr>
            <p:cNvPr id="29" name="Freeform 9">
              <a:extLst>
                <a:ext uri="{FF2B5EF4-FFF2-40B4-BE49-F238E27FC236}">
                  <a16:creationId xmlns:a16="http://schemas.microsoft.com/office/drawing/2014/main" id="{9748F551-23AD-2C56-ABC7-E78870384B7A}"/>
                </a:ext>
              </a:extLst>
            </p:cNvPr>
            <p:cNvSpPr/>
            <p:nvPr/>
          </p:nvSpPr>
          <p:spPr>
            <a:xfrm>
              <a:off x="0" y="0"/>
              <a:ext cx="1033412" cy="102705"/>
            </a:xfrm>
            <a:custGeom>
              <a:avLst/>
              <a:gdLst/>
              <a:ahLst/>
              <a:cxnLst/>
              <a:rect l="l" t="t" r="r" b="b"/>
              <a:pathLst>
                <a:path w="1033412" h="102705">
                  <a:moveTo>
                    <a:pt x="0" y="0"/>
                  </a:moveTo>
                  <a:lnTo>
                    <a:pt x="1033412" y="0"/>
                  </a:lnTo>
                  <a:lnTo>
                    <a:pt x="1033412" y="102705"/>
                  </a:lnTo>
                  <a:lnTo>
                    <a:pt x="0" y="102705"/>
                  </a:lnTo>
                  <a:close/>
                </a:path>
              </a:pathLst>
            </a:custGeom>
            <a:solidFill>
              <a:srgbClr val="B00B39">
                <a:alpha val="19608"/>
              </a:srgbClr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30" name="TextBox 10">
              <a:extLst>
                <a:ext uri="{FF2B5EF4-FFF2-40B4-BE49-F238E27FC236}">
                  <a16:creationId xmlns:a16="http://schemas.microsoft.com/office/drawing/2014/main" id="{DB2E3F53-BB97-9424-5C1D-AC2970A4F6A2}"/>
                </a:ext>
              </a:extLst>
            </p:cNvPr>
            <p:cNvSpPr txBox="1"/>
            <p:nvPr/>
          </p:nvSpPr>
          <p:spPr>
            <a:xfrm>
              <a:off x="0" y="-38100"/>
              <a:ext cx="1033412" cy="1408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1" name="Group 11">
            <a:extLst>
              <a:ext uri="{FF2B5EF4-FFF2-40B4-BE49-F238E27FC236}">
                <a16:creationId xmlns:a16="http://schemas.microsoft.com/office/drawing/2014/main" id="{98C97A5F-63C5-087E-7708-0065824BF6F5}"/>
              </a:ext>
            </a:extLst>
          </p:cNvPr>
          <p:cNvGrpSpPr/>
          <p:nvPr/>
        </p:nvGrpSpPr>
        <p:grpSpPr>
          <a:xfrm>
            <a:off x="7847472" y="-101928"/>
            <a:ext cx="3923736" cy="467944"/>
            <a:chOff x="0" y="0"/>
            <a:chExt cx="1033412" cy="123245"/>
          </a:xfrm>
        </p:grpSpPr>
        <p:sp>
          <p:nvSpPr>
            <p:cNvPr id="32" name="Freeform 12">
              <a:extLst>
                <a:ext uri="{FF2B5EF4-FFF2-40B4-BE49-F238E27FC236}">
                  <a16:creationId xmlns:a16="http://schemas.microsoft.com/office/drawing/2014/main" id="{368BE908-4BC0-A666-5139-2CDF279B369A}"/>
                </a:ext>
              </a:extLst>
            </p:cNvPr>
            <p:cNvSpPr/>
            <p:nvPr/>
          </p:nvSpPr>
          <p:spPr>
            <a:xfrm>
              <a:off x="0" y="0"/>
              <a:ext cx="1033412" cy="123245"/>
            </a:xfrm>
            <a:custGeom>
              <a:avLst/>
              <a:gdLst/>
              <a:ahLst/>
              <a:cxnLst/>
              <a:rect l="l" t="t" r="r" b="b"/>
              <a:pathLst>
                <a:path w="1033412" h="123245">
                  <a:moveTo>
                    <a:pt x="0" y="0"/>
                  </a:moveTo>
                  <a:lnTo>
                    <a:pt x="1033412" y="0"/>
                  </a:lnTo>
                  <a:lnTo>
                    <a:pt x="1033412" y="123245"/>
                  </a:lnTo>
                  <a:lnTo>
                    <a:pt x="0" y="123245"/>
                  </a:lnTo>
                  <a:close/>
                </a:path>
              </a:pathLst>
            </a:custGeom>
            <a:solidFill>
              <a:srgbClr val="B00B39"/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33" name="TextBox 13">
              <a:extLst>
                <a:ext uri="{FF2B5EF4-FFF2-40B4-BE49-F238E27FC236}">
                  <a16:creationId xmlns:a16="http://schemas.microsoft.com/office/drawing/2014/main" id="{F21DBB3F-36D5-A38A-7260-642F35F4C5AF}"/>
                </a:ext>
              </a:extLst>
            </p:cNvPr>
            <p:cNvSpPr txBox="1"/>
            <p:nvPr/>
          </p:nvSpPr>
          <p:spPr>
            <a:xfrm>
              <a:off x="0" y="-38100"/>
              <a:ext cx="1033412" cy="1613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4" name="Group 14">
            <a:extLst>
              <a:ext uri="{FF2B5EF4-FFF2-40B4-BE49-F238E27FC236}">
                <a16:creationId xmlns:a16="http://schemas.microsoft.com/office/drawing/2014/main" id="{2139ED64-AA2E-B539-394C-ED519D067B47}"/>
              </a:ext>
            </a:extLst>
          </p:cNvPr>
          <p:cNvGrpSpPr/>
          <p:nvPr/>
        </p:nvGrpSpPr>
        <p:grpSpPr>
          <a:xfrm>
            <a:off x="11771209" y="-23943"/>
            <a:ext cx="3923736" cy="389959"/>
            <a:chOff x="0" y="0"/>
            <a:chExt cx="1033412" cy="102705"/>
          </a:xfrm>
        </p:grpSpPr>
        <p:sp>
          <p:nvSpPr>
            <p:cNvPr id="35" name="Freeform 15">
              <a:extLst>
                <a:ext uri="{FF2B5EF4-FFF2-40B4-BE49-F238E27FC236}">
                  <a16:creationId xmlns:a16="http://schemas.microsoft.com/office/drawing/2014/main" id="{3D65DB34-60D3-2434-B953-8362FA369DF6}"/>
                </a:ext>
              </a:extLst>
            </p:cNvPr>
            <p:cNvSpPr/>
            <p:nvPr/>
          </p:nvSpPr>
          <p:spPr>
            <a:xfrm>
              <a:off x="0" y="0"/>
              <a:ext cx="1033412" cy="102705"/>
            </a:xfrm>
            <a:custGeom>
              <a:avLst/>
              <a:gdLst/>
              <a:ahLst/>
              <a:cxnLst/>
              <a:rect l="l" t="t" r="r" b="b"/>
              <a:pathLst>
                <a:path w="1033412" h="102705">
                  <a:moveTo>
                    <a:pt x="0" y="0"/>
                  </a:moveTo>
                  <a:lnTo>
                    <a:pt x="1033412" y="0"/>
                  </a:lnTo>
                  <a:lnTo>
                    <a:pt x="1033412" y="102705"/>
                  </a:lnTo>
                  <a:lnTo>
                    <a:pt x="0" y="102705"/>
                  </a:lnTo>
                  <a:close/>
                </a:path>
              </a:pathLst>
            </a:custGeom>
            <a:solidFill>
              <a:srgbClr val="B00B39">
                <a:alpha val="19608"/>
              </a:srgbClr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36" name="TextBox 16">
              <a:extLst>
                <a:ext uri="{FF2B5EF4-FFF2-40B4-BE49-F238E27FC236}">
                  <a16:creationId xmlns:a16="http://schemas.microsoft.com/office/drawing/2014/main" id="{EF32EDBB-DB4E-5EB4-1156-C916FF213EBE}"/>
                </a:ext>
              </a:extLst>
            </p:cNvPr>
            <p:cNvSpPr txBox="1"/>
            <p:nvPr/>
          </p:nvSpPr>
          <p:spPr>
            <a:xfrm>
              <a:off x="0" y="-38100"/>
              <a:ext cx="1033412" cy="1408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7" name="TextBox 21">
            <a:extLst>
              <a:ext uri="{FF2B5EF4-FFF2-40B4-BE49-F238E27FC236}">
                <a16:creationId xmlns:a16="http://schemas.microsoft.com/office/drawing/2014/main" id="{BEECE2D3-FFD0-F804-0A4F-4C7112226F2A}"/>
              </a:ext>
            </a:extLst>
          </p:cNvPr>
          <p:cNvSpPr txBox="1"/>
          <p:nvPr/>
        </p:nvSpPr>
        <p:spPr>
          <a:xfrm>
            <a:off x="1146942" y="-12075"/>
            <a:ext cx="1629853" cy="342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2"/>
              </a:lnSpc>
            </a:pPr>
            <a:r>
              <a:rPr lang="en-US" sz="1951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Introduction </a:t>
            </a:r>
          </a:p>
        </p:txBody>
      </p:sp>
      <p:sp>
        <p:nvSpPr>
          <p:cNvPr id="38" name="TextBox 22">
            <a:extLst>
              <a:ext uri="{FF2B5EF4-FFF2-40B4-BE49-F238E27FC236}">
                <a16:creationId xmlns:a16="http://schemas.microsoft.com/office/drawing/2014/main" id="{589A2D03-7457-802E-BB75-104A21B5E825}"/>
              </a:ext>
            </a:extLst>
          </p:cNvPr>
          <p:cNvSpPr txBox="1"/>
          <p:nvPr/>
        </p:nvSpPr>
        <p:spPr>
          <a:xfrm>
            <a:off x="5073241" y="-12075"/>
            <a:ext cx="1941238" cy="3242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32"/>
              </a:lnSpc>
            </a:pPr>
            <a:r>
              <a:rPr lang="en-US" sz="1951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Methodology</a:t>
            </a:r>
          </a:p>
        </p:txBody>
      </p:sp>
      <p:sp>
        <p:nvSpPr>
          <p:cNvPr id="39" name="TextBox 23">
            <a:extLst>
              <a:ext uri="{FF2B5EF4-FFF2-40B4-BE49-F238E27FC236}">
                <a16:creationId xmlns:a16="http://schemas.microsoft.com/office/drawing/2014/main" id="{53268715-0F76-180B-212B-3FA52EE0A0B7}"/>
              </a:ext>
            </a:extLst>
          </p:cNvPr>
          <p:cNvSpPr txBox="1"/>
          <p:nvPr/>
        </p:nvSpPr>
        <p:spPr>
          <a:xfrm>
            <a:off x="9358004" y="-24046"/>
            <a:ext cx="1072999" cy="3362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32"/>
              </a:lnSpc>
            </a:pPr>
            <a:r>
              <a:rPr lang="en-US" sz="1951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Results</a:t>
            </a:r>
          </a:p>
        </p:txBody>
      </p:sp>
      <p:sp>
        <p:nvSpPr>
          <p:cNvPr id="40" name="TextBox 24">
            <a:extLst>
              <a:ext uri="{FF2B5EF4-FFF2-40B4-BE49-F238E27FC236}">
                <a16:creationId xmlns:a16="http://schemas.microsoft.com/office/drawing/2014/main" id="{C4EABE8D-B722-C30A-E699-18F22821C1E4}"/>
              </a:ext>
            </a:extLst>
          </p:cNvPr>
          <p:cNvSpPr txBox="1"/>
          <p:nvPr/>
        </p:nvSpPr>
        <p:spPr>
          <a:xfrm>
            <a:off x="12604201" y="-12075"/>
            <a:ext cx="2464004" cy="3242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32"/>
              </a:lnSpc>
            </a:pPr>
            <a:r>
              <a:rPr lang="en-US" sz="1951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Critical Discussion</a:t>
            </a:r>
          </a:p>
        </p:txBody>
      </p:sp>
      <p:sp>
        <p:nvSpPr>
          <p:cNvPr id="41" name="TextBox 25">
            <a:extLst>
              <a:ext uri="{FF2B5EF4-FFF2-40B4-BE49-F238E27FC236}">
                <a16:creationId xmlns:a16="http://schemas.microsoft.com/office/drawing/2014/main" id="{B6F098A4-DE51-8E58-0478-36641C6E7632}"/>
              </a:ext>
            </a:extLst>
          </p:cNvPr>
          <p:cNvSpPr txBox="1"/>
          <p:nvPr/>
        </p:nvSpPr>
        <p:spPr>
          <a:xfrm>
            <a:off x="16408410" y="-24046"/>
            <a:ext cx="1498589" cy="3362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32"/>
              </a:lnSpc>
            </a:pPr>
            <a:r>
              <a:rPr lang="en-US" sz="1951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Conclusion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78475" cy="366016"/>
            <a:chOff x="0" y="0"/>
            <a:chExt cx="4814084" cy="9639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4084" cy="96399"/>
            </a:xfrm>
            <a:custGeom>
              <a:avLst/>
              <a:gdLst/>
              <a:ahLst/>
              <a:cxnLst/>
              <a:rect l="l" t="t" r="r" b="b"/>
              <a:pathLst>
                <a:path w="4814084" h="96399">
                  <a:moveTo>
                    <a:pt x="0" y="0"/>
                  </a:moveTo>
                  <a:lnTo>
                    <a:pt x="4814084" y="0"/>
                  </a:lnTo>
                  <a:lnTo>
                    <a:pt x="4814084" y="96399"/>
                  </a:lnTo>
                  <a:lnTo>
                    <a:pt x="0" y="96399"/>
                  </a:lnTo>
                  <a:close/>
                </a:path>
              </a:pathLst>
            </a:custGeom>
            <a:solidFill>
              <a:srgbClr val="897993"/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4084" cy="1344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-55288"/>
            <a:ext cx="3923736" cy="421303"/>
            <a:chOff x="0" y="0"/>
            <a:chExt cx="1033412" cy="11096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33412" cy="110961"/>
            </a:xfrm>
            <a:custGeom>
              <a:avLst/>
              <a:gdLst/>
              <a:ahLst/>
              <a:cxnLst/>
              <a:rect l="l" t="t" r="r" b="b"/>
              <a:pathLst>
                <a:path w="1033412" h="110961">
                  <a:moveTo>
                    <a:pt x="0" y="0"/>
                  </a:moveTo>
                  <a:lnTo>
                    <a:pt x="1033412" y="0"/>
                  </a:lnTo>
                  <a:lnTo>
                    <a:pt x="1033412" y="110961"/>
                  </a:lnTo>
                  <a:lnTo>
                    <a:pt x="0" y="110961"/>
                  </a:lnTo>
                  <a:close/>
                </a:path>
              </a:pathLst>
            </a:custGeom>
            <a:solidFill>
              <a:srgbClr val="B00B39">
                <a:alpha val="19608"/>
              </a:srgbClr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033412" cy="1490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5694945" y="-40855"/>
            <a:ext cx="3923736" cy="389959"/>
            <a:chOff x="0" y="0"/>
            <a:chExt cx="1033412" cy="102705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033412" cy="102705"/>
            </a:xfrm>
            <a:custGeom>
              <a:avLst/>
              <a:gdLst/>
              <a:ahLst/>
              <a:cxnLst/>
              <a:rect l="l" t="t" r="r" b="b"/>
              <a:pathLst>
                <a:path w="1033412" h="102705">
                  <a:moveTo>
                    <a:pt x="0" y="0"/>
                  </a:moveTo>
                  <a:lnTo>
                    <a:pt x="1033412" y="0"/>
                  </a:lnTo>
                  <a:lnTo>
                    <a:pt x="1033412" y="102705"/>
                  </a:lnTo>
                  <a:lnTo>
                    <a:pt x="0" y="102705"/>
                  </a:lnTo>
                  <a:close/>
                </a:path>
              </a:pathLst>
            </a:custGeom>
            <a:solidFill>
              <a:srgbClr val="B00B39">
                <a:alpha val="19608"/>
              </a:srgbClr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1033412" cy="1408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0" name="Freeform 20"/>
          <p:cNvSpPr/>
          <p:nvPr/>
        </p:nvSpPr>
        <p:spPr>
          <a:xfrm>
            <a:off x="168361" y="1970991"/>
            <a:ext cx="12145516" cy="7287309"/>
          </a:xfrm>
          <a:custGeom>
            <a:avLst/>
            <a:gdLst/>
            <a:ahLst/>
            <a:cxnLst/>
            <a:rect l="l" t="t" r="r" b="b"/>
            <a:pathLst>
              <a:path w="12145516" h="7287309">
                <a:moveTo>
                  <a:pt x="0" y="0"/>
                </a:moveTo>
                <a:lnTo>
                  <a:pt x="12145516" y="0"/>
                </a:lnTo>
                <a:lnTo>
                  <a:pt x="12145516" y="7287309"/>
                </a:lnTo>
                <a:lnTo>
                  <a:pt x="0" y="728730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GR"/>
          </a:p>
        </p:txBody>
      </p:sp>
      <p:sp>
        <p:nvSpPr>
          <p:cNvPr id="26" name="TextBox 26"/>
          <p:cNvSpPr txBox="1"/>
          <p:nvPr/>
        </p:nvSpPr>
        <p:spPr>
          <a:xfrm>
            <a:off x="856456" y="703897"/>
            <a:ext cx="14969093" cy="573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19"/>
              </a:lnSpc>
              <a:spcBef>
                <a:spcPct val="0"/>
              </a:spcBef>
            </a:pPr>
            <a:r>
              <a:rPr lang="en-US" sz="3299" b="1" u="sng" dirty="0">
                <a:solidFill>
                  <a:srgbClr val="B00B39"/>
                </a:solidFill>
                <a:latin typeface="Cardo Bold"/>
                <a:ea typeface="Cardo Bold"/>
                <a:cs typeface="Cardo Bold"/>
                <a:sym typeface="Cardo Bold"/>
              </a:rPr>
              <a:t>Experiment 6: UNI2-H + </a:t>
            </a:r>
            <a:r>
              <a:rPr lang="en-US" sz="3299" b="1" u="sng" dirty="0" err="1">
                <a:solidFill>
                  <a:srgbClr val="B00B39"/>
                </a:solidFill>
                <a:latin typeface="Cardo Bold"/>
                <a:ea typeface="Cardo Bold"/>
                <a:cs typeface="Cardo Bold"/>
                <a:sym typeface="Cardo Bold"/>
              </a:rPr>
              <a:t>PixelFPN</a:t>
            </a:r>
            <a:r>
              <a:rPr lang="en-US" sz="3299" b="1" u="sng" dirty="0">
                <a:solidFill>
                  <a:srgbClr val="B00B39"/>
                </a:solidFill>
                <a:latin typeface="Cardo Bold"/>
                <a:ea typeface="Cardo Bold"/>
                <a:cs typeface="Cardo Bold"/>
                <a:sym typeface="Cardo Bold"/>
              </a:rPr>
              <a:t> + Query-Based Multi-Scale Decoder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2418302" y="2781300"/>
            <a:ext cx="5693324" cy="71177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3224" lvl="1" indent="-266612" algn="l">
              <a:lnSpc>
                <a:spcPts val="3457"/>
              </a:lnSpc>
              <a:buFont typeface="Arial"/>
              <a:buChar char="•"/>
            </a:pPr>
            <a:r>
              <a:rPr lang="en-US" sz="2469" u="none" strike="noStrik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Adds object-level reasoning (Mask2Former-style)</a:t>
            </a:r>
          </a:p>
          <a:p>
            <a:pPr marL="533224" lvl="1" indent="-266612" algn="l">
              <a:lnSpc>
                <a:spcPts val="3457"/>
              </a:lnSpc>
              <a:spcBef>
                <a:spcPct val="0"/>
              </a:spcBef>
              <a:buFont typeface="Arial"/>
              <a:buChar char="•"/>
            </a:pPr>
            <a:r>
              <a:rPr lang="en-US" sz="2469" u="none" strike="noStrik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192 learnable queries → Top-K (64) </a:t>
            </a:r>
            <a:r>
              <a:rPr lang="en-US" sz="246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at inference</a:t>
            </a:r>
          </a:p>
          <a:p>
            <a:pPr marL="266612" lvl="1" algn="l">
              <a:lnSpc>
                <a:spcPts val="3457"/>
              </a:lnSpc>
              <a:spcBef>
                <a:spcPct val="0"/>
              </a:spcBef>
            </a:pPr>
            <a:endParaRPr lang="en-US" sz="2469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69" dirty="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After the decoder, each query produces: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GB" sz="2469" b="1" dirty="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a confidence score </a:t>
            </a:r>
            <a:r>
              <a:rPr lang="en-GB" sz="2469" dirty="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(“Did I find a </a:t>
            </a:r>
            <a:r>
              <a:rPr lang="en-GB" sz="2469" dirty="0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tumor</a:t>
            </a:r>
            <a:r>
              <a:rPr lang="en-GB" sz="2469" dirty="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region?”)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GB" sz="2469" b="1" dirty="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a mask embedding </a:t>
            </a:r>
            <a:r>
              <a:rPr lang="en-GB" sz="2469" dirty="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(latent description of the region’s shape)</a:t>
            </a:r>
          </a:p>
          <a:p>
            <a:pPr marL="266612" lvl="1" algn="l">
              <a:lnSpc>
                <a:spcPts val="3457"/>
              </a:lnSpc>
              <a:spcBef>
                <a:spcPct val="0"/>
              </a:spcBef>
            </a:pPr>
            <a:endParaRPr lang="en-US" sz="2469" u="none" strike="noStrike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533224" lvl="1" indent="-266612" algn="l">
              <a:lnSpc>
                <a:spcPts val="3457"/>
              </a:lnSpc>
              <a:spcBef>
                <a:spcPct val="0"/>
              </a:spcBef>
              <a:buFont typeface="Arial"/>
              <a:buChar char="•"/>
            </a:pPr>
            <a:r>
              <a:rPr lang="en-US" sz="2469" u="none" strike="noStrik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Moderate memory (15.77 GB)</a:t>
            </a:r>
          </a:p>
          <a:p>
            <a:pPr marL="533224" lvl="1" indent="-266612" algn="l">
              <a:lnSpc>
                <a:spcPts val="3457"/>
              </a:lnSpc>
              <a:spcBef>
                <a:spcPct val="0"/>
              </a:spcBef>
              <a:buFont typeface="Arial"/>
              <a:buChar char="•"/>
            </a:pPr>
            <a:r>
              <a:rPr lang="en-US" sz="2469" u="none" strike="noStrik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Score: </a:t>
            </a:r>
            <a:r>
              <a:rPr lang="en-US" sz="2469" b="1" u="none" strike="noStrike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0.8098</a:t>
            </a:r>
          </a:p>
          <a:p>
            <a:pPr marL="533224" lvl="1" indent="-266612" algn="l">
              <a:lnSpc>
                <a:spcPts val="3457"/>
              </a:lnSpc>
              <a:spcBef>
                <a:spcPct val="0"/>
              </a:spcBef>
              <a:buFont typeface="Arial"/>
              <a:buChar char="•"/>
            </a:pPr>
            <a:r>
              <a:rPr lang="en-US" sz="2469" u="none" strike="noStrik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Cleaner boundaries but slightly lower metrics</a:t>
            </a:r>
          </a:p>
        </p:txBody>
      </p:sp>
      <p:grpSp>
        <p:nvGrpSpPr>
          <p:cNvPr id="28" name="Group 8">
            <a:extLst>
              <a:ext uri="{FF2B5EF4-FFF2-40B4-BE49-F238E27FC236}">
                <a16:creationId xmlns:a16="http://schemas.microsoft.com/office/drawing/2014/main" id="{BAEB620F-850C-689A-91D4-6BD886904ACA}"/>
              </a:ext>
            </a:extLst>
          </p:cNvPr>
          <p:cNvGrpSpPr/>
          <p:nvPr/>
        </p:nvGrpSpPr>
        <p:grpSpPr>
          <a:xfrm>
            <a:off x="3923736" y="-23943"/>
            <a:ext cx="3923736" cy="389959"/>
            <a:chOff x="0" y="0"/>
            <a:chExt cx="1033412" cy="102705"/>
          </a:xfrm>
        </p:grpSpPr>
        <p:sp>
          <p:nvSpPr>
            <p:cNvPr id="29" name="Freeform 9">
              <a:extLst>
                <a:ext uri="{FF2B5EF4-FFF2-40B4-BE49-F238E27FC236}">
                  <a16:creationId xmlns:a16="http://schemas.microsoft.com/office/drawing/2014/main" id="{313CD095-F45E-713D-8359-84B556E015E3}"/>
                </a:ext>
              </a:extLst>
            </p:cNvPr>
            <p:cNvSpPr/>
            <p:nvPr/>
          </p:nvSpPr>
          <p:spPr>
            <a:xfrm>
              <a:off x="0" y="0"/>
              <a:ext cx="1033412" cy="102705"/>
            </a:xfrm>
            <a:custGeom>
              <a:avLst/>
              <a:gdLst/>
              <a:ahLst/>
              <a:cxnLst/>
              <a:rect l="l" t="t" r="r" b="b"/>
              <a:pathLst>
                <a:path w="1033412" h="102705">
                  <a:moveTo>
                    <a:pt x="0" y="0"/>
                  </a:moveTo>
                  <a:lnTo>
                    <a:pt x="1033412" y="0"/>
                  </a:lnTo>
                  <a:lnTo>
                    <a:pt x="1033412" y="102705"/>
                  </a:lnTo>
                  <a:lnTo>
                    <a:pt x="0" y="102705"/>
                  </a:lnTo>
                  <a:close/>
                </a:path>
              </a:pathLst>
            </a:custGeom>
            <a:solidFill>
              <a:srgbClr val="B00B39">
                <a:alpha val="19608"/>
              </a:srgbClr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30" name="TextBox 10">
              <a:extLst>
                <a:ext uri="{FF2B5EF4-FFF2-40B4-BE49-F238E27FC236}">
                  <a16:creationId xmlns:a16="http://schemas.microsoft.com/office/drawing/2014/main" id="{09D5BBAB-8644-F849-F97F-A1B1A06AA7FA}"/>
                </a:ext>
              </a:extLst>
            </p:cNvPr>
            <p:cNvSpPr txBox="1"/>
            <p:nvPr/>
          </p:nvSpPr>
          <p:spPr>
            <a:xfrm>
              <a:off x="0" y="-38100"/>
              <a:ext cx="1033412" cy="1408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1" name="Group 11">
            <a:extLst>
              <a:ext uri="{FF2B5EF4-FFF2-40B4-BE49-F238E27FC236}">
                <a16:creationId xmlns:a16="http://schemas.microsoft.com/office/drawing/2014/main" id="{D00D5536-4029-7E12-E876-B93042CD5F0D}"/>
              </a:ext>
            </a:extLst>
          </p:cNvPr>
          <p:cNvGrpSpPr/>
          <p:nvPr/>
        </p:nvGrpSpPr>
        <p:grpSpPr>
          <a:xfrm>
            <a:off x="7847472" y="-101928"/>
            <a:ext cx="3923736" cy="467944"/>
            <a:chOff x="0" y="0"/>
            <a:chExt cx="1033412" cy="123245"/>
          </a:xfrm>
        </p:grpSpPr>
        <p:sp>
          <p:nvSpPr>
            <p:cNvPr id="32" name="Freeform 12">
              <a:extLst>
                <a:ext uri="{FF2B5EF4-FFF2-40B4-BE49-F238E27FC236}">
                  <a16:creationId xmlns:a16="http://schemas.microsoft.com/office/drawing/2014/main" id="{F2359850-10A2-2B24-32F1-59F56A3D4C32}"/>
                </a:ext>
              </a:extLst>
            </p:cNvPr>
            <p:cNvSpPr/>
            <p:nvPr/>
          </p:nvSpPr>
          <p:spPr>
            <a:xfrm>
              <a:off x="0" y="0"/>
              <a:ext cx="1033412" cy="123245"/>
            </a:xfrm>
            <a:custGeom>
              <a:avLst/>
              <a:gdLst/>
              <a:ahLst/>
              <a:cxnLst/>
              <a:rect l="l" t="t" r="r" b="b"/>
              <a:pathLst>
                <a:path w="1033412" h="123245">
                  <a:moveTo>
                    <a:pt x="0" y="0"/>
                  </a:moveTo>
                  <a:lnTo>
                    <a:pt x="1033412" y="0"/>
                  </a:lnTo>
                  <a:lnTo>
                    <a:pt x="1033412" y="123245"/>
                  </a:lnTo>
                  <a:lnTo>
                    <a:pt x="0" y="123245"/>
                  </a:lnTo>
                  <a:close/>
                </a:path>
              </a:pathLst>
            </a:custGeom>
            <a:solidFill>
              <a:srgbClr val="B00B39"/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33" name="TextBox 13">
              <a:extLst>
                <a:ext uri="{FF2B5EF4-FFF2-40B4-BE49-F238E27FC236}">
                  <a16:creationId xmlns:a16="http://schemas.microsoft.com/office/drawing/2014/main" id="{EEF240A2-4A32-368F-9D40-D4B749E82CC3}"/>
                </a:ext>
              </a:extLst>
            </p:cNvPr>
            <p:cNvSpPr txBox="1"/>
            <p:nvPr/>
          </p:nvSpPr>
          <p:spPr>
            <a:xfrm>
              <a:off x="0" y="-38100"/>
              <a:ext cx="1033412" cy="1613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4" name="Group 14">
            <a:extLst>
              <a:ext uri="{FF2B5EF4-FFF2-40B4-BE49-F238E27FC236}">
                <a16:creationId xmlns:a16="http://schemas.microsoft.com/office/drawing/2014/main" id="{A4CA19E3-C00B-336F-6939-6A0F8019D184}"/>
              </a:ext>
            </a:extLst>
          </p:cNvPr>
          <p:cNvGrpSpPr/>
          <p:nvPr/>
        </p:nvGrpSpPr>
        <p:grpSpPr>
          <a:xfrm>
            <a:off x="11771209" y="-23943"/>
            <a:ext cx="3923736" cy="389959"/>
            <a:chOff x="0" y="0"/>
            <a:chExt cx="1033412" cy="102705"/>
          </a:xfrm>
        </p:grpSpPr>
        <p:sp>
          <p:nvSpPr>
            <p:cNvPr id="35" name="Freeform 15">
              <a:extLst>
                <a:ext uri="{FF2B5EF4-FFF2-40B4-BE49-F238E27FC236}">
                  <a16:creationId xmlns:a16="http://schemas.microsoft.com/office/drawing/2014/main" id="{61C9003F-0F59-7A54-E66E-3A61ABAC5D76}"/>
                </a:ext>
              </a:extLst>
            </p:cNvPr>
            <p:cNvSpPr/>
            <p:nvPr/>
          </p:nvSpPr>
          <p:spPr>
            <a:xfrm>
              <a:off x="0" y="0"/>
              <a:ext cx="1033412" cy="102705"/>
            </a:xfrm>
            <a:custGeom>
              <a:avLst/>
              <a:gdLst/>
              <a:ahLst/>
              <a:cxnLst/>
              <a:rect l="l" t="t" r="r" b="b"/>
              <a:pathLst>
                <a:path w="1033412" h="102705">
                  <a:moveTo>
                    <a:pt x="0" y="0"/>
                  </a:moveTo>
                  <a:lnTo>
                    <a:pt x="1033412" y="0"/>
                  </a:lnTo>
                  <a:lnTo>
                    <a:pt x="1033412" y="102705"/>
                  </a:lnTo>
                  <a:lnTo>
                    <a:pt x="0" y="102705"/>
                  </a:lnTo>
                  <a:close/>
                </a:path>
              </a:pathLst>
            </a:custGeom>
            <a:solidFill>
              <a:srgbClr val="B00B39">
                <a:alpha val="19608"/>
              </a:srgbClr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36" name="TextBox 16">
              <a:extLst>
                <a:ext uri="{FF2B5EF4-FFF2-40B4-BE49-F238E27FC236}">
                  <a16:creationId xmlns:a16="http://schemas.microsoft.com/office/drawing/2014/main" id="{C789E7D6-57CC-966A-2E06-396B45FE2EB5}"/>
                </a:ext>
              </a:extLst>
            </p:cNvPr>
            <p:cNvSpPr txBox="1"/>
            <p:nvPr/>
          </p:nvSpPr>
          <p:spPr>
            <a:xfrm>
              <a:off x="0" y="-38100"/>
              <a:ext cx="1033412" cy="1408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7" name="TextBox 21">
            <a:extLst>
              <a:ext uri="{FF2B5EF4-FFF2-40B4-BE49-F238E27FC236}">
                <a16:creationId xmlns:a16="http://schemas.microsoft.com/office/drawing/2014/main" id="{AF05B037-E689-AE28-AC45-A00272A80F5E}"/>
              </a:ext>
            </a:extLst>
          </p:cNvPr>
          <p:cNvSpPr txBox="1"/>
          <p:nvPr/>
        </p:nvSpPr>
        <p:spPr>
          <a:xfrm>
            <a:off x="1146942" y="-12075"/>
            <a:ext cx="1629853" cy="342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2"/>
              </a:lnSpc>
            </a:pPr>
            <a:r>
              <a:rPr lang="en-US" sz="1951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Introduction </a:t>
            </a:r>
          </a:p>
        </p:txBody>
      </p:sp>
      <p:sp>
        <p:nvSpPr>
          <p:cNvPr id="38" name="TextBox 22">
            <a:extLst>
              <a:ext uri="{FF2B5EF4-FFF2-40B4-BE49-F238E27FC236}">
                <a16:creationId xmlns:a16="http://schemas.microsoft.com/office/drawing/2014/main" id="{A914922A-4797-2BAD-07C8-8F1A54F553DF}"/>
              </a:ext>
            </a:extLst>
          </p:cNvPr>
          <p:cNvSpPr txBox="1"/>
          <p:nvPr/>
        </p:nvSpPr>
        <p:spPr>
          <a:xfrm>
            <a:off x="5073241" y="-12075"/>
            <a:ext cx="1941238" cy="3242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32"/>
              </a:lnSpc>
            </a:pPr>
            <a:r>
              <a:rPr lang="en-US" sz="1951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Methodology</a:t>
            </a:r>
          </a:p>
        </p:txBody>
      </p:sp>
      <p:sp>
        <p:nvSpPr>
          <p:cNvPr id="39" name="TextBox 23">
            <a:extLst>
              <a:ext uri="{FF2B5EF4-FFF2-40B4-BE49-F238E27FC236}">
                <a16:creationId xmlns:a16="http://schemas.microsoft.com/office/drawing/2014/main" id="{47B81680-AAF8-7679-E8B0-85645E4C22CE}"/>
              </a:ext>
            </a:extLst>
          </p:cNvPr>
          <p:cNvSpPr txBox="1"/>
          <p:nvPr/>
        </p:nvSpPr>
        <p:spPr>
          <a:xfrm>
            <a:off x="9358004" y="-24046"/>
            <a:ext cx="1072999" cy="3362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32"/>
              </a:lnSpc>
            </a:pPr>
            <a:r>
              <a:rPr lang="en-US" sz="1951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Results</a:t>
            </a:r>
          </a:p>
        </p:txBody>
      </p:sp>
      <p:sp>
        <p:nvSpPr>
          <p:cNvPr id="40" name="TextBox 24">
            <a:extLst>
              <a:ext uri="{FF2B5EF4-FFF2-40B4-BE49-F238E27FC236}">
                <a16:creationId xmlns:a16="http://schemas.microsoft.com/office/drawing/2014/main" id="{6C9F08AA-B59F-1F4B-E309-45F922C5129B}"/>
              </a:ext>
            </a:extLst>
          </p:cNvPr>
          <p:cNvSpPr txBox="1"/>
          <p:nvPr/>
        </p:nvSpPr>
        <p:spPr>
          <a:xfrm>
            <a:off x="12604201" y="-12075"/>
            <a:ext cx="2464004" cy="3242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32"/>
              </a:lnSpc>
            </a:pPr>
            <a:r>
              <a:rPr lang="en-US" sz="1951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Critical Discussion</a:t>
            </a:r>
          </a:p>
        </p:txBody>
      </p:sp>
      <p:sp>
        <p:nvSpPr>
          <p:cNvPr id="41" name="TextBox 25">
            <a:extLst>
              <a:ext uri="{FF2B5EF4-FFF2-40B4-BE49-F238E27FC236}">
                <a16:creationId xmlns:a16="http://schemas.microsoft.com/office/drawing/2014/main" id="{1EB81D89-83AC-872D-DC75-105E49512199}"/>
              </a:ext>
            </a:extLst>
          </p:cNvPr>
          <p:cNvSpPr txBox="1"/>
          <p:nvPr/>
        </p:nvSpPr>
        <p:spPr>
          <a:xfrm>
            <a:off x="16408410" y="-24046"/>
            <a:ext cx="1498589" cy="3362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32"/>
              </a:lnSpc>
            </a:pPr>
            <a:r>
              <a:rPr lang="en-US" sz="1951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Conclusion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B394E2F1-B34A-64EF-AC78-D0D420EE3611}"/>
                  </a:ext>
                </a:extLst>
              </p14:cNvPr>
              <p14:cNvContentPartPr/>
              <p14:nvPr/>
            </p14:nvContentPartPr>
            <p14:xfrm>
              <a:off x="6585908" y="7012216"/>
              <a:ext cx="145080" cy="12528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B394E2F1-B34A-64EF-AC78-D0D420EE361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579788" y="7006096"/>
                <a:ext cx="157320" cy="13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59D16C7C-0F94-C777-07F4-26055D630074}"/>
                  </a:ext>
                </a:extLst>
              </p14:cNvPr>
              <p14:cNvContentPartPr/>
              <p14:nvPr/>
            </p14:nvContentPartPr>
            <p14:xfrm>
              <a:off x="6606068" y="7051096"/>
              <a:ext cx="120960" cy="8208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59D16C7C-0F94-C777-07F4-26055D63007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599948" y="7044976"/>
                <a:ext cx="133200" cy="943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78475" cy="366016"/>
            <a:chOff x="0" y="0"/>
            <a:chExt cx="4814084" cy="9639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4084" cy="96399"/>
            </a:xfrm>
            <a:custGeom>
              <a:avLst/>
              <a:gdLst/>
              <a:ahLst/>
              <a:cxnLst/>
              <a:rect l="l" t="t" r="r" b="b"/>
              <a:pathLst>
                <a:path w="4814084" h="96399">
                  <a:moveTo>
                    <a:pt x="0" y="0"/>
                  </a:moveTo>
                  <a:lnTo>
                    <a:pt x="4814084" y="0"/>
                  </a:lnTo>
                  <a:lnTo>
                    <a:pt x="4814084" y="96399"/>
                  </a:lnTo>
                  <a:lnTo>
                    <a:pt x="0" y="96399"/>
                  </a:lnTo>
                  <a:close/>
                </a:path>
              </a:pathLst>
            </a:custGeom>
            <a:solidFill>
              <a:srgbClr val="897993"/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4084" cy="1344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-55288"/>
            <a:ext cx="3923736" cy="421303"/>
            <a:chOff x="0" y="0"/>
            <a:chExt cx="1033412" cy="11096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33412" cy="110961"/>
            </a:xfrm>
            <a:custGeom>
              <a:avLst/>
              <a:gdLst/>
              <a:ahLst/>
              <a:cxnLst/>
              <a:rect l="l" t="t" r="r" b="b"/>
              <a:pathLst>
                <a:path w="1033412" h="110961">
                  <a:moveTo>
                    <a:pt x="0" y="0"/>
                  </a:moveTo>
                  <a:lnTo>
                    <a:pt x="1033412" y="0"/>
                  </a:lnTo>
                  <a:lnTo>
                    <a:pt x="1033412" y="110961"/>
                  </a:lnTo>
                  <a:lnTo>
                    <a:pt x="0" y="110961"/>
                  </a:lnTo>
                  <a:close/>
                </a:path>
              </a:pathLst>
            </a:custGeom>
            <a:solidFill>
              <a:srgbClr val="B00B39">
                <a:alpha val="19608"/>
              </a:srgbClr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033412" cy="1490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5694945" y="-40855"/>
            <a:ext cx="3923736" cy="389959"/>
            <a:chOff x="0" y="0"/>
            <a:chExt cx="1033412" cy="102705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033412" cy="102705"/>
            </a:xfrm>
            <a:custGeom>
              <a:avLst/>
              <a:gdLst/>
              <a:ahLst/>
              <a:cxnLst/>
              <a:rect l="l" t="t" r="r" b="b"/>
              <a:pathLst>
                <a:path w="1033412" h="102705">
                  <a:moveTo>
                    <a:pt x="0" y="0"/>
                  </a:moveTo>
                  <a:lnTo>
                    <a:pt x="1033412" y="0"/>
                  </a:lnTo>
                  <a:lnTo>
                    <a:pt x="1033412" y="102705"/>
                  </a:lnTo>
                  <a:lnTo>
                    <a:pt x="0" y="102705"/>
                  </a:lnTo>
                  <a:close/>
                </a:path>
              </a:pathLst>
            </a:custGeom>
            <a:solidFill>
              <a:srgbClr val="B00B39">
                <a:alpha val="19608"/>
              </a:srgbClr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1033412" cy="1408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0" name="Freeform 20"/>
          <p:cNvSpPr/>
          <p:nvPr/>
        </p:nvSpPr>
        <p:spPr>
          <a:xfrm>
            <a:off x="1961868" y="3842603"/>
            <a:ext cx="14299845" cy="3074467"/>
          </a:xfrm>
          <a:custGeom>
            <a:avLst/>
            <a:gdLst/>
            <a:ahLst/>
            <a:cxnLst/>
            <a:rect l="l" t="t" r="r" b="b"/>
            <a:pathLst>
              <a:path w="14299845" h="3074467">
                <a:moveTo>
                  <a:pt x="0" y="0"/>
                </a:moveTo>
                <a:lnTo>
                  <a:pt x="14299845" y="0"/>
                </a:lnTo>
                <a:lnTo>
                  <a:pt x="14299845" y="3074467"/>
                </a:lnTo>
                <a:lnTo>
                  <a:pt x="0" y="30744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GR"/>
          </a:p>
        </p:txBody>
      </p:sp>
      <p:sp>
        <p:nvSpPr>
          <p:cNvPr id="26" name="TextBox 26"/>
          <p:cNvSpPr txBox="1"/>
          <p:nvPr/>
        </p:nvSpPr>
        <p:spPr>
          <a:xfrm>
            <a:off x="856456" y="703897"/>
            <a:ext cx="14969093" cy="573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19"/>
              </a:lnSpc>
              <a:spcBef>
                <a:spcPct val="0"/>
              </a:spcBef>
            </a:pPr>
            <a:r>
              <a:rPr lang="en-US" sz="3299" b="1" u="sng">
                <a:solidFill>
                  <a:srgbClr val="B00B39"/>
                </a:solidFill>
                <a:latin typeface="Cardo Bold"/>
                <a:ea typeface="Cardo Bold"/>
                <a:cs typeface="Cardo Bold"/>
                <a:sym typeface="Cardo Bold"/>
              </a:rPr>
              <a:t>Losses Experiments on best model</a:t>
            </a:r>
          </a:p>
        </p:txBody>
      </p:sp>
      <p:grpSp>
        <p:nvGrpSpPr>
          <p:cNvPr id="27" name="Group 8">
            <a:extLst>
              <a:ext uri="{FF2B5EF4-FFF2-40B4-BE49-F238E27FC236}">
                <a16:creationId xmlns:a16="http://schemas.microsoft.com/office/drawing/2014/main" id="{DD73335F-490C-5915-3530-014F4161DEA5}"/>
              </a:ext>
            </a:extLst>
          </p:cNvPr>
          <p:cNvGrpSpPr/>
          <p:nvPr/>
        </p:nvGrpSpPr>
        <p:grpSpPr>
          <a:xfrm>
            <a:off x="3923736" y="-23943"/>
            <a:ext cx="3923736" cy="389959"/>
            <a:chOff x="0" y="0"/>
            <a:chExt cx="1033412" cy="102705"/>
          </a:xfrm>
        </p:grpSpPr>
        <p:sp>
          <p:nvSpPr>
            <p:cNvPr id="28" name="Freeform 9">
              <a:extLst>
                <a:ext uri="{FF2B5EF4-FFF2-40B4-BE49-F238E27FC236}">
                  <a16:creationId xmlns:a16="http://schemas.microsoft.com/office/drawing/2014/main" id="{D5D3C4E3-2EFD-C077-670F-715C299AEFA9}"/>
                </a:ext>
              </a:extLst>
            </p:cNvPr>
            <p:cNvSpPr/>
            <p:nvPr/>
          </p:nvSpPr>
          <p:spPr>
            <a:xfrm>
              <a:off x="0" y="0"/>
              <a:ext cx="1033412" cy="102705"/>
            </a:xfrm>
            <a:custGeom>
              <a:avLst/>
              <a:gdLst/>
              <a:ahLst/>
              <a:cxnLst/>
              <a:rect l="l" t="t" r="r" b="b"/>
              <a:pathLst>
                <a:path w="1033412" h="102705">
                  <a:moveTo>
                    <a:pt x="0" y="0"/>
                  </a:moveTo>
                  <a:lnTo>
                    <a:pt x="1033412" y="0"/>
                  </a:lnTo>
                  <a:lnTo>
                    <a:pt x="1033412" y="102705"/>
                  </a:lnTo>
                  <a:lnTo>
                    <a:pt x="0" y="102705"/>
                  </a:lnTo>
                  <a:close/>
                </a:path>
              </a:pathLst>
            </a:custGeom>
            <a:solidFill>
              <a:srgbClr val="B00B39">
                <a:alpha val="19608"/>
              </a:srgbClr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29" name="TextBox 10">
              <a:extLst>
                <a:ext uri="{FF2B5EF4-FFF2-40B4-BE49-F238E27FC236}">
                  <a16:creationId xmlns:a16="http://schemas.microsoft.com/office/drawing/2014/main" id="{DE526D71-01FA-3C49-99EF-8C7A43DB7AFA}"/>
                </a:ext>
              </a:extLst>
            </p:cNvPr>
            <p:cNvSpPr txBox="1"/>
            <p:nvPr/>
          </p:nvSpPr>
          <p:spPr>
            <a:xfrm>
              <a:off x="0" y="-38100"/>
              <a:ext cx="1033412" cy="1408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0" name="Group 11">
            <a:extLst>
              <a:ext uri="{FF2B5EF4-FFF2-40B4-BE49-F238E27FC236}">
                <a16:creationId xmlns:a16="http://schemas.microsoft.com/office/drawing/2014/main" id="{3CA22E60-6843-C989-82AC-3035F1C8B783}"/>
              </a:ext>
            </a:extLst>
          </p:cNvPr>
          <p:cNvGrpSpPr/>
          <p:nvPr/>
        </p:nvGrpSpPr>
        <p:grpSpPr>
          <a:xfrm>
            <a:off x="7847472" y="-101928"/>
            <a:ext cx="3923736" cy="467944"/>
            <a:chOff x="0" y="0"/>
            <a:chExt cx="1033412" cy="123245"/>
          </a:xfrm>
        </p:grpSpPr>
        <p:sp>
          <p:nvSpPr>
            <p:cNvPr id="31" name="Freeform 12">
              <a:extLst>
                <a:ext uri="{FF2B5EF4-FFF2-40B4-BE49-F238E27FC236}">
                  <a16:creationId xmlns:a16="http://schemas.microsoft.com/office/drawing/2014/main" id="{22552791-A1B7-9364-9A96-1EACDE28BCCF}"/>
                </a:ext>
              </a:extLst>
            </p:cNvPr>
            <p:cNvSpPr/>
            <p:nvPr/>
          </p:nvSpPr>
          <p:spPr>
            <a:xfrm>
              <a:off x="0" y="0"/>
              <a:ext cx="1033412" cy="123245"/>
            </a:xfrm>
            <a:custGeom>
              <a:avLst/>
              <a:gdLst/>
              <a:ahLst/>
              <a:cxnLst/>
              <a:rect l="l" t="t" r="r" b="b"/>
              <a:pathLst>
                <a:path w="1033412" h="123245">
                  <a:moveTo>
                    <a:pt x="0" y="0"/>
                  </a:moveTo>
                  <a:lnTo>
                    <a:pt x="1033412" y="0"/>
                  </a:lnTo>
                  <a:lnTo>
                    <a:pt x="1033412" y="123245"/>
                  </a:lnTo>
                  <a:lnTo>
                    <a:pt x="0" y="123245"/>
                  </a:lnTo>
                  <a:close/>
                </a:path>
              </a:pathLst>
            </a:custGeom>
            <a:solidFill>
              <a:srgbClr val="B00B39"/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32" name="TextBox 13">
              <a:extLst>
                <a:ext uri="{FF2B5EF4-FFF2-40B4-BE49-F238E27FC236}">
                  <a16:creationId xmlns:a16="http://schemas.microsoft.com/office/drawing/2014/main" id="{3FFBF7ED-66AE-1294-7CC6-61F04A00237B}"/>
                </a:ext>
              </a:extLst>
            </p:cNvPr>
            <p:cNvSpPr txBox="1"/>
            <p:nvPr/>
          </p:nvSpPr>
          <p:spPr>
            <a:xfrm>
              <a:off x="0" y="-38100"/>
              <a:ext cx="1033412" cy="1613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3" name="Group 14">
            <a:extLst>
              <a:ext uri="{FF2B5EF4-FFF2-40B4-BE49-F238E27FC236}">
                <a16:creationId xmlns:a16="http://schemas.microsoft.com/office/drawing/2014/main" id="{F3FCCA17-DEAE-4580-9748-B73BA2E175E5}"/>
              </a:ext>
            </a:extLst>
          </p:cNvPr>
          <p:cNvGrpSpPr/>
          <p:nvPr/>
        </p:nvGrpSpPr>
        <p:grpSpPr>
          <a:xfrm>
            <a:off x="11771209" y="-23943"/>
            <a:ext cx="3923736" cy="389959"/>
            <a:chOff x="0" y="0"/>
            <a:chExt cx="1033412" cy="102705"/>
          </a:xfrm>
        </p:grpSpPr>
        <p:sp>
          <p:nvSpPr>
            <p:cNvPr id="34" name="Freeform 15">
              <a:extLst>
                <a:ext uri="{FF2B5EF4-FFF2-40B4-BE49-F238E27FC236}">
                  <a16:creationId xmlns:a16="http://schemas.microsoft.com/office/drawing/2014/main" id="{C71E2584-82FB-E9E3-C989-2AF61D88998E}"/>
                </a:ext>
              </a:extLst>
            </p:cNvPr>
            <p:cNvSpPr/>
            <p:nvPr/>
          </p:nvSpPr>
          <p:spPr>
            <a:xfrm>
              <a:off x="0" y="0"/>
              <a:ext cx="1033412" cy="102705"/>
            </a:xfrm>
            <a:custGeom>
              <a:avLst/>
              <a:gdLst/>
              <a:ahLst/>
              <a:cxnLst/>
              <a:rect l="l" t="t" r="r" b="b"/>
              <a:pathLst>
                <a:path w="1033412" h="102705">
                  <a:moveTo>
                    <a:pt x="0" y="0"/>
                  </a:moveTo>
                  <a:lnTo>
                    <a:pt x="1033412" y="0"/>
                  </a:lnTo>
                  <a:lnTo>
                    <a:pt x="1033412" y="102705"/>
                  </a:lnTo>
                  <a:lnTo>
                    <a:pt x="0" y="102705"/>
                  </a:lnTo>
                  <a:close/>
                </a:path>
              </a:pathLst>
            </a:custGeom>
            <a:solidFill>
              <a:srgbClr val="B00B39">
                <a:alpha val="19608"/>
              </a:srgbClr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35" name="TextBox 16">
              <a:extLst>
                <a:ext uri="{FF2B5EF4-FFF2-40B4-BE49-F238E27FC236}">
                  <a16:creationId xmlns:a16="http://schemas.microsoft.com/office/drawing/2014/main" id="{1045EEF1-FCED-65E7-176B-477FC2D17977}"/>
                </a:ext>
              </a:extLst>
            </p:cNvPr>
            <p:cNvSpPr txBox="1"/>
            <p:nvPr/>
          </p:nvSpPr>
          <p:spPr>
            <a:xfrm>
              <a:off x="0" y="-38100"/>
              <a:ext cx="1033412" cy="1408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6" name="TextBox 21">
            <a:extLst>
              <a:ext uri="{FF2B5EF4-FFF2-40B4-BE49-F238E27FC236}">
                <a16:creationId xmlns:a16="http://schemas.microsoft.com/office/drawing/2014/main" id="{AE48AD57-FEDD-3773-CACC-D6A718ED312F}"/>
              </a:ext>
            </a:extLst>
          </p:cNvPr>
          <p:cNvSpPr txBox="1"/>
          <p:nvPr/>
        </p:nvSpPr>
        <p:spPr>
          <a:xfrm>
            <a:off x="1146942" y="-12075"/>
            <a:ext cx="1629853" cy="342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2"/>
              </a:lnSpc>
            </a:pPr>
            <a:r>
              <a:rPr lang="en-US" sz="1951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Introduction </a:t>
            </a:r>
          </a:p>
        </p:txBody>
      </p:sp>
      <p:sp>
        <p:nvSpPr>
          <p:cNvPr id="37" name="TextBox 22">
            <a:extLst>
              <a:ext uri="{FF2B5EF4-FFF2-40B4-BE49-F238E27FC236}">
                <a16:creationId xmlns:a16="http://schemas.microsoft.com/office/drawing/2014/main" id="{4D8AA95D-CFBC-6A14-AF13-3E82D9481553}"/>
              </a:ext>
            </a:extLst>
          </p:cNvPr>
          <p:cNvSpPr txBox="1"/>
          <p:nvPr/>
        </p:nvSpPr>
        <p:spPr>
          <a:xfrm>
            <a:off x="5073241" y="-12075"/>
            <a:ext cx="1941238" cy="3242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32"/>
              </a:lnSpc>
            </a:pPr>
            <a:r>
              <a:rPr lang="en-US" sz="1951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Methodology</a:t>
            </a:r>
          </a:p>
        </p:txBody>
      </p:sp>
      <p:sp>
        <p:nvSpPr>
          <p:cNvPr id="38" name="TextBox 23">
            <a:extLst>
              <a:ext uri="{FF2B5EF4-FFF2-40B4-BE49-F238E27FC236}">
                <a16:creationId xmlns:a16="http://schemas.microsoft.com/office/drawing/2014/main" id="{3212407B-92AF-968E-4EFA-0E2D0976AA95}"/>
              </a:ext>
            </a:extLst>
          </p:cNvPr>
          <p:cNvSpPr txBox="1"/>
          <p:nvPr/>
        </p:nvSpPr>
        <p:spPr>
          <a:xfrm>
            <a:off x="9358004" y="-24046"/>
            <a:ext cx="1072999" cy="3362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32"/>
              </a:lnSpc>
            </a:pPr>
            <a:r>
              <a:rPr lang="en-US" sz="1951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Results</a:t>
            </a:r>
          </a:p>
        </p:txBody>
      </p:sp>
      <p:sp>
        <p:nvSpPr>
          <p:cNvPr id="39" name="TextBox 24">
            <a:extLst>
              <a:ext uri="{FF2B5EF4-FFF2-40B4-BE49-F238E27FC236}">
                <a16:creationId xmlns:a16="http://schemas.microsoft.com/office/drawing/2014/main" id="{EB484006-C4D6-1D38-8D70-151672852F04}"/>
              </a:ext>
            </a:extLst>
          </p:cNvPr>
          <p:cNvSpPr txBox="1"/>
          <p:nvPr/>
        </p:nvSpPr>
        <p:spPr>
          <a:xfrm>
            <a:off x="12604201" y="-12075"/>
            <a:ext cx="2464004" cy="3242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32"/>
              </a:lnSpc>
            </a:pPr>
            <a:r>
              <a:rPr lang="en-US" sz="1951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Critical Discussion</a:t>
            </a:r>
          </a:p>
        </p:txBody>
      </p:sp>
      <p:sp>
        <p:nvSpPr>
          <p:cNvPr id="40" name="TextBox 25">
            <a:extLst>
              <a:ext uri="{FF2B5EF4-FFF2-40B4-BE49-F238E27FC236}">
                <a16:creationId xmlns:a16="http://schemas.microsoft.com/office/drawing/2014/main" id="{76B6118F-7C63-E858-5FB0-B20372B88716}"/>
              </a:ext>
            </a:extLst>
          </p:cNvPr>
          <p:cNvSpPr txBox="1"/>
          <p:nvPr/>
        </p:nvSpPr>
        <p:spPr>
          <a:xfrm>
            <a:off x="16408410" y="-24046"/>
            <a:ext cx="1498589" cy="3362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32"/>
              </a:lnSpc>
            </a:pPr>
            <a:r>
              <a:rPr lang="en-US" sz="1951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Conclusion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78475" cy="366016"/>
            <a:chOff x="0" y="0"/>
            <a:chExt cx="4814084" cy="9639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4084" cy="96399"/>
            </a:xfrm>
            <a:custGeom>
              <a:avLst/>
              <a:gdLst/>
              <a:ahLst/>
              <a:cxnLst/>
              <a:rect l="l" t="t" r="r" b="b"/>
              <a:pathLst>
                <a:path w="4814084" h="96399">
                  <a:moveTo>
                    <a:pt x="0" y="0"/>
                  </a:moveTo>
                  <a:lnTo>
                    <a:pt x="4814084" y="0"/>
                  </a:lnTo>
                  <a:lnTo>
                    <a:pt x="4814084" y="96399"/>
                  </a:lnTo>
                  <a:lnTo>
                    <a:pt x="0" y="96399"/>
                  </a:lnTo>
                  <a:close/>
                </a:path>
              </a:pathLst>
            </a:custGeom>
            <a:solidFill>
              <a:srgbClr val="897993"/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4084" cy="1344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-55288"/>
            <a:ext cx="3923736" cy="421303"/>
            <a:chOff x="0" y="0"/>
            <a:chExt cx="1033412" cy="11096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33412" cy="110961"/>
            </a:xfrm>
            <a:custGeom>
              <a:avLst/>
              <a:gdLst/>
              <a:ahLst/>
              <a:cxnLst/>
              <a:rect l="l" t="t" r="r" b="b"/>
              <a:pathLst>
                <a:path w="1033412" h="110961">
                  <a:moveTo>
                    <a:pt x="0" y="0"/>
                  </a:moveTo>
                  <a:lnTo>
                    <a:pt x="1033412" y="0"/>
                  </a:lnTo>
                  <a:lnTo>
                    <a:pt x="1033412" y="110961"/>
                  </a:lnTo>
                  <a:lnTo>
                    <a:pt x="0" y="110961"/>
                  </a:lnTo>
                  <a:close/>
                </a:path>
              </a:pathLst>
            </a:custGeom>
            <a:solidFill>
              <a:srgbClr val="B00B39">
                <a:alpha val="19608"/>
              </a:srgbClr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033412" cy="1490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5694945" y="-40855"/>
            <a:ext cx="3923736" cy="389959"/>
            <a:chOff x="0" y="0"/>
            <a:chExt cx="1033412" cy="102705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033412" cy="102705"/>
            </a:xfrm>
            <a:custGeom>
              <a:avLst/>
              <a:gdLst/>
              <a:ahLst/>
              <a:cxnLst/>
              <a:rect l="l" t="t" r="r" b="b"/>
              <a:pathLst>
                <a:path w="1033412" h="102705">
                  <a:moveTo>
                    <a:pt x="0" y="0"/>
                  </a:moveTo>
                  <a:lnTo>
                    <a:pt x="1033412" y="0"/>
                  </a:lnTo>
                  <a:lnTo>
                    <a:pt x="1033412" y="102705"/>
                  </a:lnTo>
                  <a:lnTo>
                    <a:pt x="0" y="102705"/>
                  </a:lnTo>
                  <a:close/>
                </a:path>
              </a:pathLst>
            </a:custGeom>
            <a:solidFill>
              <a:srgbClr val="B00B39">
                <a:alpha val="19608"/>
              </a:srgbClr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1033412" cy="1408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0" name="Freeform 20"/>
          <p:cNvSpPr/>
          <p:nvPr/>
        </p:nvSpPr>
        <p:spPr>
          <a:xfrm>
            <a:off x="856456" y="2982915"/>
            <a:ext cx="7868775" cy="4539678"/>
          </a:xfrm>
          <a:custGeom>
            <a:avLst/>
            <a:gdLst/>
            <a:ahLst/>
            <a:cxnLst/>
            <a:rect l="l" t="t" r="r" b="b"/>
            <a:pathLst>
              <a:path w="7868775" h="4539678">
                <a:moveTo>
                  <a:pt x="0" y="0"/>
                </a:moveTo>
                <a:lnTo>
                  <a:pt x="7868774" y="0"/>
                </a:lnTo>
                <a:lnTo>
                  <a:pt x="7868774" y="4539678"/>
                </a:lnTo>
                <a:lnTo>
                  <a:pt x="0" y="45396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GR"/>
          </a:p>
        </p:txBody>
      </p:sp>
      <p:sp>
        <p:nvSpPr>
          <p:cNvPr id="21" name="Freeform 21"/>
          <p:cNvSpPr/>
          <p:nvPr/>
        </p:nvSpPr>
        <p:spPr>
          <a:xfrm>
            <a:off x="8579653" y="2234115"/>
            <a:ext cx="9077160" cy="6683059"/>
          </a:xfrm>
          <a:custGeom>
            <a:avLst/>
            <a:gdLst/>
            <a:ahLst/>
            <a:cxnLst/>
            <a:rect l="l" t="t" r="r" b="b"/>
            <a:pathLst>
              <a:path w="9077160" h="6683059">
                <a:moveTo>
                  <a:pt x="0" y="0"/>
                </a:moveTo>
                <a:lnTo>
                  <a:pt x="9077160" y="0"/>
                </a:lnTo>
                <a:lnTo>
                  <a:pt x="9077160" y="6683060"/>
                </a:lnTo>
                <a:lnTo>
                  <a:pt x="0" y="66830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GR"/>
          </a:p>
        </p:txBody>
      </p:sp>
      <p:sp>
        <p:nvSpPr>
          <p:cNvPr id="27" name="TextBox 27"/>
          <p:cNvSpPr txBox="1"/>
          <p:nvPr/>
        </p:nvSpPr>
        <p:spPr>
          <a:xfrm>
            <a:off x="856456" y="703897"/>
            <a:ext cx="14969093" cy="573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19"/>
              </a:lnSpc>
              <a:spcBef>
                <a:spcPct val="0"/>
              </a:spcBef>
            </a:pPr>
            <a:r>
              <a:rPr lang="en-US" sz="3299" b="1" u="sng">
                <a:solidFill>
                  <a:srgbClr val="B00B39"/>
                </a:solidFill>
                <a:latin typeface="Cardo Bold"/>
                <a:ea typeface="Cardo Bold"/>
                <a:cs typeface="Cardo Bold"/>
                <a:sym typeface="Cardo Bold"/>
              </a:rPr>
              <a:t>Summary of results</a:t>
            </a:r>
          </a:p>
        </p:txBody>
      </p:sp>
      <p:grpSp>
        <p:nvGrpSpPr>
          <p:cNvPr id="28" name="Group 8">
            <a:extLst>
              <a:ext uri="{FF2B5EF4-FFF2-40B4-BE49-F238E27FC236}">
                <a16:creationId xmlns:a16="http://schemas.microsoft.com/office/drawing/2014/main" id="{0F81169B-9BA7-624E-9848-2C42176AFB63}"/>
              </a:ext>
            </a:extLst>
          </p:cNvPr>
          <p:cNvGrpSpPr/>
          <p:nvPr/>
        </p:nvGrpSpPr>
        <p:grpSpPr>
          <a:xfrm>
            <a:off x="3923736" y="-23943"/>
            <a:ext cx="3923736" cy="389959"/>
            <a:chOff x="0" y="0"/>
            <a:chExt cx="1033412" cy="102705"/>
          </a:xfrm>
        </p:grpSpPr>
        <p:sp>
          <p:nvSpPr>
            <p:cNvPr id="29" name="Freeform 9">
              <a:extLst>
                <a:ext uri="{FF2B5EF4-FFF2-40B4-BE49-F238E27FC236}">
                  <a16:creationId xmlns:a16="http://schemas.microsoft.com/office/drawing/2014/main" id="{012FEE30-80F1-9FD9-A1DC-1D2C607ACA74}"/>
                </a:ext>
              </a:extLst>
            </p:cNvPr>
            <p:cNvSpPr/>
            <p:nvPr/>
          </p:nvSpPr>
          <p:spPr>
            <a:xfrm>
              <a:off x="0" y="0"/>
              <a:ext cx="1033412" cy="102705"/>
            </a:xfrm>
            <a:custGeom>
              <a:avLst/>
              <a:gdLst/>
              <a:ahLst/>
              <a:cxnLst/>
              <a:rect l="l" t="t" r="r" b="b"/>
              <a:pathLst>
                <a:path w="1033412" h="102705">
                  <a:moveTo>
                    <a:pt x="0" y="0"/>
                  </a:moveTo>
                  <a:lnTo>
                    <a:pt x="1033412" y="0"/>
                  </a:lnTo>
                  <a:lnTo>
                    <a:pt x="1033412" y="102705"/>
                  </a:lnTo>
                  <a:lnTo>
                    <a:pt x="0" y="102705"/>
                  </a:lnTo>
                  <a:close/>
                </a:path>
              </a:pathLst>
            </a:custGeom>
            <a:solidFill>
              <a:srgbClr val="B00B39">
                <a:alpha val="19608"/>
              </a:srgbClr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30" name="TextBox 10">
              <a:extLst>
                <a:ext uri="{FF2B5EF4-FFF2-40B4-BE49-F238E27FC236}">
                  <a16:creationId xmlns:a16="http://schemas.microsoft.com/office/drawing/2014/main" id="{33595238-E6A8-71BB-5023-A84B84AEECC8}"/>
                </a:ext>
              </a:extLst>
            </p:cNvPr>
            <p:cNvSpPr txBox="1"/>
            <p:nvPr/>
          </p:nvSpPr>
          <p:spPr>
            <a:xfrm>
              <a:off x="0" y="-38100"/>
              <a:ext cx="1033412" cy="1408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1" name="Group 11">
            <a:extLst>
              <a:ext uri="{FF2B5EF4-FFF2-40B4-BE49-F238E27FC236}">
                <a16:creationId xmlns:a16="http://schemas.microsoft.com/office/drawing/2014/main" id="{B30081AA-3408-1B98-A3ED-2A708FCE5FEB}"/>
              </a:ext>
            </a:extLst>
          </p:cNvPr>
          <p:cNvGrpSpPr/>
          <p:nvPr/>
        </p:nvGrpSpPr>
        <p:grpSpPr>
          <a:xfrm>
            <a:off x="7847472" y="-101928"/>
            <a:ext cx="3923736" cy="467944"/>
            <a:chOff x="0" y="0"/>
            <a:chExt cx="1033412" cy="123245"/>
          </a:xfrm>
        </p:grpSpPr>
        <p:sp>
          <p:nvSpPr>
            <p:cNvPr id="32" name="Freeform 12">
              <a:extLst>
                <a:ext uri="{FF2B5EF4-FFF2-40B4-BE49-F238E27FC236}">
                  <a16:creationId xmlns:a16="http://schemas.microsoft.com/office/drawing/2014/main" id="{8F05B0D2-E30C-DFE6-E4B7-769D50D034C2}"/>
                </a:ext>
              </a:extLst>
            </p:cNvPr>
            <p:cNvSpPr/>
            <p:nvPr/>
          </p:nvSpPr>
          <p:spPr>
            <a:xfrm>
              <a:off x="0" y="0"/>
              <a:ext cx="1033412" cy="123245"/>
            </a:xfrm>
            <a:custGeom>
              <a:avLst/>
              <a:gdLst/>
              <a:ahLst/>
              <a:cxnLst/>
              <a:rect l="l" t="t" r="r" b="b"/>
              <a:pathLst>
                <a:path w="1033412" h="123245">
                  <a:moveTo>
                    <a:pt x="0" y="0"/>
                  </a:moveTo>
                  <a:lnTo>
                    <a:pt x="1033412" y="0"/>
                  </a:lnTo>
                  <a:lnTo>
                    <a:pt x="1033412" y="123245"/>
                  </a:lnTo>
                  <a:lnTo>
                    <a:pt x="0" y="123245"/>
                  </a:lnTo>
                  <a:close/>
                </a:path>
              </a:pathLst>
            </a:custGeom>
            <a:solidFill>
              <a:srgbClr val="B00B39"/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33" name="TextBox 13">
              <a:extLst>
                <a:ext uri="{FF2B5EF4-FFF2-40B4-BE49-F238E27FC236}">
                  <a16:creationId xmlns:a16="http://schemas.microsoft.com/office/drawing/2014/main" id="{F637B2C4-F45D-B60B-6915-3329482D18DD}"/>
                </a:ext>
              </a:extLst>
            </p:cNvPr>
            <p:cNvSpPr txBox="1"/>
            <p:nvPr/>
          </p:nvSpPr>
          <p:spPr>
            <a:xfrm>
              <a:off x="0" y="-38100"/>
              <a:ext cx="1033412" cy="1613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4" name="Group 14">
            <a:extLst>
              <a:ext uri="{FF2B5EF4-FFF2-40B4-BE49-F238E27FC236}">
                <a16:creationId xmlns:a16="http://schemas.microsoft.com/office/drawing/2014/main" id="{2854C8DD-CDA1-E294-C7D8-F81C26BF1D6C}"/>
              </a:ext>
            </a:extLst>
          </p:cNvPr>
          <p:cNvGrpSpPr/>
          <p:nvPr/>
        </p:nvGrpSpPr>
        <p:grpSpPr>
          <a:xfrm>
            <a:off x="11771209" y="-23943"/>
            <a:ext cx="3923736" cy="389959"/>
            <a:chOff x="0" y="0"/>
            <a:chExt cx="1033412" cy="102705"/>
          </a:xfrm>
        </p:grpSpPr>
        <p:sp>
          <p:nvSpPr>
            <p:cNvPr id="35" name="Freeform 15">
              <a:extLst>
                <a:ext uri="{FF2B5EF4-FFF2-40B4-BE49-F238E27FC236}">
                  <a16:creationId xmlns:a16="http://schemas.microsoft.com/office/drawing/2014/main" id="{B33E2DDA-0C34-50E7-A552-E9F515D66B57}"/>
                </a:ext>
              </a:extLst>
            </p:cNvPr>
            <p:cNvSpPr/>
            <p:nvPr/>
          </p:nvSpPr>
          <p:spPr>
            <a:xfrm>
              <a:off x="0" y="0"/>
              <a:ext cx="1033412" cy="102705"/>
            </a:xfrm>
            <a:custGeom>
              <a:avLst/>
              <a:gdLst/>
              <a:ahLst/>
              <a:cxnLst/>
              <a:rect l="l" t="t" r="r" b="b"/>
              <a:pathLst>
                <a:path w="1033412" h="102705">
                  <a:moveTo>
                    <a:pt x="0" y="0"/>
                  </a:moveTo>
                  <a:lnTo>
                    <a:pt x="1033412" y="0"/>
                  </a:lnTo>
                  <a:lnTo>
                    <a:pt x="1033412" y="102705"/>
                  </a:lnTo>
                  <a:lnTo>
                    <a:pt x="0" y="102705"/>
                  </a:lnTo>
                  <a:close/>
                </a:path>
              </a:pathLst>
            </a:custGeom>
            <a:solidFill>
              <a:srgbClr val="B00B39">
                <a:alpha val="19608"/>
              </a:srgbClr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36" name="TextBox 16">
              <a:extLst>
                <a:ext uri="{FF2B5EF4-FFF2-40B4-BE49-F238E27FC236}">
                  <a16:creationId xmlns:a16="http://schemas.microsoft.com/office/drawing/2014/main" id="{5577E105-7383-5324-7BB7-A72F66ADF22A}"/>
                </a:ext>
              </a:extLst>
            </p:cNvPr>
            <p:cNvSpPr txBox="1"/>
            <p:nvPr/>
          </p:nvSpPr>
          <p:spPr>
            <a:xfrm>
              <a:off x="0" y="-38100"/>
              <a:ext cx="1033412" cy="1408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7" name="TextBox 21">
            <a:extLst>
              <a:ext uri="{FF2B5EF4-FFF2-40B4-BE49-F238E27FC236}">
                <a16:creationId xmlns:a16="http://schemas.microsoft.com/office/drawing/2014/main" id="{8995CA4E-B713-5837-47D2-41C645A48FB2}"/>
              </a:ext>
            </a:extLst>
          </p:cNvPr>
          <p:cNvSpPr txBox="1"/>
          <p:nvPr/>
        </p:nvSpPr>
        <p:spPr>
          <a:xfrm>
            <a:off x="1146942" y="-12075"/>
            <a:ext cx="1629853" cy="342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2"/>
              </a:lnSpc>
            </a:pPr>
            <a:r>
              <a:rPr lang="en-US" sz="1951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Introduction </a:t>
            </a:r>
          </a:p>
        </p:txBody>
      </p:sp>
      <p:sp>
        <p:nvSpPr>
          <p:cNvPr id="38" name="TextBox 22">
            <a:extLst>
              <a:ext uri="{FF2B5EF4-FFF2-40B4-BE49-F238E27FC236}">
                <a16:creationId xmlns:a16="http://schemas.microsoft.com/office/drawing/2014/main" id="{211EC8E4-0EAC-0188-187B-C5CC22970687}"/>
              </a:ext>
            </a:extLst>
          </p:cNvPr>
          <p:cNvSpPr txBox="1"/>
          <p:nvPr/>
        </p:nvSpPr>
        <p:spPr>
          <a:xfrm>
            <a:off x="5073241" y="-12075"/>
            <a:ext cx="1941238" cy="3242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32"/>
              </a:lnSpc>
            </a:pPr>
            <a:r>
              <a:rPr lang="en-US" sz="1951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Methodology</a:t>
            </a:r>
          </a:p>
        </p:txBody>
      </p:sp>
      <p:sp>
        <p:nvSpPr>
          <p:cNvPr id="39" name="TextBox 23">
            <a:extLst>
              <a:ext uri="{FF2B5EF4-FFF2-40B4-BE49-F238E27FC236}">
                <a16:creationId xmlns:a16="http://schemas.microsoft.com/office/drawing/2014/main" id="{440F65F5-5697-AB73-AD8E-1D2F14176E96}"/>
              </a:ext>
            </a:extLst>
          </p:cNvPr>
          <p:cNvSpPr txBox="1"/>
          <p:nvPr/>
        </p:nvSpPr>
        <p:spPr>
          <a:xfrm>
            <a:off x="9358004" y="-24046"/>
            <a:ext cx="1072999" cy="3362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32"/>
              </a:lnSpc>
            </a:pPr>
            <a:r>
              <a:rPr lang="en-US" sz="1951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Results</a:t>
            </a:r>
          </a:p>
        </p:txBody>
      </p:sp>
      <p:sp>
        <p:nvSpPr>
          <p:cNvPr id="40" name="TextBox 24">
            <a:extLst>
              <a:ext uri="{FF2B5EF4-FFF2-40B4-BE49-F238E27FC236}">
                <a16:creationId xmlns:a16="http://schemas.microsoft.com/office/drawing/2014/main" id="{AE8A14A6-210A-5916-D3C2-8D56E56517AF}"/>
              </a:ext>
            </a:extLst>
          </p:cNvPr>
          <p:cNvSpPr txBox="1"/>
          <p:nvPr/>
        </p:nvSpPr>
        <p:spPr>
          <a:xfrm>
            <a:off x="12604201" y="-12075"/>
            <a:ext cx="2464004" cy="3242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32"/>
              </a:lnSpc>
            </a:pPr>
            <a:r>
              <a:rPr lang="en-US" sz="1951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Critical Discussion</a:t>
            </a:r>
          </a:p>
        </p:txBody>
      </p:sp>
      <p:sp>
        <p:nvSpPr>
          <p:cNvPr id="41" name="TextBox 25">
            <a:extLst>
              <a:ext uri="{FF2B5EF4-FFF2-40B4-BE49-F238E27FC236}">
                <a16:creationId xmlns:a16="http://schemas.microsoft.com/office/drawing/2014/main" id="{3CB02D16-DA41-5BC9-534B-198315802BE7}"/>
              </a:ext>
            </a:extLst>
          </p:cNvPr>
          <p:cNvSpPr txBox="1"/>
          <p:nvPr/>
        </p:nvSpPr>
        <p:spPr>
          <a:xfrm>
            <a:off x="16408410" y="-24046"/>
            <a:ext cx="1498589" cy="3362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32"/>
              </a:lnSpc>
            </a:pPr>
            <a:r>
              <a:rPr lang="en-US" sz="1951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Conclusion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78475" cy="366016"/>
            <a:chOff x="0" y="0"/>
            <a:chExt cx="4814084" cy="9639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4084" cy="96399"/>
            </a:xfrm>
            <a:custGeom>
              <a:avLst/>
              <a:gdLst/>
              <a:ahLst/>
              <a:cxnLst/>
              <a:rect l="l" t="t" r="r" b="b"/>
              <a:pathLst>
                <a:path w="4814084" h="96399">
                  <a:moveTo>
                    <a:pt x="0" y="0"/>
                  </a:moveTo>
                  <a:lnTo>
                    <a:pt x="4814084" y="0"/>
                  </a:lnTo>
                  <a:lnTo>
                    <a:pt x="4814084" y="96399"/>
                  </a:lnTo>
                  <a:lnTo>
                    <a:pt x="0" y="96399"/>
                  </a:lnTo>
                  <a:close/>
                </a:path>
              </a:pathLst>
            </a:custGeom>
            <a:solidFill>
              <a:srgbClr val="897993"/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4084" cy="1344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-55288"/>
            <a:ext cx="3923736" cy="421303"/>
            <a:chOff x="0" y="0"/>
            <a:chExt cx="1033412" cy="11096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33412" cy="110961"/>
            </a:xfrm>
            <a:custGeom>
              <a:avLst/>
              <a:gdLst/>
              <a:ahLst/>
              <a:cxnLst/>
              <a:rect l="l" t="t" r="r" b="b"/>
              <a:pathLst>
                <a:path w="1033412" h="110961">
                  <a:moveTo>
                    <a:pt x="0" y="0"/>
                  </a:moveTo>
                  <a:lnTo>
                    <a:pt x="1033412" y="0"/>
                  </a:lnTo>
                  <a:lnTo>
                    <a:pt x="1033412" y="110961"/>
                  </a:lnTo>
                  <a:lnTo>
                    <a:pt x="0" y="110961"/>
                  </a:lnTo>
                  <a:close/>
                </a:path>
              </a:pathLst>
            </a:custGeom>
            <a:solidFill>
              <a:srgbClr val="B00B39">
                <a:alpha val="19608"/>
              </a:srgbClr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033412" cy="1490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923736" y="-23943"/>
            <a:ext cx="3923736" cy="389959"/>
            <a:chOff x="0" y="0"/>
            <a:chExt cx="1033412" cy="10270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33412" cy="102705"/>
            </a:xfrm>
            <a:custGeom>
              <a:avLst/>
              <a:gdLst/>
              <a:ahLst/>
              <a:cxnLst/>
              <a:rect l="l" t="t" r="r" b="b"/>
              <a:pathLst>
                <a:path w="1033412" h="102705">
                  <a:moveTo>
                    <a:pt x="0" y="0"/>
                  </a:moveTo>
                  <a:lnTo>
                    <a:pt x="1033412" y="0"/>
                  </a:lnTo>
                  <a:lnTo>
                    <a:pt x="1033412" y="102705"/>
                  </a:lnTo>
                  <a:lnTo>
                    <a:pt x="0" y="102705"/>
                  </a:lnTo>
                  <a:close/>
                </a:path>
              </a:pathLst>
            </a:custGeom>
            <a:solidFill>
              <a:srgbClr val="B00B39">
                <a:alpha val="19608"/>
              </a:srgbClr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033412" cy="1408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847472" y="-101928"/>
            <a:ext cx="3923736" cy="467944"/>
            <a:chOff x="0" y="0"/>
            <a:chExt cx="1033412" cy="12324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33412" cy="123245"/>
            </a:xfrm>
            <a:custGeom>
              <a:avLst/>
              <a:gdLst/>
              <a:ahLst/>
              <a:cxnLst/>
              <a:rect l="l" t="t" r="r" b="b"/>
              <a:pathLst>
                <a:path w="1033412" h="123245">
                  <a:moveTo>
                    <a:pt x="0" y="0"/>
                  </a:moveTo>
                  <a:lnTo>
                    <a:pt x="1033412" y="0"/>
                  </a:lnTo>
                  <a:lnTo>
                    <a:pt x="1033412" y="123245"/>
                  </a:lnTo>
                  <a:lnTo>
                    <a:pt x="0" y="123245"/>
                  </a:lnTo>
                  <a:close/>
                </a:path>
              </a:pathLst>
            </a:custGeom>
            <a:solidFill>
              <a:srgbClr val="B00B39">
                <a:alpha val="19608"/>
              </a:srgbClr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033412" cy="1613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1771209" y="-23943"/>
            <a:ext cx="3923736" cy="389959"/>
            <a:chOff x="0" y="0"/>
            <a:chExt cx="1033412" cy="10270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33412" cy="102705"/>
            </a:xfrm>
            <a:custGeom>
              <a:avLst/>
              <a:gdLst/>
              <a:ahLst/>
              <a:cxnLst/>
              <a:rect l="l" t="t" r="r" b="b"/>
              <a:pathLst>
                <a:path w="1033412" h="102705">
                  <a:moveTo>
                    <a:pt x="0" y="0"/>
                  </a:moveTo>
                  <a:lnTo>
                    <a:pt x="1033412" y="0"/>
                  </a:lnTo>
                  <a:lnTo>
                    <a:pt x="1033412" y="102705"/>
                  </a:lnTo>
                  <a:lnTo>
                    <a:pt x="0" y="102705"/>
                  </a:lnTo>
                  <a:close/>
                </a:path>
              </a:pathLst>
            </a:custGeom>
            <a:solidFill>
              <a:srgbClr val="B00B39"/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1033412" cy="1408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5694945" y="-40855"/>
            <a:ext cx="3923736" cy="389959"/>
            <a:chOff x="0" y="0"/>
            <a:chExt cx="1033412" cy="102705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033412" cy="102705"/>
            </a:xfrm>
            <a:custGeom>
              <a:avLst/>
              <a:gdLst/>
              <a:ahLst/>
              <a:cxnLst/>
              <a:rect l="l" t="t" r="r" b="b"/>
              <a:pathLst>
                <a:path w="1033412" h="102705">
                  <a:moveTo>
                    <a:pt x="0" y="0"/>
                  </a:moveTo>
                  <a:lnTo>
                    <a:pt x="1033412" y="0"/>
                  </a:lnTo>
                  <a:lnTo>
                    <a:pt x="1033412" y="102705"/>
                  </a:lnTo>
                  <a:lnTo>
                    <a:pt x="0" y="102705"/>
                  </a:lnTo>
                  <a:close/>
                </a:path>
              </a:pathLst>
            </a:custGeom>
            <a:solidFill>
              <a:srgbClr val="B00B39">
                <a:alpha val="19608"/>
              </a:srgbClr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1033412" cy="1408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146942" y="-12075"/>
            <a:ext cx="1629853" cy="342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2"/>
              </a:lnSpc>
            </a:pPr>
            <a:r>
              <a:rPr lang="en-US" sz="1951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Introduction 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073240" y="-12075"/>
            <a:ext cx="1701233" cy="3242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32"/>
              </a:lnSpc>
            </a:pPr>
            <a:r>
              <a:rPr lang="en-US" sz="1951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Methodology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358004" y="-24047"/>
            <a:ext cx="1072999" cy="3242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32"/>
              </a:lnSpc>
            </a:pPr>
            <a:r>
              <a:rPr lang="en-US" sz="1951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Results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604201" y="-12075"/>
            <a:ext cx="2330999" cy="3242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32"/>
              </a:lnSpc>
            </a:pPr>
            <a:r>
              <a:rPr lang="en-US" sz="1951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Critical Discussion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6408410" y="-24047"/>
            <a:ext cx="1498589" cy="3242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32"/>
              </a:lnSpc>
            </a:pPr>
            <a:r>
              <a:rPr lang="en-US" sz="1951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Conclusion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28700" y="952500"/>
            <a:ext cx="14969093" cy="573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19"/>
              </a:lnSpc>
              <a:spcBef>
                <a:spcPct val="0"/>
              </a:spcBef>
            </a:pPr>
            <a:r>
              <a:rPr lang="en-US" sz="3299" b="1" u="sng">
                <a:solidFill>
                  <a:srgbClr val="B00B39"/>
                </a:solidFill>
                <a:latin typeface="Cardo Bold"/>
                <a:ea typeface="Cardo Bold"/>
                <a:cs typeface="Cardo Bold"/>
                <a:sym typeface="Cardo Bold"/>
              </a:rPr>
              <a:t>Strengths of the Developed Approach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24082" y="3059083"/>
            <a:ext cx="13594333" cy="41688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8836" lvl="1" indent="-314418" algn="l">
              <a:lnSpc>
                <a:spcPts val="4077"/>
              </a:lnSpc>
              <a:buFont typeface="Arial"/>
              <a:buChar char="•"/>
            </a:pPr>
            <a:r>
              <a:rPr lang="en-US" sz="2912" b="1" u="none" strike="noStrike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Fair evaluation pipeline:</a:t>
            </a:r>
          </a:p>
          <a:p>
            <a:pPr marL="1257671" lvl="2" indent="-419224" algn="l">
              <a:lnSpc>
                <a:spcPts val="4077"/>
              </a:lnSpc>
              <a:spcBef>
                <a:spcPct val="0"/>
              </a:spcBef>
              <a:buFont typeface="Arial"/>
              <a:buChar char="⚬"/>
            </a:pPr>
            <a:r>
              <a:rPr lang="en-US" sz="2912" u="none" strike="noStrik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Same schedule, augmentations, epochs → consistent comparisons</a:t>
            </a:r>
          </a:p>
          <a:p>
            <a:pPr marL="628836" lvl="1" indent="-314418" algn="l">
              <a:lnSpc>
                <a:spcPts val="4077"/>
              </a:lnSpc>
              <a:spcBef>
                <a:spcPct val="0"/>
              </a:spcBef>
              <a:buFont typeface="Arial"/>
              <a:buChar char="•"/>
            </a:pPr>
            <a:r>
              <a:rPr lang="en-US" sz="2912" b="1" u="none" strike="noStrike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Powerful post-processing framework:</a:t>
            </a:r>
          </a:p>
          <a:p>
            <a:pPr marL="1257671" lvl="2" indent="-419224" algn="l">
              <a:lnSpc>
                <a:spcPts val="4077"/>
              </a:lnSpc>
              <a:spcBef>
                <a:spcPct val="0"/>
              </a:spcBef>
              <a:buFont typeface="Arial"/>
              <a:buChar char="⚬"/>
            </a:pPr>
            <a:r>
              <a:rPr lang="en-US" sz="2912" u="none" strike="noStrik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Multi-stage threshold search improved performance without re-training</a:t>
            </a:r>
          </a:p>
          <a:p>
            <a:pPr marL="628836" lvl="1" indent="-314418">
              <a:lnSpc>
                <a:spcPts val="4077"/>
              </a:lnSpc>
              <a:spcBef>
                <a:spcPct val="0"/>
              </a:spcBef>
              <a:buFont typeface="Arial"/>
              <a:buChar char="•"/>
            </a:pPr>
            <a:r>
              <a:rPr lang="en-GB" sz="2912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</a:rPr>
              <a:t>Multi-scale reasoning as key to robustness</a:t>
            </a:r>
            <a:endParaRPr lang="en-US" sz="2912" b="1" dirty="0">
              <a:solidFill>
                <a:srgbClr val="000000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marL="628836" lvl="1" indent="-314418">
              <a:lnSpc>
                <a:spcPts val="4077"/>
              </a:lnSpc>
              <a:spcBef>
                <a:spcPct val="0"/>
              </a:spcBef>
              <a:buFont typeface="Arial"/>
              <a:buChar char="•"/>
            </a:pPr>
            <a:r>
              <a:rPr lang="en-GB" sz="2912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</a:rPr>
              <a:t>Strong cross-scanner performance</a:t>
            </a:r>
            <a:r>
              <a:rPr lang="en-US" sz="2912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</a:t>
            </a:r>
          </a:p>
          <a:p>
            <a:pPr marL="1257671" lvl="2" indent="-419224" algn="l">
              <a:lnSpc>
                <a:spcPts val="4077"/>
              </a:lnSpc>
              <a:spcBef>
                <a:spcPct val="0"/>
              </a:spcBef>
              <a:buFont typeface="Arial"/>
              <a:buChar char="⚬"/>
            </a:pPr>
            <a:r>
              <a:rPr lang="en-US" sz="2912" u="none" strike="noStrik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Dual-Resolution Fusion + DeepLabV3 decoder → highest score (0.8217)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78475" cy="366016"/>
            <a:chOff x="0" y="0"/>
            <a:chExt cx="4814084" cy="9639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4084" cy="96399"/>
            </a:xfrm>
            <a:custGeom>
              <a:avLst/>
              <a:gdLst/>
              <a:ahLst/>
              <a:cxnLst/>
              <a:rect l="l" t="t" r="r" b="b"/>
              <a:pathLst>
                <a:path w="4814084" h="96399">
                  <a:moveTo>
                    <a:pt x="0" y="0"/>
                  </a:moveTo>
                  <a:lnTo>
                    <a:pt x="4814084" y="0"/>
                  </a:lnTo>
                  <a:lnTo>
                    <a:pt x="4814084" y="96399"/>
                  </a:lnTo>
                  <a:lnTo>
                    <a:pt x="0" y="96399"/>
                  </a:lnTo>
                  <a:close/>
                </a:path>
              </a:pathLst>
            </a:custGeom>
            <a:solidFill>
              <a:srgbClr val="897993"/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4084" cy="1344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-55288"/>
            <a:ext cx="3923736" cy="421303"/>
            <a:chOff x="0" y="0"/>
            <a:chExt cx="1033412" cy="11096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33412" cy="110961"/>
            </a:xfrm>
            <a:custGeom>
              <a:avLst/>
              <a:gdLst/>
              <a:ahLst/>
              <a:cxnLst/>
              <a:rect l="l" t="t" r="r" b="b"/>
              <a:pathLst>
                <a:path w="1033412" h="110961">
                  <a:moveTo>
                    <a:pt x="0" y="0"/>
                  </a:moveTo>
                  <a:lnTo>
                    <a:pt x="1033412" y="0"/>
                  </a:lnTo>
                  <a:lnTo>
                    <a:pt x="1033412" y="110961"/>
                  </a:lnTo>
                  <a:lnTo>
                    <a:pt x="0" y="110961"/>
                  </a:lnTo>
                  <a:close/>
                </a:path>
              </a:pathLst>
            </a:custGeom>
            <a:solidFill>
              <a:srgbClr val="B00B39">
                <a:alpha val="19608"/>
              </a:srgbClr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033412" cy="1490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5694945" y="-40855"/>
            <a:ext cx="3923736" cy="389959"/>
            <a:chOff x="0" y="0"/>
            <a:chExt cx="1033412" cy="102705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033412" cy="102705"/>
            </a:xfrm>
            <a:custGeom>
              <a:avLst/>
              <a:gdLst/>
              <a:ahLst/>
              <a:cxnLst/>
              <a:rect l="l" t="t" r="r" b="b"/>
              <a:pathLst>
                <a:path w="1033412" h="102705">
                  <a:moveTo>
                    <a:pt x="0" y="0"/>
                  </a:moveTo>
                  <a:lnTo>
                    <a:pt x="1033412" y="0"/>
                  </a:lnTo>
                  <a:lnTo>
                    <a:pt x="1033412" y="102705"/>
                  </a:lnTo>
                  <a:lnTo>
                    <a:pt x="0" y="102705"/>
                  </a:lnTo>
                  <a:close/>
                </a:path>
              </a:pathLst>
            </a:custGeom>
            <a:solidFill>
              <a:srgbClr val="B00B39">
                <a:alpha val="19608"/>
              </a:srgbClr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1033412" cy="1408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1028700" y="952500"/>
            <a:ext cx="14969093" cy="573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19"/>
              </a:lnSpc>
              <a:spcBef>
                <a:spcPct val="0"/>
              </a:spcBef>
            </a:pPr>
            <a:r>
              <a:rPr lang="en-US" sz="3299" b="1" u="sng">
                <a:solidFill>
                  <a:srgbClr val="B00B39"/>
                </a:solidFill>
                <a:latin typeface="Cardo Bold"/>
                <a:ea typeface="Cardo Bold"/>
                <a:cs typeface="Cardo Bold"/>
                <a:sym typeface="Cardo Bold"/>
              </a:rPr>
              <a:t>Limitations of the Study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94222" y="3080691"/>
            <a:ext cx="13906500" cy="41256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61341" lvl="1" indent="-280670">
              <a:lnSpc>
                <a:spcPts val="3640"/>
              </a:lnSpc>
              <a:buFont typeface="Arial"/>
              <a:buChar char="•"/>
            </a:pPr>
            <a:r>
              <a:rPr lang="en-GB" sz="260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</a:rPr>
              <a:t>Limited dataset size</a:t>
            </a:r>
          </a:p>
          <a:p>
            <a:pPr marL="1195071" lvl="2" indent="-457200">
              <a:lnSpc>
                <a:spcPts val="3640"/>
              </a:lnSpc>
              <a:buFont typeface="Courier New" panose="02070309020205020404" pitchFamily="49" charset="0"/>
              <a:buChar char="o"/>
            </a:pPr>
            <a:r>
              <a:rPr lang="en-US" sz="26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180 WSIs → small for DL applications</a:t>
            </a:r>
          </a:p>
          <a:p>
            <a:pPr marL="561341" lvl="1" indent="-280670">
              <a:lnSpc>
                <a:spcPts val="3640"/>
              </a:lnSpc>
              <a:spcBef>
                <a:spcPct val="0"/>
              </a:spcBef>
              <a:buFont typeface="Arial"/>
              <a:buChar char="•"/>
            </a:pPr>
            <a:r>
              <a:rPr lang="en-US" sz="260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Scanner only from one hospital</a:t>
            </a:r>
          </a:p>
          <a:p>
            <a:pPr marL="561341" lvl="1" indent="-280670">
              <a:lnSpc>
                <a:spcPts val="3640"/>
              </a:lnSpc>
              <a:spcBef>
                <a:spcPct val="0"/>
              </a:spcBef>
              <a:buFont typeface="Arial"/>
              <a:buChar char="•"/>
            </a:pPr>
            <a:r>
              <a:rPr lang="en-US" sz="260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Imbalanced tumor coverage</a:t>
            </a:r>
          </a:p>
          <a:p>
            <a:pPr marL="1122681" lvl="2" indent="-374227">
              <a:lnSpc>
                <a:spcPts val="3640"/>
              </a:lnSpc>
              <a:spcBef>
                <a:spcPct val="0"/>
              </a:spcBef>
              <a:buFont typeface="Arial"/>
              <a:buChar char="⚬"/>
            </a:pPr>
            <a:r>
              <a:rPr lang="en-US" sz="26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Some scanners had much smaller tumor regions</a:t>
            </a:r>
            <a:endParaRPr lang="en-US" sz="2600" b="1" dirty="0">
              <a:solidFill>
                <a:srgbClr val="000000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 b="1" u="none" strike="noStrike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High computational cost</a:t>
            </a:r>
          </a:p>
          <a:p>
            <a:pPr marL="1122681" lvl="2" indent="-374227" algn="l">
              <a:lnSpc>
                <a:spcPts val="3640"/>
              </a:lnSpc>
              <a:spcBef>
                <a:spcPct val="0"/>
              </a:spcBef>
              <a:buFont typeface="Arial"/>
              <a:buChar char="⚬"/>
            </a:pPr>
            <a:r>
              <a:rPr lang="en-US" sz="2600" u="none" strike="noStrik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Memory usage: 11-19 GB GPU depending on architecture</a:t>
            </a:r>
            <a:endParaRPr lang="en-US" sz="260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561341" lvl="1" indent="-280670">
              <a:lnSpc>
                <a:spcPts val="3640"/>
              </a:lnSpc>
              <a:buFont typeface="Arial"/>
              <a:buChar char="•"/>
            </a:pPr>
            <a:r>
              <a:rPr lang="en-US" sz="260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Post-processing based on validation set</a:t>
            </a:r>
            <a:endParaRPr lang="en-US" sz="2600" u="none" strike="noStrike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3640"/>
              </a:lnSpc>
              <a:spcBef>
                <a:spcPct val="0"/>
              </a:spcBef>
            </a:pPr>
            <a:endParaRPr lang="en-US" sz="2600" u="none" strike="noStrike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27" name="Group 8">
            <a:extLst>
              <a:ext uri="{FF2B5EF4-FFF2-40B4-BE49-F238E27FC236}">
                <a16:creationId xmlns:a16="http://schemas.microsoft.com/office/drawing/2014/main" id="{EED0FF48-83E1-234D-E248-02E514412BD2}"/>
              </a:ext>
            </a:extLst>
          </p:cNvPr>
          <p:cNvGrpSpPr/>
          <p:nvPr/>
        </p:nvGrpSpPr>
        <p:grpSpPr>
          <a:xfrm>
            <a:off x="3923736" y="-23943"/>
            <a:ext cx="3923736" cy="389959"/>
            <a:chOff x="0" y="0"/>
            <a:chExt cx="1033412" cy="102705"/>
          </a:xfrm>
        </p:grpSpPr>
        <p:sp>
          <p:nvSpPr>
            <p:cNvPr id="28" name="Freeform 9">
              <a:extLst>
                <a:ext uri="{FF2B5EF4-FFF2-40B4-BE49-F238E27FC236}">
                  <a16:creationId xmlns:a16="http://schemas.microsoft.com/office/drawing/2014/main" id="{4BA8D51A-1F97-9989-774D-88DBBB51348C}"/>
                </a:ext>
              </a:extLst>
            </p:cNvPr>
            <p:cNvSpPr/>
            <p:nvPr/>
          </p:nvSpPr>
          <p:spPr>
            <a:xfrm>
              <a:off x="0" y="0"/>
              <a:ext cx="1033412" cy="102705"/>
            </a:xfrm>
            <a:custGeom>
              <a:avLst/>
              <a:gdLst/>
              <a:ahLst/>
              <a:cxnLst/>
              <a:rect l="l" t="t" r="r" b="b"/>
              <a:pathLst>
                <a:path w="1033412" h="102705">
                  <a:moveTo>
                    <a:pt x="0" y="0"/>
                  </a:moveTo>
                  <a:lnTo>
                    <a:pt x="1033412" y="0"/>
                  </a:lnTo>
                  <a:lnTo>
                    <a:pt x="1033412" y="102705"/>
                  </a:lnTo>
                  <a:lnTo>
                    <a:pt x="0" y="102705"/>
                  </a:lnTo>
                  <a:close/>
                </a:path>
              </a:pathLst>
            </a:custGeom>
            <a:solidFill>
              <a:srgbClr val="B00B39">
                <a:alpha val="19608"/>
              </a:srgbClr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29" name="TextBox 10">
              <a:extLst>
                <a:ext uri="{FF2B5EF4-FFF2-40B4-BE49-F238E27FC236}">
                  <a16:creationId xmlns:a16="http://schemas.microsoft.com/office/drawing/2014/main" id="{0AD20E3F-E105-6B46-4BCF-0B9A89D56170}"/>
                </a:ext>
              </a:extLst>
            </p:cNvPr>
            <p:cNvSpPr txBox="1"/>
            <p:nvPr/>
          </p:nvSpPr>
          <p:spPr>
            <a:xfrm>
              <a:off x="0" y="-38100"/>
              <a:ext cx="1033412" cy="1408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0" name="Group 11">
            <a:extLst>
              <a:ext uri="{FF2B5EF4-FFF2-40B4-BE49-F238E27FC236}">
                <a16:creationId xmlns:a16="http://schemas.microsoft.com/office/drawing/2014/main" id="{71185B54-8319-D445-5049-7664EE47C1E6}"/>
              </a:ext>
            </a:extLst>
          </p:cNvPr>
          <p:cNvGrpSpPr/>
          <p:nvPr/>
        </p:nvGrpSpPr>
        <p:grpSpPr>
          <a:xfrm>
            <a:off x="7847472" y="-101928"/>
            <a:ext cx="3923736" cy="467944"/>
            <a:chOff x="0" y="0"/>
            <a:chExt cx="1033412" cy="123245"/>
          </a:xfrm>
        </p:grpSpPr>
        <p:sp>
          <p:nvSpPr>
            <p:cNvPr id="31" name="Freeform 12">
              <a:extLst>
                <a:ext uri="{FF2B5EF4-FFF2-40B4-BE49-F238E27FC236}">
                  <a16:creationId xmlns:a16="http://schemas.microsoft.com/office/drawing/2014/main" id="{0810B112-0F17-F71F-72FB-D05CD7DBB98E}"/>
                </a:ext>
              </a:extLst>
            </p:cNvPr>
            <p:cNvSpPr/>
            <p:nvPr/>
          </p:nvSpPr>
          <p:spPr>
            <a:xfrm>
              <a:off x="0" y="0"/>
              <a:ext cx="1033412" cy="123245"/>
            </a:xfrm>
            <a:custGeom>
              <a:avLst/>
              <a:gdLst/>
              <a:ahLst/>
              <a:cxnLst/>
              <a:rect l="l" t="t" r="r" b="b"/>
              <a:pathLst>
                <a:path w="1033412" h="123245">
                  <a:moveTo>
                    <a:pt x="0" y="0"/>
                  </a:moveTo>
                  <a:lnTo>
                    <a:pt x="1033412" y="0"/>
                  </a:lnTo>
                  <a:lnTo>
                    <a:pt x="1033412" y="123245"/>
                  </a:lnTo>
                  <a:lnTo>
                    <a:pt x="0" y="123245"/>
                  </a:lnTo>
                  <a:close/>
                </a:path>
              </a:pathLst>
            </a:custGeom>
            <a:solidFill>
              <a:srgbClr val="B00B39">
                <a:alpha val="19608"/>
              </a:srgbClr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32" name="TextBox 13">
              <a:extLst>
                <a:ext uri="{FF2B5EF4-FFF2-40B4-BE49-F238E27FC236}">
                  <a16:creationId xmlns:a16="http://schemas.microsoft.com/office/drawing/2014/main" id="{4CBA005B-0AC3-A6FE-BA02-22D6E0CE4D32}"/>
                </a:ext>
              </a:extLst>
            </p:cNvPr>
            <p:cNvSpPr txBox="1"/>
            <p:nvPr/>
          </p:nvSpPr>
          <p:spPr>
            <a:xfrm>
              <a:off x="0" y="-38100"/>
              <a:ext cx="1033412" cy="1613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3" name="Group 14">
            <a:extLst>
              <a:ext uri="{FF2B5EF4-FFF2-40B4-BE49-F238E27FC236}">
                <a16:creationId xmlns:a16="http://schemas.microsoft.com/office/drawing/2014/main" id="{C1EB149B-61C5-40AF-CF31-E1DBC5FCAD6A}"/>
              </a:ext>
            </a:extLst>
          </p:cNvPr>
          <p:cNvGrpSpPr/>
          <p:nvPr/>
        </p:nvGrpSpPr>
        <p:grpSpPr>
          <a:xfrm>
            <a:off x="11771209" y="-23943"/>
            <a:ext cx="3923736" cy="389959"/>
            <a:chOff x="0" y="0"/>
            <a:chExt cx="1033412" cy="102705"/>
          </a:xfrm>
        </p:grpSpPr>
        <p:sp>
          <p:nvSpPr>
            <p:cNvPr id="34" name="Freeform 15">
              <a:extLst>
                <a:ext uri="{FF2B5EF4-FFF2-40B4-BE49-F238E27FC236}">
                  <a16:creationId xmlns:a16="http://schemas.microsoft.com/office/drawing/2014/main" id="{5BBED8F0-AB05-CCE6-579B-0D6571F97C2A}"/>
                </a:ext>
              </a:extLst>
            </p:cNvPr>
            <p:cNvSpPr/>
            <p:nvPr/>
          </p:nvSpPr>
          <p:spPr>
            <a:xfrm>
              <a:off x="0" y="0"/>
              <a:ext cx="1033412" cy="102705"/>
            </a:xfrm>
            <a:custGeom>
              <a:avLst/>
              <a:gdLst/>
              <a:ahLst/>
              <a:cxnLst/>
              <a:rect l="l" t="t" r="r" b="b"/>
              <a:pathLst>
                <a:path w="1033412" h="102705">
                  <a:moveTo>
                    <a:pt x="0" y="0"/>
                  </a:moveTo>
                  <a:lnTo>
                    <a:pt x="1033412" y="0"/>
                  </a:lnTo>
                  <a:lnTo>
                    <a:pt x="1033412" y="102705"/>
                  </a:lnTo>
                  <a:lnTo>
                    <a:pt x="0" y="102705"/>
                  </a:lnTo>
                  <a:close/>
                </a:path>
              </a:pathLst>
            </a:custGeom>
            <a:solidFill>
              <a:srgbClr val="B00B39"/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35" name="TextBox 16">
              <a:extLst>
                <a:ext uri="{FF2B5EF4-FFF2-40B4-BE49-F238E27FC236}">
                  <a16:creationId xmlns:a16="http://schemas.microsoft.com/office/drawing/2014/main" id="{EC441EAA-E56D-AA8F-E976-97C461CD512C}"/>
                </a:ext>
              </a:extLst>
            </p:cNvPr>
            <p:cNvSpPr txBox="1"/>
            <p:nvPr/>
          </p:nvSpPr>
          <p:spPr>
            <a:xfrm>
              <a:off x="0" y="-38100"/>
              <a:ext cx="1033412" cy="1408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6" name="TextBox 20">
            <a:extLst>
              <a:ext uri="{FF2B5EF4-FFF2-40B4-BE49-F238E27FC236}">
                <a16:creationId xmlns:a16="http://schemas.microsoft.com/office/drawing/2014/main" id="{C5D393FF-07CD-7416-5B31-BAA53C123410}"/>
              </a:ext>
            </a:extLst>
          </p:cNvPr>
          <p:cNvSpPr txBox="1"/>
          <p:nvPr/>
        </p:nvSpPr>
        <p:spPr>
          <a:xfrm>
            <a:off x="1146942" y="-12075"/>
            <a:ext cx="1629853" cy="342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2"/>
              </a:lnSpc>
            </a:pPr>
            <a:r>
              <a:rPr lang="en-US" sz="1951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Introduction </a:t>
            </a:r>
          </a:p>
        </p:txBody>
      </p:sp>
      <p:sp>
        <p:nvSpPr>
          <p:cNvPr id="37" name="TextBox 21">
            <a:extLst>
              <a:ext uri="{FF2B5EF4-FFF2-40B4-BE49-F238E27FC236}">
                <a16:creationId xmlns:a16="http://schemas.microsoft.com/office/drawing/2014/main" id="{3FECC0EC-D42B-E74C-88FD-6945162A2001}"/>
              </a:ext>
            </a:extLst>
          </p:cNvPr>
          <p:cNvSpPr txBox="1"/>
          <p:nvPr/>
        </p:nvSpPr>
        <p:spPr>
          <a:xfrm>
            <a:off x="5073240" y="-12075"/>
            <a:ext cx="1701233" cy="3242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32"/>
              </a:lnSpc>
            </a:pPr>
            <a:r>
              <a:rPr lang="en-US" sz="1951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Methodology</a:t>
            </a:r>
          </a:p>
        </p:txBody>
      </p:sp>
      <p:sp>
        <p:nvSpPr>
          <p:cNvPr id="38" name="TextBox 22">
            <a:extLst>
              <a:ext uri="{FF2B5EF4-FFF2-40B4-BE49-F238E27FC236}">
                <a16:creationId xmlns:a16="http://schemas.microsoft.com/office/drawing/2014/main" id="{6AC4F3AD-EA0C-C48A-4264-FC7CE87F7702}"/>
              </a:ext>
            </a:extLst>
          </p:cNvPr>
          <p:cNvSpPr txBox="1"/>
          <p:nvPr/>
        </p:nvSpPr>
        <p:spPr>
          <a:xfrm>
            <a:off x="9358004" y="-24047"/>
            <a:ext cx="1072999" cy="3242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32"/>
              </a:lnSpc>
            </a:pPr>
            <a:r>
              <a:rPr lang="en-US" sz="1951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Results</a:t>
            </a:r>
          </a:p>
        </p:txBody>
      </p:sp>
      <p:sp>
        <p:nvSpPr>
          <p:cNvPr id="39" name="TextBox 23">
            <a:extLst>
              <a:ext uri="{FF2B5EF4-FFF2-40B4-BE49-F238E27FC236}">
                <a16:creationId xmlns:a16="http://schemas.microsoft.com/office/drawing/2014/main" id="{23426FF0-2277-2E30-E522-3FD21C8264E8}"/>
              </a:ext>
            </a:extLst>
          </p:cNvPr>
          <p:cNvSpPr txBox="1"/>
          <p:nvPr/>
        </p:nvSpPr>
        <p:spPr>
          <a:xfrm>
            <a:off x="12604201" y="-12075"/>
            <a:ext cx="2330999" cy="3242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32"/>
              </a:lnSpc>
            </a:pPr>
            <a:r>
              <a:rPr lang="en-US" sz="1951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Critical Discussion</a:t>
            </a:r>
          </a:p>
        </p:txBody>
      </p:sp>
      <p:sp>
        <p:nvSpPr>
          <p:cNvPr id="40" name="TextBox 24">
            <a:extLst>
              <a:ext uri="{FF2B5EF4-FFF2-40B4-BE49-F238E27FC236}">
                <a16:creationId xmlns:a16="http://schemas.microsoft.com/office/drawing/2014/main" id="{58873F7A-642B-28B9-4187-4F3A84B3DFEB}"/>
              </a:ext>
            </a:extLst>
          </p:cNvPr>
          <p:cNvSpPr txBox="1"/>
          <p:nvPr/>
        </p:nvSpPr>
        <p:spPr>
          <a:xfrm>
            <a:off x="16408410" y="-24047"/>
            <a:ext cx="1498589" cy="3242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32"/>
              </a:lnSpc>
            </a:pPr>
            <a:r>
              <a:rPr lang="en-US" sz="1951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Conclusion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78475" cy="366016"/>
            <a:chOff x="0" y="0"/>
            <a:chExt cx="4814084" cy="9639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4084" cy="96399"/>
            </a:xfrm>
            <a:custGeom>
              <a:avLst/>
              <a:gdLst/>
              <a:ahLst/>
              <a:cxnLst/>
              <a:rect l="l" t="t" r="r" b="b"/>
              <a:pathLst>
                <a:path w="4814084" h="96399">
                  <a:moveTo>
                    <a:pt x="0" y="0"/>
                  </a:moveTo>
                  <a:lnTo>
                    <a:pt x="4814084" y="0"/>
                  </a:lnTo>
                  <a:lnTo>
                    <a:pt x="4814084" y="96399"/>
                  </a:lnTo>
                  <a:lnTo>
                    <a:pt x="0" y="96399"/>
                  </a:lnTo>
                  <a:close/>
                </a:path>
              </a:pathLst>
            </a:custGeom>
            <a:solidFill>
              <a:srgbClr val="897993"/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4084" cy="1344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-55288"/>
            <a:ext cx="3923736" cy="421303"/>
            <a:chOff x="0" y="0"/>
            <a:chExt cx="1033412" cy="11096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33412" cy="110961"/>
            </a:xfrm>
            <a:custGeom>
              <a:avLst/>
              <a:gdLst/>
              <a:ahLst/>
              <a:cxnLst/>
              <a:rect l="l" t="t" r="r" b="b"/>
              <a:pathLst>
                <a:path w="1033412" h="110961">
                  <a:moveTo>
                    <a:pt x="0" y="0"/>
                  </a:moveTo>
                  <a:lnTo>
                    <a:pt x="1033412" y="0"/>
                  </a:lnTo>
                  <a:lnTo>
                    <a:pt x="1033412" y="110961"/>
                  </a:lnTo>
                  <a:lnTo>
                    <a:pt x="0" y="110961"/>
                  </a:lnTo>
                  <a:close/>
                </a:path>
              </a:pathLst>
            </a:custGeom>
            <a:solidFill>
              <a:srgbClr val="B00B39">
                <a:alpha val="19608"/>
              </a:srgbClr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033412" cy="1490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5694945" y="-40855"/>
            <a:ext cx="3923736" cy="389959"/>
            <a:chOff x="0" y="0"/>
            <a:chExt cx="1033412" cy="102705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033412" cy="102705"/>
            </a:xfrm>
            <a:custGeom>
              <a:avLst/>
              <a:gdLst/>
              <a:ahLst/>
              <a:cxnLst/>
              <a:rect l="l" t="t" r="r" b="b"/>
              <a:pathLst>
                <a:path w="1033412" h="102705">
                  <a:moveTo>
                    <a:pt x="0" y="0"/>
                  </a:moveTo>
                  <a:lnTo>
                    <a:pt x="1033412" y="0"/>
                  </a:lnTo>
                  <a:lnTo>
                    <a:pt x="1033412" y="102705"/>
                  </a:lnTo>
                  <a:lnTo>
                    <a:pt x="0" y="102705"/>
                  </a:lnTo>
                  <a:close/>
                </a:path>
              </a:pathLst>
            </a:custGeom>
            <a:solidFill>
              <a:srgbClr val="B00B39">
                <a:alpha val="19608"/>
              </a:srgbClr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1033412" cy="1408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0" name="Freeform 20"/>
          <p:cNvSpPr/>
          <p:nvPr/>
        </p:nvSpPr>
        <p:spPr>
          <a:xfrm>
            <a:off x="11856394" y="662734"/>
            <a:ext cx="3941386" cy="1985473"/>
          </a:xfrm>
          <a:custGeom>
            <a:avLst/>
            <a:gdLst/>
            <a:ahLst/>
            <a:cxnLst/>
            <a:rect l="l" t="t" r="r" b="b"/>
            <a:pathLst>
              <a:path w="3941386" h="1985473">
                <a:moveTo>
                  <a:pt x="0" y="0"/>
                </a:moveTo>
                <a:lnTo>
                  <a:pt x="3941386" y="0"/>
                </a:lnTo>
                <a:lnTo>
                  <a:pt x="3941386" y="1985473"/>
                </a:lnTo>
                <a:lnTo>
                  <a:pt x="0" y="19854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GR"/>
          </a:p>
        </p:txBody>
      </p:sp>
      <p:sp>
        <p:nvSpPr>
          <p:cNvPr id="21" name="Freeform 21"/>
          <p:cNvSpPr/>
          <p:nvPr/>
        </p:nvSpPr>
        <p:spPr>
          <a:xfrm>
            <a:off x="11856394" y="3254148"/>
            <a:ext cx="3837693" cy="1972445"/>
          </a:xfrm>
          <a:custGeom>
            <a:avLst/>
            <a:gdLst/>
            <a:ahLst/>
            <a:cxnLst/>
            <a:rect l="l" t="t" r="r" b="b"/>
            <a:pathLst>
              <a:path w="3837693" h="1972445">
                <a:moveTo>
                  <a:pt x="0" y="0"/>
                </a:moveTo>
                <a:lnTo>
                  <a:pt x="3837692" y="0"/>
                </a:lnTo>
                <a:lnTo>
                  <a:pt x="3837692" y="1972445"/>
                </a:lnTo>
                <a:lnTo>
                  <a:pt x="0" y="197244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503" t="-11296" r="-115374" b="-3125"/>
            </a:stretch>
          </a:blipFill>
        </p:spPr>
        <p:txBody>
          <a:bodyPr/>
          <a:lstStyle/>
          <a:p>
            <a:endParaRPr lang="en-GR"/>
          </a:p>
        </p:txBody>
      </p:sp>
      <p:sp>
        <p:nvSpPr>
          <p:cNvPr id="22" name="Freeform 22"/>
          <p:cNvSpPr/>
          <p:nvPr/>
        </p:nvSpPr>
        <p:spPr>
          <a:xfrm>
            <a:off x="11681143" y="5636261"/>
            <a:ext cx="4103868" cy="1719304"/>
          </a:xfrm>
          <a:custGeom>
            <a:avLst/>
            <a:gdLst/>
            <a:ahLst/>
            <a:cxnLst/>
            <a:rect l="l" t="t" r="r" b="b"/>
            <a:pathLst>
              <a:path w="4103868" h="1719304">
                <a:moveTo>
                  <a:pt x="0" y="0"/>
                </a:moveTo>
                <a:lnTo>
                  <a:pt x="4103868" y="0"/>
                </a:lnTo>
                <a:lnTo>
                  <a:pt x="4103868" y="1719304"/>
                </a:lnTo>
                <a:lnTo>
                  <a:pt x="0" y="171930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14646" r="-102601" b="-14111"/>
            </a:stretch>
          </a:blipFill>
        </p:spPr>
        <p:txBody>
          <a:bodyPr/>
          <a:lstStyle/>
          <a:p>
            <a:endParaRPr lang="en-GR"/>
          </a:p>
        </p:txBody>
      </p:sp>
      <p:sp>
        <p:nvSpPr>
          <p:cNvPr id="23" name="Freeform 23"/>
          <p:cNvSpPr/>
          <p:nvPr/>
        </p:nvSpPr>
        <p:spPr>
          <a:xfrm>
            <a:off x="11915208" y="7792969"/>
            <a:ext cx="3779737" cy="1882457"/>
          </a:xfrm>
          <a:custGeom>
            <a:avLst/>
            <a:gdLst/>
            <a:ahLst/>
            <a:cxnLst/>
            <a:rect l="l" t="t" r="r" b="b"/>
            <a:pathLst>
              <a:path w="3779737" h="1882457">
                <a:moveTo>
                  <a:pt x="0" y="0"/>
                </a:moveTo>
                <a:lnTo>
                  <a:pt x="3779737" y="0"/>
                </a:lnTo>
                <a:lnTo>
                  <a:pt x="3779737" y="1882457"/>
                </a:lnTo>
                <a:lnTo>
                  <a:pt x="0" y="188245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181" t="-5494" r="-104532" b="-5013"/>
            </a:stretch>
          </a:blipFill>
        </p:spPr>
        <p:txBody>
          <a:bodyPr/>
          <a:lstStyle/>
          <a:p>
            <a:endParaRPr lang="en-GR"/>
          </a:p>
        </p:txBody>
      </p:sp>
      <p:sp>
        <p:nvSpPr>
          <p:cNvPr id="24" name="TextBox 24"/>
          <p:cNvSpPr txBox="1"/>
          <p:nvPr/>
        </p:nvSpPr>
        <p:spPr>
          <a:xfrm>
            <a:off x="689955" y="2933322"/>
            <a:ext cx="8922311" cy="55106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41" lvl="1" indent="-280670" algn="l">
              <a:lnSpc>
                <a:spcPts val="3640"/>
              </a:lnSpc>
              <a:spcBef>
                <a:spcPct val="0"/>
              </a:spcBef>
              <a:buFont typeface="Arial"/>
              <a:buChar char="•"/>
            </a:pPr>
            <a:r>
              <a:rPr lang="en-US" sz="2600" b="1" u="none" strike="noStrike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Tumor coverage variation</a:t>
            </a:r>
          </a:p>
          <a:p>
            <a:pPr marL="1122681" lvl="2" indent="-374227" algn="l">
              <a:lnSpc>
                <a:spcPts val="3640"/>
              </a:lnSpc>
              <a:spcBef>
                <a:spcPct val="0"/>
              </a:spcBef>
              <a:buFont typeface="Arial"/>
              <a:buChar char="⚬"/>
            </a:pPr>
            <a:r>
              <a:rPr lang="en-US" sz="2600" u="none" strike="noStrik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Larger tumors in 3D-Histech / 3D-250</a:t>
            </a:r>
          </a:p>
          <a:p>
            <a:pPr marL="1122681" lvl="2" indent="-374227" algn="l">
              <a:lnSpc>
                <a:spcPts val="3640"/>
              </a:lnSpc>
              <a:spcBef>
                <a:spcPct val="0"/>
              </a:spcBef>
              <a:buFont typeface="Arial"/>
              <a:buChar char="⚬"/>
            </a:pPr>
            <a:r>
              <a:rPr lang="en-US" sz="2600" u="none" strike="noStrik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Smaller in Leica, </a:t>
            </a:r>
            <a:r>
              <a:rPr lang="en-US" sz="2600" u="none" strike="noStrik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Motic</a:t>
            </a:r>
            <a:r>
              <a:rPr lang="en-US" sz="2600" u="none" strike="noStrik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2600" u="none" strike="noStrik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Teksqray</a:t>
            </a:r>
            <a:endParaRPr lang="en-US" sz="2600" u="none" strike="noStrike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561341" lvl="1" indent="-280670" algn="l">
              <a:lnSpc>
                <a:spcPts val="3640"/>
              </a:lnSpc>
              <a:spcBef>
                <a:spcPct val="0"/>
              </a:spcBef>
              <a:buFont typeface="Arial"/>
              <a:buChar char="•"/>
            </a:pPr>
            <a:r>
              <a:rPr lang="en-US" sz="2600" b="1" u="none" strike="noStrike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Stain &amp; intensity variation</a:t>
            </a:r>
          </a:p>
          <a:p>
            <a:pPr marL="1122681" lvl="2" indent="-374227" algn="l">
              <a:lnSpc>
                <a:spcPts val="3640"/>
              </a:lnSpc>
              <a:spcBef>
                <a:spcPct val="0"/>
              </a:spcBef>
              <a:buFont typeface="Arial"/>
              <a:buChar char="⚬"/>
            </a:pPr>
            <a:r>
              <a:rPr lang="en-US" sz="2600" u="none" strike="noStrik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Bright scanners calibrate better</a:t>
            </a:r>
          </a:p>
          <a:p>
            <a:pPr marL="1122681" lvl="2" indent="-374227" algn="l">
              <a:lnSpc>
                <a:spcPts val="3640"/>
              </a:lnSpc>
              <a:spcBef>
                <a:spcPct val="0"/>
              </a:spcBef>
              <a:buFont typeface="Arial"/>
              <a:buChar char="⚬"/>
            </a:pPr>
            <a:r>
              <a:rPr lang="en-US" sz="2600" u="none" strike="noStrik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Dim/pale scanners → more smoothing errors</a:t>
            </a:r>
          </a:p>
          <a:p>
            <a:pPr marL="561341" lvl="1" indent="-280670" algn="l">
              <a:lnSpc>
                <a:spcPts val="3640"/>
              </a:lnSpc>
              <a:spcBef>
                <a:spcPct val="0"/>
              </a:spcBef>
              <a:buFont typeface="Arial"/>
              <a:buChar char="•"/>
            </a:pPr>
            <a:r>
              <a:rPr lang="en-US" sz="2600" b="1" u="none" strike="noStrike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Global augmentations</a:t>
            </a:r>
          </a:p>
          <a:p>
            <a:pPr marL="1122681" lvl="2" indent="-374227" algn="l">
              <a:lnSpc>
                <a:spcPts val="3640"/>
              </a:lnSpc>
              <a:spcBef>
                <a:spcPct val="0"/>
              </a:spcBef>
              <a:buFont typeface="Arial"/>
              <a:buChar char="⚬"/>
            </a:pPr>
            <a:r>
              <a:rPr lang="en-US" sz="2600" u="none" strike="noStrik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Same augmentations applied to all scanners → not domain-specific</a:t>
            </a:r>
          </a:p>
          <a:p>
            <a:pPr marL="561341" lvl="1" indent="-280670" algn="l">
              <a:lnSpc>
                <a:spcPts val="3640"/>
              </a:lnSpc>
              <a:spcBef>
                <a:spcPct val="0"/>
              </a:spcBef>
              <a:buFont typeface="Arial"/>
              <a:buChar char="•"/>
            </a:pPr>
            <a:r>
              <a:rPr lang="en-US" sz="2600" b="1" u="none" strike="noStrike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Validation-tuned post-processing</a:t>
            </a:r>
          </a:p>
          <a:p>
            <a:pPr marL="1122681" lvl="2" indent="-374227" algn="l">
              <a:lnSpc>
                <a:spcPts val="3640"/>
              </a:lnSpc>
              <a:spcBef>
                <a:spcPct val="0"/>
              </a:spcBef>
              <a:buFont typeface="Arial"/>
              <a:buChar char="⚬"/>
            </a:pPr>
            <a:r>
              <a:rPr lang="en-US" sz="2600" u="none" strike="noStrik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Calibration favors dominant scanners</a:t>
            </a:r>
          </a:p>
          <a:p>
            <a:pPr algn="l">
              <a:lnSpc>
                <a:spcPts val="3640"/>
              </a:lnSpc>
              <a:spcBef>
                <a:spcPct val="0"/>
              </a:spcBef>
            </a:pPr>
            <a:endParaRPr lang="en-US" sz="2600" u="none" strike="noStrike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028700" y="952500"/>
            <a:ext cx="14969093" cy="573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19"/>
              </a:lnSpc>
              <a:spcBef>
                <a:spcPct val="0"/>
              </a:spcBef>
            </a:pPr>
            <a:r>
              <a:rPr lang="en-US" sz="3299" b="1" u="sng">
                <a:solidFill>
                  <a:srgbClr val="B00B39"/>
                </a:solidFill>
                <a:latin typeface="Cardo Bold"/>
                <a:ea typeface="Cardo Bold"/>
                <a:cs typeface="Cardo Bold"/>
                <a:sym typeface="Cardo Bold"/>
              </a:rPr>
              <a:t>Sources of Bias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991018" y="2610107"/>
            <a:ext cx="5672136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Sample image and ground truth from 3d-250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394873" y="5197568"/>
            <a:ext cx="6864427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Sample image and ground truth from leica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0343027" y="7326990"/>
            <a:ext cx="6864427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Sample image and ground truth from motic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394873" y="9646851"/>
            <a:ext cx="6864427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Sample image and ground truth from </a:t>
            </a:r>
            <a:r>
              <a:rPr lang="en-US" sz="1899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teksqray</a:t>
            </a:r>
            <a:endParaRPr lang="en-US" sz="1899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35" name="Group 8">
            <a:extLst>
              <a:ext uri="{FF2B5EF4-FFF2-40B4-BE49-F238E27FC236}">
                <a16:creationId xmlns:a16="http://schemas.microsoft.com/office/drawing/2014/main" id="{EC63AAF9-91F4-9936-B5BD-CF7166E9A03D}"/>
              </a:ext>
            </a:extLst>
          </p:cNvPr>
          <p:cNvGrpSpPr/>
          <p:nvPr/>
        </p:nvGrpSpPr>
        <p:grpSpPr>
          <a:xfrm>
            <a:off x="3923736" y="-23943"/>
            <a:ext cx="3923736" cy="389959"/>
            <a:chOff x="0" y="0"/>
            <a:chExt cx="1033412" cy="102705"/>
          </a:xfrm>
        </p:grpSpPr>
        <p:sp>
          <p:nvSpPr>
            <p:cNvPr id="36" name="Freeform 9">
              <a:extLst>
                <a:ext uri="{FF2B5EF4-FFF2-40B4-BE49-F238E27FC236}">
                  <a16:creationId xmlns:a16="http://schemas.microsoft.com/office/drawing/2014/main" id="{DB17DD1A-DDA4-4030-7605-27B46E25F29F}"/>
                </a:ext>
              </a:extLst>
            </p:cNvPr>
            <p:cNvSpPr/>
            <p:nvPr/>
          </p:nvSpPr>
          <p:spPr>
            <a:xfrm>
              <a:off x="0" y="0"/>
              <a:ext cx="1033412" cy="102705"/>
            </a:xfrm>
            <a:custGeom>
              <a:avLst/>
              <a:gdLst/>
              <a:ahLst/>
              <a:cxnLst/>
              <a:rect l="l" t="t" r="r" b="b"/>
              <a:pathLst>
                <a:path w="1033412" h="102705">
                  <a:moveTo>
                    <a:pt x="0" y="0"/>
                  </a:moveTo>
                  <a:lnTo>
                    <a:pt x="1033412" y="0"/>
                  </a:lnTo>
                  <a:lnTo>
                    <a:pt x="1033412" y="102705"/>
                  </a:lnTo>
                  <a:lnTo>
                    <a:pt x="0" y="102705"/>
                  </a:lnTo>
                  <a:close/>
                </a:path>
              </a:pathLst>
            </a:custGeom>
            <a:solidFill>
              <a:srgbClr val="B00B39">
                <a:alpha val="19608"/>
              </a:srgbClr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37" name="TextBox 10">
              <a:extLst>
                <a:ext uri="{FF2B5EF4-FFF2-40B4-BE49-F238E27FC236}">
                  <a16:creationId xmlns:a16="http://schemas.microsoft.com/office/drawing/2014/main" id="{B6DDB99D-D485-EFF5-9B51-21C0C5805A32}"/>
                </a:ext>
              </a:extLst>
            </p:cNvPr>
            <p:cNvSpPr txBox="1"/>
            <p:nvPr/>
          </p:nvSpPr>
          <p:spPr>
            <a:xfrm>
              <a:off x="0" y="-38100"/>
              <a:ext cx="1033412" cy="1408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8" name="Group 11">
            <a:extLst>
              <a:ext uri="{FF2B5EF4-FFF2-40B4-BE49-F238E27FC236}">
                <a16:creationId xmlns:a16="http://schemas.microsoft.com/office/drawing/2014/main" id="{95FF4386-C737-A668-7A27-65015BBA9409}"/>
              </a:ext>
            </a:extLst>
          </p:cNvPr>
          <p:cNvGrpSpPr/>
          <p:nvPr/>
        </p:nvGrpSpPr>
        <p:grpSpPr>
          <a:xfrm>
            <a:off x="7847472" y="-101928"/>
            <a:ext cx="3923736" cy="467944"/>
            <a:chOff x="0" y="0"/>
            <a:chExt cx="1033412" cy="123245"/>
          </a:xfrm>
        </p:grpSpPr>
        <p:sp>
          <p:nvSpPr>
            <p:cNvPr id="39" name="Freeform 12">
              <a:extLst>
                <a:ext uri="{FF2B5EF4-FFF2-40B4-BE49-F238E27FC236}">
                  <a16:creationId xmlns:a16="http://schemas.microsoft.com/office/drawing/2014/main" id="{148817AB-69C5-F82A-E671-C124EE25A080}"/>
                </a:ext>
              </a:extLst>
            </p:cNvPr>
            <p:cNvSpPr/>
            <p:nvPr/>
          </p:nvSpPr>
          <p:spPr>
            <a:xfrm>
              <a:off x="0" y="0"/>
              <a:ext cx="1033412" cy="123245"/>
            </a:xfrm>
            <a:custGeom>
              <a:avLst/>
              <a:gdLst/>
              <a:ahLst/>
              <a:cxnLst/>
              <a:rect l="l" t="t" r="r" b="b"/>
              <a:pathLst>
                <a:path w="1033412" h="123245">
                  <a:moveTo>
                    <a:pt x="0" y="0"/>
                  </a:moveTo>
                  <a:lnTo>
                    <a:pt x="1033412" y="0"/>
                  </a:lnTo>
                  <a:lnTo>
                    <a:pt x="1033412" y="123245"/>
                  </a:lnTo>
                  <a:lnTo>
                    <a:pt x="0" y="123245"/>
                  </a:lnTo>
                  <a:close/>
                </a:path>
              </a:pathLst>
            </a:custGeom>
            <a:solidFill>
              <a:srgbClr val="B00B39">
                <a:alpha val="19608"/>
              </a:srgbClr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40" name="TextBox 13">
              <a:extLst>
                <a:ext uri="{FF2B5EF4-FFF2-40B4-BE49-F238E27FC236}">
                  <a16:creationId xmlns:a16="http://schemas.microsoft.com/office/drawing/2014/main" id="{690C4B8D-0688-B8C3-890B-F8B3051586DC}"/>
                </a:ext>
              </a:extLst>
            </p:cNvPr>
            <p:cNvSpPr txBox="1"/>
            <p:nvPr/>
          </p:nvSpPr>
          <p:spPr>
            <a:xfrm>
              <a:off x="0" y="-38100"/>
              <a:ext cx="1033412" cy="1613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41" name="Group 14">
            <a:extLst>
              <a:ext uri="{FF2B5EF4-FFF2-40B4-BE49-F238E27FC236}">
                <a16:creationId xmlns:a16="http://schemas.microsoft.com/office/drawing/2014/main" id="{2030DFA4-A4F7-3BA0-423C-34DEE0C1D18C}"/>
              </a:ext>
            </a:extLst>
          </p:cNvPr>
          <p:cNvGrpSpPr/>
          <p:nvPr/>
        </p:nvGrpSpPr>
        <p:grpSpPr>
          <a:xfrm>
            <a:off x="11771209" y="-23943"/>
            <a:ext cx="3923736" cy="389959"/>
            <a:chOff x="0" y="0"/>
            <a:chExt cx="1033412" cy="102705"/>
          </a:xfrm>
        </p:grpSpPr>
        <p:sp>
          <p:nvSpPr>
            <p:cNvPr id="42" name="Freeform 15">
              <a:extLst>
                <a:ext uri="{FF2B5EF4-FFF2-40B4-BE49-F238E27FC236}">
                  <a16:creationId xmlns:a16="http://schemas.microsoft.com/office/drawing/2014/main" id="{DBDC321B-5EAE-B37E-20DC-290459713551}"/>
                </a:ext>
              </a:extLst>
            </p:cNvPr>
            <p:cNvSpPr/>
            <p:nvPr/>
          </p:nvSpPr>
          <p:spPr>
            <a:xfrm>
              <a:off x="0" y="0"/>
              <a:ext cx="1033412" cy="102705"/>
            </a:xfrm>
            <a:custGeom>
              <a:avLst/>
              <a:gdLst/>
              <a:ahLst/>
              <a:cxnLst/>
              <a:rect l="l" t="t" r="r" b="b"/>
              <a:pathLst>
                <a:path w="1033412" h="102705">
                  <a:moveTo>
                    <a:pt x="0" y="0"/>
                  </a:moveTo>
                  <a:lnTo>
                    <a:pt x="1033412" y="0"/>
                  </a:lnTo>
                  <a:lnTo>
                    <a:pt x="1033412" y="102705"/>
                  </a:lnTo>
                  <a:lnTo>
                    <a:pt x="0" y="102705"/>
                  </a:lnTo>
                  <a:close/>
                </a:path>
              </a:pathLst>
            </a:custGeom>
            <a:solidFill>
              <a:srgbClr val="B00B39"/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43" name="TextBox 16">
              <a:extLst>
                <a:ext uri="{FF2B5EF4-FFF2-40B4-BE49-F238E27FC236}">
                  <a16:creationId xmlns:a16="http://schemas.microsoft.com/office/drawing/2014/main" id="{F7C78324-4BFC-7501-C240-85514888F1DC}"/>
                </a:ext>
              </a:extLst>
            </p:cNvPr>
            <p:cNvSpPr txBox="1"/>
            <p:nvPr/>
          </p:nvSpPr>
          <p:spPr>
            <a:xfrm>
              <a:off x="0" y="-38100"/>
              <a:ext cx="1033412" cy="1408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44" name="TextBox 20">
            <a:extLst>
              <a:ext uri="{FF2B5EF4-FFF2-40B4-BE49-F238E27FC236}">
                <a16:creationId xmlns:a16="http://schemas.microsoft.com/office/drawing/2014/main" id="{3FC0C1C4-9FD2-38D7-E837-253907982C61}"/>
              </a:ext>
            </a:extLst>
          </p:cNvPr>
          <p:cNvSpPr txBox="1"/>
          <p:nvPr/>
        </p:nvSpPr>
        <p:spPr>
          <a:xfrm>
            <a:off x="1146942" y="-12075"/>
            <a:ext cx="1629853" cy="342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2"/>
              </a:lnSpc>
            </a:pPr>
            <a:r>
              <a:rPr lang="en-US" sz="1951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Introduction </a:t>
            </a:r>
          </a:p>
        </p:txBody>
      </p:sp>
      <p:sp>
        <p:nvSpPr>
          <p:cNvPr id="45" name="TextBox 21">
            <a:extLst>
              <a:ext uri="{FF2B5EF4-FFF2-40B4-BE49-F238E27FC236}">
                <a16:creationId xmlns:a16="http://schemas.microsoft.com/office/drawing/2014/main" id="{A9BA1A10-753A-9780-B349-697C7D6D436E}"/>
              </a:ext>
            </a:extLst>
          </p:cNvPr>
          <p:cNvSpPr txBox="1"/>
          <p:nvPr/>
        </p:nvSpPr>
        <p:spPr>
          <a:xfrm>
            <a:off x="5073240" y="-12075"/>
            <a:ext cx="1701233" cy="3242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32"/>
              </a:lnSpc>
            </a:pPr>
            <a:r>
              <a:rPr lang="en-US" sz="1951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Methodology</a:t>
            </a:r>
          </a:p>
        </p:txBody>
      </p:sp>
      <p:sp>
        <p:nvSpPr>
          <p:cNvPr id="46" name="TextBox 22">
            <a:extLst>
              <a:ext uri="{FF2B5EF4-FFF2-40B4-BE49-F238E27FC236}">
                <a16:creationId xmlns:a16="http://schemas.microsoft.com/office/drawing/2014/main" id="{AA562C61-A353-1D06-E508-144B3B7F228E}"/>
              </a:ext>
            </a:extLst>
          </p:cNvPr>
          <p:cNvSpPr txBox="1"/>
          <p:nvPr/>
        </p:nvSpPr>
        <p:spPr>
          <a:xfrm>
            <a:off x="9358004" y="-24047"/>
            <a:ext cx="1072999" cy="3242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32"/>
              </a:lnSpc>
            </a:pPr>
            <a:r>
              <a:rPr lang="en-US" sz="1951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Results</a:t>
            </a:r>
          </a:p>
        </p:txBody>
      </p:sp>
      <p:sp>
        <p:nvSpPr>
          <p:cNvPr id="47" name="TextBox 23">
            <a:extLst>
              <a:ext uri="{FF2B5EF4-FFF2-40B4-BE49-F238E27FC236}">
                <a16:creationId xmlns:a16="http://schemas.microsoft.com/office/drawing/2014/main" id="{7E3CEA49-2ADD-D879-2A58-0CC0D26AEEB4}"/>
              </a:ext>
            </a:extLst>
          </p:cNvPr>
          <p:cNvSpPr txBox="1"/>
          <p:nvPr/>
        </p:nvSpPr>
        <p:spPr>
          <a:xfrm>
            <a:off x="12604201" y="-12075"/>
            <a:ext cx="2330999" cy="3242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32"/>
              </a:lnSpc>
            </a:pPr>
            <a:r>
              <a:rPr lang="en-US" sz="1951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Critical Discussion</a:t>
            </a:r>
          </a:p>
        </p:txBody>
      </p:sp>
      <p:sp>
        <p:nvSpPr>
          <p:cNvPr id="48" name="TextBox 24">
            <a:extLst>
              <a:ext uri="{FF2B5EF4-FFF2-40B4-BE49-F238E27FC236}">
                <a16:creationId xmlns:a16="http://schemas.microsoft.com/office/drawing/2014/main" id="{0111E279-C4A3-4505-5B29-4F3D633C2635}"/>
              </a:ext>
            </a:extLst>
          </p:cNvPr>
          <p:cNvSpPr txBox="1"/>
          <p:nvPr/>
        </p:nvSpPr>
        <p:spPr>
          <a:xfrm>
            <a:off x="16408410" y="-24047"/>
            <a:ext cx="1498589" cy="3242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32"/>
              </a:lnSpc>
            </a:pPr>
            <a:r>
              <a:rPr lang="en-US" sz="1951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Conclusion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78475" cy="366016"/>
            <a:chOff x="0" y="0"/>
            <a:chExt cx="4814084" cy="9639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4084" cy="96399"/>
            </a:xfrm>
            <a:custGeom>
              <a:avLst/>
              <a:gdLst/>
              <a:ahLst/>
              <a:cxnLst/>
              <a:rect l="l" t="t" r="r" b="b"/>
              <a:pathLst>
                <a:path w="4814084" h="96399">
                  <a:moveTo>
                    <a:pt x="0" y="0"/>
                  </a:moveTo>
                  <a:lnTo>
                    <a:pt x="4814084" y="0"/>
                  </a:lnTo>
                  <a:lnTo>
                    <a:pt x="4814084" y="96399"/>
                  </a:lnTo>
                  <a:lnTo>
                    <a:pt x="0" y="96399"/>
                  </a:lnTo>
                  <a:close/>
                </a:path>
              </a:pathLst>
            </a:custGeom>
            <a:solidFill>
              <a:srgbClr val="897993"/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4084" cy="1344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5694945" y="-40855"/>
            <a:ext cx="3923736" cy="389959"/>
            <a:chOff x="0" y="0"/>
            <a:chExt cx="1033412" cy="102705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033412" cy="102705"/>
            </a:xfrm>
            <a:custGeom>
              <a:avLst/>
              <a:gdLst/>
              <a:ahLst/>
              <a:cxnLst/>
              <a:rect l="l" t="t" r="r" b="b"/>
              <a:pathLst>
                <a:path w="1033412" h="102705">
                  <a:moveTo>
                    <a:pt x="0" y="0"/>
                  </a:moveTo>
                  <a:lnTo>
                    <a:pt x="1033412" y="0"/>
                  </a:lnTo>
                  <a:lnTo>
                    <a:pt x="1033412" y="102705"/>
                  </a:lnTo>
                  <a:lnTo>
                    <a:pt x="0" y="102705"/>
                  </a:lnTo>
                  <a:close/>
                </a:path>
              </a:pathLst>
            </a:custGeom>
            <a:solidFill>
              <a:srgbClr val="B00B39">
                <a:alpha val="19608"/>
              </a:srgbClr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1033412" cy="1408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0" name="Freeform 20"/>
          <p:cNvSpPr/>
          <p:nvPr/>
        </p:nvSpPr>
        <p:spPr>
          <a:xfrm>
            <a:off x="9139237" y="412068"/>
            <a:ext cx="8751818" cy="2330172"/>
          </a:xfrm>
          <a:custGeom>
            <a:avLst/>
            <a:gdLst/>
            <a:ahLst/>
            <a:cxnLst/>
            <a:rect l="l" t="t" r="r" b="b"/>
            <a:pathLst>
              <a:path w="8751818" h="2330172">
                <a:moveTo>
                  <a:pt x="0" y="0"/>
                </a:moveTo>
                <a:lnTo>
                  <a:pt x="8751819" y="0"/>
                </a:lnTo>
                <a:lnTo>
                  <a:pt x="8751819" y="2330171"/>
                </a:lnTo>
                <a:lnTo>
                  <a:pt x="0" y="23301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GR"/>
          </a:p>
        </p:txBody>
      </p:sp>
      <p:sp>
        <p:nvSpPr>
          <p:cNvPr id="21" name="Freeform 21"/>
          <p:cNvSpPr/>
          <p:nvPr/>
        </p:nvSpPr>
        <p:spPr>
          <a:xfrm>
            <a:off x="9139237" y="2865551"/>
            <a:ext cx="8555675" cy="2277949"/>
          </a:xfrm>
          <a:custGeom>
            <a:avLst/>
            <a:gdLst/>
            <a:ahLst/>
            <a:cxnLst/>
            <a:rect l="l" t="t" r="r" b="b"/>
            <a:pathLst>
              <a:path w="8555675" h="2277949">
                <a:moveTo>
                  <a:pt x="0" y="0"/>
                </a:moveTo>
                <a:lnTo>
                  <a:pt x="8555676" y="0"/>
                </a:lnTo>
                <a:lnTo>
                  <a:pt x="8555676" y="2277949"/>
                </a:lnTo>
                <a:lnTo>
                  <a:pt x="0" y="227794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GR"/>
          </a:p>
        </p:txBody>
      </p:sp>
      <p:grpSp>
        <p:nvGrpSpPr>
          <p:cNvPr id="22" name="Group 22"/>
          <p:cNvGrpSpPr/>
          <p:nvPr/>
        </p:nvGrpSpPr>
        <p:grpSpPr>
          <a:xfrm>
            <a:off x="9182100" y="5293065"/>
            <a:ext cx="8555675" cy="2456815"/>
            <a:chOff x="0" y="0"/>
            <a:chExt cx="11407567" cy="3275753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1407567" cy="3037265"/>
            </a:xfrm>
            <a:custGeom>
              <a:avLst/>
              <a:gdLst/>
              <a:ahLst/>
              <a:cxnLst/>
              <a:rect l="l" t="t" r="r" b="b"/>
              <a:pathLst>
                <a:path w="11407567" h="3037265">
                  <a:moveTo>
                    <a:pt x="0" y="0"/>
                  </a:moveTo>
                  <a:lnTo>
                    <a:pt x="11407567" y="0"/>
                  </a:lnTo>
                  <a:lnTo>
                    <a:pt x="11407567" y="3037265"/>
                  </a:lnTo>
                  <a:lnTo>
                    <a:pt x="0" y="30372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GR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8664" y="2857500"/>
              <a:ext cx="4721721" cy="4182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Example prediction from motic</a:t>
              </a:r>
            </a:p>
          </p:txBody>
        </p:sp>
      </p:grpSp>
      <p:sp>
        <p:nvSpPr>
          <p:cNvPr id="25" name="Freeform 25"/>
          <p:cNvSpPr/>
          <p:nvPr/>
        </p:nvSpPr>
        <p:spPr>
          <a:xfrm>
            <a:off x="9144000" y="7721623"/>
            <a:ext cx="8662821" cy="2306476"/>
          </a:xfrm>
          <a:custGeom>
            <a:avLst/>
            <a:gdLst/>
            <a:ahLst/>
            <a:cxnLst/>
            <a:rect l="l" t="t" r="r" b="b"/>
            <a:pathLst>
              <a:path w="8662821" h="2306476">
                <a:moveTo>
                  <a:pt x="0" y="0"/>
                </a:moveTo>
                <a:lnTo>
                  <a:pt x="8662821" y="0"/>
                </a:lnTo>
                <a:lnTo>
                  <a:pt x="8662821" y="2306476"/>
                </a:lnTo>
                <a:lnTo>
                  <a:pt x="0" y="230647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GR"/>
          </a:p>
        </p:txBody>
      </p:sp>
      <p:sp>
        <p:nvSpPr>
          <p:cNvPr id="31" name="TextBox 31"/>
          <p:cNvSpPr txBox="1"/>
          <p:nvPr/>
        </p:nvSpPr>
        <p:spPr>
          <a:xfrm>
            <a:off x="1028700" y="952500"/>
            <a:ext cx="14969093" cy="573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19"/>
              </a:lnSpc>
              <a:spcBef>
                <a:spcPct val="0"/>
              </a:spcBef>
            </a:pPr>
            <a:r>
              <a:rPr lang="en-US" sz="3299" b="1" u="sng">
                <a:solidFill>
                  <a:srgbClr val="B00B39"/>
                </a:solidFill>
                <a:latin typeface="Cardo Bold"/>
                <a:ea typeface="Cardo Bold"/>
                <a:cs typeface="Cardo Bold"/>
                <a:sym typeface="Cardo Bold"/>
              </a:rPr>
              <a:t>Cross-Scanner Performance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28700" y="2897210"/>
            <a:ext cx="7544669" cy="5020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 b="1" u="none" strike="noStrike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Best performance:</a:t>
            </a:r>
          </a:p>
          <a:p>
            <a:pPr marL="1122681" lvl="2" indent="-374227" algn="l">
              <a:lnSpc>
                <a:spcPts val="3640"/>
              </a:lnSpc>
              <a:spcBef>
                <a:spcPct val="0"/>
              </a:spcBef>
              <a:buFont typeface="Arial"/>
              <a:buChar char="⚬"/>
            </a:pPr>
            <a:r>
              <a:rPr lang="en-US" sz="2600" b="1" u="none" strike="noStrike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sz="2600" u="none" strike="noStrik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3d-250 &amp; 3d-1000 (bright, warm staining)</a:t>
            </a:r>
          </a:p>
          <a:p>
            <a:pPr marL="561341" lvl="1" indent="-280670" algn="l">
              <a:lnSpc>
                <a:spcPts val="3640"/>
              </a:lnSpc>
              <a:spcBef>
                <a:spcPct val="0"/>
              </a:spcBef>
              <a:buFont typeface="Arial"/>
              <a:buChar char="•"/>
            </a:pPr>
            <a:r>
              <a:rPr lang="en-US" sz="2600" b="1" u="none" strike="noStrike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Middle performance:</a:t>
            </a:r>
          </a:p>
          <a:p>
            <a:pPr marL="1122681" lvl="2" indent="-374227" algn="l">
              <a:lnSpc>
                <a:spcPts val="3640"/>
              </a:lnSpc>
              <a:spcBef>
                <a:spcPct val="0"/>
              </a:spcBef>
              <a:buFont typeface="Arial"/>
              <a:buChar char="⚬"/>
            </a:pPr>
            <a:r>
              <a:rPr lang="en-US" sz="2600" u="none" strike="noStrik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KFBIO-400 (stable illumination, seen in training)</a:t>
            </a:r>
          </a:p>
          <a:p>
            <a:pPr marL="561341" lvl="1" indent="-280670" algn="l">
              <a:lnSpc>
                <a:spcPts val="3640"/>
              </a:lnSpc>
              <a:spcBef>
                <a:spcPct val="0"/>
              </a:spcBef>
              <a:buFont typeface="Arial"/>
              <a:buChar char="•"/>
            </a:pPr>
            <a:r>
              <a:rPr lang="en-US" sz="2600" b="1" u="none" strike="noStrike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Hardest scanners:</a:t>
            </a:r>
          </a:p>
          <a:p>
            <a:pPr marL="1122681" lvl="2" indent="-374227" algn="l">
              <a:lnSpc>
                <a:spcPts val="3640"/>
              </a:lnSpc>
              <a:spcBef>
                <a:spcPct val="0"/>
              </a:spcBef>
              <a:buFont typeface="Arial"/>
              <a:buChar char="⚬"/>
            </a:pPr>
            <a:r>
              <a:rPr lang="en-US" sz="2600" u="none" strike="noStrik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Leica-450 &amp; </a:t>
            </a:r>
            <a:r>
              <a:rPr lang="en-US" sz="2600" u="none" strike="noStrik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Motic</a:t>
            </a:r>
            <a:r>
              <a:rPr lang="en-US" sz="2600" u="none" strike="noStrik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(pale or dim staining, low tumor content)</a:t>
            </a:r>
          </a:p>
          <a:p>
            <a:pPr marL="561341" lvl="1" indent="-280670" algn="l">
              <a:lnSpc>
                <a:spcPts val="3640"/>
              </a:lnSpc>
              <a:spcBef>
                <a:spcPct val="0"/>
              </a:spcBef>
              <a:buFont typeface="Arial"/>
              <a:buChar char="•"/>
            </a:pPr>
            <a:r>
              <a:rPr lang="en-US" sz="2600" b="1" u="none" strike="noStrike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Special case:</a:t>
            </a:r>
          </a:p>
          <a:p>
            <a:pPr marL="1122681" lvl="2" indent="-374227" algn="l">
              <a:lnSpc>
                <a:spcPts val="3640"/>
              </a:lnSpc>
              <a:spcBef>
                <a:spcPct val="0"/>
              </a:spcBef>
              <a:buFont typeface="Arial"/>
              <a:buChar char="⚬"/>
            </a:pPr>
            <a:r>
              <a:rPr lang="en-US" sz="2600" u="none" strike="noStrik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Teksqray-600p (high contrast, sharp boundaries)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228235" y="2561582"/>
            <a:ext cx="3624560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Example prediction from 3d-250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256810" y="4988900"/>
            <a:ext cx="3964558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Example prediction from  kfbio-400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986473" y="9894749"/>
            <a:ext cx="4573172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Example prediction from teksqray</a:t>
            </a:r>
          </a:p>
        </p:txBody>
      </p:sp>
      <p:grpSp>
        <p:nvGrpSpPr>
          <p:cNvPr id="36" name="Group 8">
            <a:extLst>
              <a:ext uri="{FF2B5EF4-FFF2-40B4-BE49-F238E27FC236}">
                <a16:creationId xmlns:a16="http://schemas.microsoft.com/office/drawing/2014/main" id="{E2721DC9-8A07-C3DF-7018-2522A8737970}"/>
              </a:ext>
            </a:extLst>
          </p:cNvPr>
          <p:cNvGrpSpPr/>
          <p:nvPr/>
        </p:nvGrpSpPr>
        <p:grpSpPr>
          <a:xfrm>
            <a:off x="3923736" y="-23943"/>
            <a:ext cx="3923736" cy="389959"/>
            <a:chOff x="0" y="0"/>
            <a:chExt cx="1033412" cy="102705"/>
          </a:xfrm>
        </p:grpSpPr>
        <p:sp>
          <p:nvSpPr>
            <p:cNvPr id="37" name="Freeform 9">
              <a:extLst>
                <a:ext uri="{FF2B5EF4-FFF2-40B4-BE49-F238E27FC236}">
                  <a16:creationId xmlns:a16="http://schemas.microsoft.com/office/drawing/2014/main" id="{86C2A497-5319-4B95-D7F2-B853529E9C6B}"/>
                </a:ext>
              </a:extLst>
            </p:cNvPr>
            <p:cNvSpPr/>
            <p:nvPr/>
          </p:nvSpPr>
          <p:spPr>
            <a:xfrm>
              <a:off x="0" y="0"/>
              <a:ext cx="1033412" cy="102705"/>
            </a:xfrm>
            <a:custGeom>
              <a:avLst/>
              <a:gdLst/>
              <a:ahLst/>
              <a:cxnLst/>
              <a:rect l="l" t="t" r="r" b="b"/>
              <a:pathLst>
                <a:path w="1033412" h="102705">
                  <a:moveTo>
                    <a:pt x="0" y="0"/>
                  </a:moveTo>
                  <a:lnTo>
                    <a:pt x="1033412" y="0"/>
                  </a:lnTo>
                  <a:lnTo>
                    <a:pt x="1033412" y="102705"/>
                  </a:lnTo>
                  <a:lnTo>
                    <a:pt x="0" y="102705"/>
                  </a:lnTo>
                  <a:close/>
                </a:path>
              </a:pathLst>
            </a:custGeom>
            <a:solidFill>
              <a:srgbClr val="B00B39">
                <a:alpha val="19608"/>
              </a:srgbClr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38" name="TextBox 10">
              <a:extLst>
                <a:ext uri="{FF2B5EF4-FFF2-40B4-BE49-F238E27FC236}">
                  <a16:creationId xmlns:a16="http://schemas.microsoft.com/office/drawing/2014/main" id="{9ED74E9B-1A41-252B-3A61-DF4E4E51E309}"/>
                </a:ext>
              </a:extLst>
            </p:cNvPr>
            <p:cNvSpPr txBox="1"/>
            <p:nvPr/>
          </p:nvSpPr>
          <p:spPr>
            <a:xfrm>
              <a:off x="0" y="-38100"/>
              <a:ext cx="1033412" cy="1408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9" name="Group 11">
            <a:extLst>
              <a:ext uri="{FF2B5EF4-FFF2-40B4-BE49-F238E27FC236}">
                <a16:creationId xmlns:a16="http://schemas.microsoft.com/office/drawing/2014/main" id="{FCAD7443-DEA9-5A6A-4D26-A9F3912EA4A8}"/>
              </a:ext>
            </a:extLst>
          </p:cNvPr>
          <p:cNvGrpSpPr/>
          <p:nvPr/>
        </p:nvGrpSpPr>
        <p:grpSpPr>
          <a:xfrm>
            <a:off x="7847472" y="-101928"/>
            <a:ext cx="3923736" cy="467944"/>
            <a:chOff x="0" y="0"/>
            <a:chExt cx="1033412" cy="123245"/>
          </a:xfrm>
        </p:grpSpPr>
        <p:sp>
          <p:nvSpPr>
            <p:cNvPr id="40" name="Freeform 12">
              <a:extLst>
                <a:ext uri="{FF2B5EF4-FFF2-40B4-BE49-F238E27FC236}">
                  <a16:creationId xmlns:a16="http://schemas.microsoft.com/office/drawing/2014/main" id="{0ED9FF49-F881-E0A0-AE8E-A481FFFF3681}"/>
                </a:ext>
              </a:extLst>
            </p:cNvPr>
            <p:cNvSpPr/>
            <p:nvPr/>
          </p:nvSpPr>
          <p:spPr>
            <a:xfrm>
              <a:off x="0" y="0"/>
              <a:ext cx="1033412" cy="123245"/>
            </a:xfrm>
            <a:custGeom>
              <a:avLst/>
              <a:gdLst/>
              <a:ahLst/>
              <a:cxnLst/>
              <a:rect l="l" t="t" r="r" b="b"/>
              <a:pathLst>
                <a:path w="1033412" h="123245">
                  <a:moveTo>
                    <a:pt x="0" y="0"/>
                  </a:moveTo>
                  <a:lnTo>
                    <a:pt x="1033412" y="0"/>
                  </a:lnTo>
                  <a:lnTo>
                    <a:pt x="1033412" y="123245"/>
                  </a:lnTo>
                  <a:lnTo>
                    <a:pt x="0" y="123245"/>
                  </a:lnTo>
                  <a:close/>
                </a:path>
              </a:pathLst>
            </a:custGeom>
            <a:solidFill>
              <a:srgbClr val="B00B39">
                <a:alpha val="19608"/>
              </a:srgbClr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41" name="TextBox 13">
              <a:extLst>
                <a:ext uri="{FF2B5EF4-FFF2-40B4-BE49-F238E27FC236}">
                  <a16:creationId xmlns:a16="http://schemas.microsoft.com/office/drawing/2014/main" id="{2C048778-40C0-1AB6-55D0-F84F513B1825}"/>
                </a:ext>
              </a:extLst>
            </p:cNvPr>
            <p:cNvSpPr txBox="1"/>
            <p:nvPr/>
          </p:nvSpPr>
          <p:spPr>
            <a:xfrm>
              <a:off x="0" y="-38100"/>
              <a:ext cx="1033412" cy="1613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42" name="Group 14">
            <a:extLst>
              <a:ext uri="{FF2B5EF4-FFF2-40B4-BE49-F238E27FC236}">
                <a16:creationId xmlns:a16="http://schemas.microsoft.com/office/drawing/2014/main" id="{DA13CE98-8FF4-68E6-2849-E9DF0E8293E6}"/>
              </a:ext>
            </a:extLst>
          </p:cNvPr>
          <p:cNvGrpSpPr/>
          <p:nvPr/>
        </p:nvGrpSpPr>
        <p:grpSpPr>
          <a:xfrm>
            <a:off x="11771209" y="-23943"/>
            <a:ext cx="3923736" cy="389959"/>
            <a:chOff x="0" y="0"/>
            <a:chExt cx="1033412" cy="102705"/>
          </a:xfrm>
        </p:grpSpPr>
        <p:sp>
          <p:nvSpPr>
            <p:cNvPr id="43" name="Freeform 15">
              <a:extLst>
                <a:ext uri="{FF2B5EF4-FFF2-40B4-BE49-F238E27FC236}">
                  <a16:creationId xmlns:a16="http://schemas.microsoft.com/office/drawing/2014/main" id="{D62015D8-CA3C-D25E-9C9D-2F9D1947E5BB}"/>
                </a:ext>
              </a:extLst>
            </p:cNvPr>
            <p:cNvSpPr/>
            <p:nvPr/>
          </p:nvSpPr>
          <p:spPr>
            <a:xfrm>
              <a:off x="0" y="0"/>
              <a:ext cx="1033412" cy="102705"/>
            </a:xfrm>
            <a:custGeom>
              <a:avLst/>
              <a:gdLst/>
              <a:ahLst/>
              <a:cxnLst/>
              <a:rect l="l" t="t" r="r" b="b"/>
              <a:pathLst>
                <a:path w="1033412" h="102705">
                  <a:moveTo>
                    <a:pt x="0" y="0"/>
                  </a:moveTo>
                  <a:lnTo>
                    <a:pt x="1033412" y="0"/>
                  </a:lnTo>
                  <a:lnTo>
                    <a:pt x="1033412" y="102705"/>
                  </a:lnTo>
                  <a:lnTo>
                    <a:pt x="0" y="102705"/>
                  </a:lnTo>
                  <a:close/>
                </a:path>
              </a:pathLst>
            </a:custGeom>
            <a:solidFill>
              <a:srgbClr val="B00B39"/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44" name="TextBox 16">
              <a:extLst>
                <a:ext uri="{FF2B5EF4-FFF2-40B4-BE49-F238E27FC236}">
                  <a16:creationId xmlns:a16="http://schemas.microsoft.com/office/drawing/2014/main" id="{07F4463A-B418-7D42-A6B8-526D0C6BF823}"/>
                </a:ext>
              </a:extLst>
            </p:cNvPr>
            <p:cNvSpPr txBox="1"/>
            <p:nvPr/>
          </p:nvSpPr>
          <p:spPr>
            <a:xfrm>
              <a:off x="0" y="-38100"/>
              <a:ext cx="1033412" cy="1408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45" name="TextBox 20">
            <a:extLst>
              <a:ext uri="{FF2B5EF4-FFF2-40B4-BE49-F238E27FC236}">
                <a16:creationId xmlns:a16="http://schemas.microsoft.com/office/drawing/2014/main" id="{1795A7E0-7BC5-6710-7082-9774EEEA62B0}"/>
              </a:ext>
            </a:extLst>
          </p:cNvPr>
          <p:cNvSpPr txBox="1"/>
          <p:nvPr/>
        </p:nvSpPr>
        <p:spPr>
          <a:xfrm>
            <a:off x="1146942" y="-12075"/>
            <a:ext cx="1629853" cy="342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2"/>
              </a:lnSpc>
            </a:pPr>
            <a:r>
              <a:rPr lang="en-US" sz="1951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Introduction </a:t>
            </a:r>
          </a:p>
        </p:txBody>
      </p:sp>
      <p:sp>
        <p:nvSpPr>
          <p:cNvPr id="46" name="TextBox 21">
            <a:extLst>
              <a:ext uri="{FF2B5EF4-FFF2-40B4-BE49-F238E27FC236}">
                <a16:creationId xmlns:a16="http://schemas.microsoft.com/office/drawing/2014/main" id="{058ED5A0-EBB5-E515-BE49-CF7C4DE62BC8}"/>
              </a:ext>
            </a:extLst>
          </p:cNvPr>
          <p:cNvSpPr txBox="1"/>
          <p:nvPr/>
        </p:nvSpPr>
        <p:spPr>
          <a:xfrm>
            <a:off x="5073240" y="-12075"/>
            <a:ext cx="1701233" cy="3242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32"/>
              </a:lnSpc>
            </a:pPr>
            <a:r>
              <a:rPr lang="en-US" sz="1951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Methodology</a:t>
            </a:r>
          </a:p>
        </p:txBody>
      </p:sp>
      <p:sp>
        <p:nvSpPr>
          <p:cNvPr id="47" name="TextBox 22">
            <a:extLst>
              <a:ext uri="{FF2B5EF4-FFF2-40B4-BE49-F238E27FC236}">
                <a16:creationId xmlns:a16="http://schemas.microsoft.com/office/drawing/2014/main" id="{83093198-74E1-9569-8839-DDD632FD6786}"/>
              </a:ext>
            </a:extLst>
          </p:cNvPr>
          <p:cNvSpPr txBox="1"/>
          <p:nvPr/>
        </p:nvSpPr>
        <p:spPr>
          <a:xfrm>
            <a:off x="9358004" y="-24047"/>
            <a:ext cx="1072999" cy="3242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32"/>
              </a:lnSpc>
            </a:pPr>
            <a:r>
              <a:rPr lang="en-US" sz="1951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Results</a:t>
            </a:r>
          </a:p>
        </p:txBody>
      </p:sp>
      <p:sp>
        <p:nvSpPr>
          <p:cNvPr id="48" name="TextBox 23">
            <a:extLst>
              <a:ext uri="{FF2B5EF4-FFF2-40B4-BE49-F238E27FC236}">
                <a16:creationId xmlns:a16="http://schemas.microsoft.com/office/drawing/2014/main" id="{3D311057-F6E0-18D5-4C10-98B0BA14D87F}"/>
              </a:ext>
            </a:extLst>
          </p:cNvPr>
          <p:cNvSpPr txBox="1"/>
          <p:nvPr/>
        </p:nvSpPr>
        <p:spPr>
          <a:xfrm>
            <a:off x="12604201" y="-12075"/>
            <a:ext cx="2330999" cy="3242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32"/>
              </a:lnSpc>
            </a:pPr>
            <a:r>
              <a:rPr lang="en-US" sz="1951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Critical Discussion</a:t>
            </a:r>
          </a:p>
        </p:txBody>
      </p:sp>
      <p:sp>
        <p:nvSpPr>
          <p:cNvPr id="49" name="TextBox 24">
            <a:extLst>
              <a:ext uri="{FF2B5EF4-FFF2-40B4-BE49-F238E27FC236}">
                <a16:creationId xmlns:a16="http://schemas.microsoft.com/office/drawing/2014/main" id="{986404A9-C496-3AEC-84E5-35BE3C18909F}"/>
              </a:ext>
            </a:extLst>
          </p:cNvPr>
          <p:cNvSpPr txBox="1"/>
          <p:nvPr/>
        </p:nvSpPr>
        <p:spPr>
          <a:xfrm>
            <a:off x="16408410" y="-24047"/>
            <a:ext cx="1498589" cy="3242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32"/>
              </a:lnSpc>
            </a:pPr>
            <a:r>
              <a:rPr lang="en-US" sz="1951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Conclusion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78475" cy="366016"/>
            <a:chOff x="0" y="0"/>
            <a:chExt cx="4814084" cy="9639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4084" cy="96399"/>
            </a:xfrm>
            <a:custGeom>
              <a:avLst/>
              <a:gdLst/>
              <a:ahLst/>
              <a:cxnLst/>
              <a:rect l="l" t="t" r="r" b="b"/>
              <a:pathLst>
                <a:path w="4814084" h="96399">
                  <a:moveTo>
                    <a:pt x="0" y="0"/>
                  </a:moveTo>
                  <a:lnTo>
                    <a:pt x="4814084" y="0"/>
                  </a:lnTo>
                  <a:lnTo>
                    <a:pt x="4814084" y="96399"/>
                  </a:lnTo>
                  <a:lnTo>
                    <a:pt x="0" y="96399"/>
                  </a:lnTo>
                  <a:close/>
                </a:path>
              </a:pathLst>
            </a:custGeom>
            <a:solidFill>
              <a:srgbClr val="897993"/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4084" cy="1344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-55288"/>
            <a:ext cx="3923736" cy="421303"/>
            <a:chOff x="0" y="0"/>
            <a:chExt cx="1033412" cy="11096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33412" cy="110961"/>
            </a:xfrm>
            <a:custGeom>
              <a:avLst/>
              <a:gdLst/>
              <a:ahLst/>
              <a:cxnLst/>
              <a:rect l="l" t="t" r="r" b="b"/>
              <a:pathLst>
                <a:path w="1033412" h="110961">
                  <a:moveTo>
                    <a:pt x="0" y="0"/>
                  </a:moveTo>
                  <a:lnTo>
                    <a:pt x="1033412" y="0"/>
                  </a:lnTo>
                  <a:lnTo>
                    <a:pt x="1033412" y="110961"/>
                  </a:lnTo>
                  <a:lnTo>
                    <a:pt x="0" y="110961"/>
                  </a:lnTo>
                  <a:close/>
                </a:path>
              </a:pathLst>
            </a:custGeom>
            <a:solidFill>
              <a:srgbClr val="B00B39">
                <a:alpha val="19608"/>
              </a:srgbClr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033412" cy="1490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923736" y="-23943"/>
            <a:ext cx="3923736" cy="389959"/>
            <a:chOff x="0" y="0"/>
            <a:chExt cx="1033412" cy="10270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33412" cy="102705"/>
            </a:xfrm>
            <a:custGeom>
              <a:avLst/>
              <a:gdLst/>
              <a:ahLst/>
              <a:cxnLst/>
              <a:rect l="l" t="t" r="r" b="b"/>
              <a:pathLst>
                <a:path w="1033412" h="102705">
                  <a:moveTo>
                    <a:pt x="0" y="0"/>
                  </a:moveTo>
                  <a:lnTo>
                    <a:pt x="1033412" y="0"/>
                  </a:lnTo>
                  <a:lnTo>
                    <a:pt x="1033412" y="102705"/>
                  </a:lnTo>
                  <a:lnTo>
                    <a:pt x="0" y="102705"/>
                  </a:lnTo>
                  <a:close/>
                </a:path>
              </a:pathLst>
            </a:custGeom>
            <a:solidFill>
              <a:srgbClr val="B00B39">
                <a:alpha val="19608"/>
              </a:srgbClr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033412" cy="1408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847472" y="-101928"/>
            <a:ext cx="3923736" cy="467944"/>
            <a:chOff x="0" y="0"/>
            <a:chExt cx="1033412" cy="12324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33412" cy="123245"/>
            </a:xfrm>
            <a:custGeom>
              <a:avLst/>
              <a:gdLst/>
              <a:ahLst/>
              <a:cxnLst/>
              <a:rect l="l" t="t" r="r" b="b"/>
              <a:pathLst>
                <a:path w="1033412" h="123245">
                  <a:moveTo>
                    <a:pt x="0" y="0"/>
                  </a:moveTo>
                  <a:lnTo>
                    <a:pt x="1033412" y="0"/>
                  </a:lnTo>
                  <a:lnTo>
                    <a:pt x="1033412" y="123245"/>
                  </a:lnTo>
                  <a:lnTo>
                    <a:pt x="0" y="123245"/>
                  </a:lnTo>
                  <a:close/>
                </a:path>
              </a:pathLst>
            </a:custGeom>
            <a:solidFill>
              <a:srgbClr val="B00B39">
                <a:alpha val="19608"/>
              </a:srgbClr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033412" cy="1613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1771209" y="-23943"/>
            <a:ext cx="3923736" cy="389959"/>
            <a:chOff x="0" y="0"/>
            <a:chExt cx="1033412" cy="10270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33412" cy="102705"/>
            </a:xfrm>
            <a:custGeom>
              <a:avLst/>
              <a:gdLst/>
              <a:ahLst/>
              <a:cxnLst/>
              <a:rect l="l" t="t" r="r" b="b"/>
              <a:pathLst>
                <a:path w="1033412" h="102705">
                  <a:moveTo>
                    <a:pt x="0" y="0"/>
                  </a:moveTo>
                  <a:lnTo>
                    <a:pt x="1033412" y="0"/>
                  </a:lnTo>
                  <a:lnTo>
                    <a:pt x="1033412" y="102705"/>
                  </a:lnTo>
                  <a:lnTo>
                    <a:pt x="0" y="102705"/>
                  </a:lnTo>
                  <a:close/>
                </a:path>
              </a:pathLst>
            </a:custGeom>
            <a:solidFill>
              <a:srgbClr val="B00B39">
                <a:alpha val="19608"/>
              </a:srgbClr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1033412" cy="1408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5694945" y="-40855"/>
            <a:ext cx="3923736" cy="389959"/>
            <a:chOff x="0" y="0"/>
            <a:chExt cx="1033412" cy="102705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033412" cy="102705"/>
            </a:xfrm>
            <a:custGeom>
              <a:avLst/>
              <a:gdLst/>
              <a:ahLst/>
              <a:cxnLst/>
              <a:rect l="l" t="t" r="r" b="b"/>
              <a:pathLst>
                <a:path w="1033412" h="102705">
                  <a:moveTo>
                    <a:pt x="0" y="0"/>
                  </a:moveTo>
                  <a:lnTo>
                    <a:pt x="1033412" y="0"/>
                  </a:lnTo>
                  <a:lnTo>
                    <a:pt x="1033412" y="102705"/>
                  </a:lnTo>
                  <a:lnTo>
                    <a:pt x="0" y="102705"/>
                  </a:lnTo>
                  <a:close/>
                </a:path>
              </a:pathLst>
            </a:custGeom>
            <a:solidFill>
              <a:srgbClr val="B00B39"/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1033412" cy="1408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146942" y="-12075"/>
            <a:ext cx="1629853" cy="342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2"/>
              </a:lnSpc>
            </a:pPr>
            <a:r>
              <a:rPr lang="en-US" sz="1951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Introduction 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073241" y="-12075"/>
            <a:ext cx="1624726" cy="342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2"/>
              </a:lnSpc>
            </a:pPr>
            <a:r>
              <a:rPr lang="en-US" sz="1951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Methodology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358004" y="-24047"/>
            <a:ext cx="1072999" cy="3242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32"/>
              </a:lnSpc>
            </a:pPr>
            <a:r>
              <a:rPr lang="en-US" sz="1951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Results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604201" y="-12074"/>
            <a:ext cx="2464004" cy="3242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32"/>
              </a:lnSpc>
            </a:pPr>
            <a:r>
              <a:rPr lang="en-US" sz="1951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Critical Discussion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6408410" y="-24047"/>
            <a:ext cx="1422389" cy="3242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32"/>
              </a:lnSpc>
            </a:pPr>
            <a:r>
              <a:rPr lang="en-US" sz="1951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Conclusion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28700" y="952500"/>
            <a:ext cx="14969093" cy="573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19"/>
              </a:lnSpc>
              <a:spcBef>
                <a:spcPct val="0"/>
              </a:spcBef>
            </a:pPr>
            <a:r>
              <a:rPr lang="en-US" sz="3299" b="1" u="sng">
                <a:solidFill>
                  <a:srgbClr val="B00B39"/>
                </a:solidFill>
                <a:latin typeface="Cardo Bold"/>
                <a:ea typeface="Cardo Bold"/>
                <a:cs typeface="Cardo Bold"/>
                <a:sym typeface="Cardo Bold"/>
              </a:rPr>
              <a:t>Contributions and Future Work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28700" y="2443766"/>
            <a:ext cx="14329679" cy="3022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397" b="1" u="none" strike="noStrike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Main Contributions</a:t>
            </a:r>
          </a:p>
          <a:p>
            <a:pPr marL="517710" lvl="1" indent="-258855" algn="l">
              <a:lnSpc>
                <a:spcPts val="3357"/>
              </a:lnSpc>
              <a:buAutoNum type="arabicPeriod"/>
            </a:pPr>
            <a:r>
              <a:rPr lang="en-US" sz="2397" b="1" u="none" strike="noStrike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Architectural Study </a:t>
            </a:r>
            <a:r>
              <a:rPr lang="en-US" sz="2397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</a:t>
            </a:r>
            <a:r>
              <a:rPr lang="en-US" sz="2397" u="none" strike="noStrik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Pathology Foundation Model (UNI2-h) + </a:t>
            </a:r>
            <a:r>
              <a:rPr lang="en-US" sz="2397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Deeplabv3, ASPP</a:t>
            </a:r>
            <a:r>
              <a:rPr lang="en-US" sz="2397" u="none" strike="noStrik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2397" u="none" strike="noStrik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PixelFPN</a:t>
            </a:r>
            <a:r>
              <a:rPr lang="en-US" sz="2397" u="none" strike="noStrik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 Transformer decoders</a:t>
            </a:r>
          </a:p>
          <a:p>
            <a:pPr marL="517710" lvl="1" indent="-258855" algn="l">
              <a:lnSpc>
                <a:spcPts val="3357"/>
              </a:lnSpc>
              <a:buAutoNum type="arabicPeriod"/>
            </a:pPr>
            <a:r>
              <a:rPr lang="en-US" sz="2397" b="1" u="none" strike="noStrike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Cross-Scanner Generalization</a:t>
            </a:r>
            <a:r>
              <a:rPr lang="en-US" sz="2397" u="none" strike="noStrik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- robust results on unseen domains</a:t>
            </a:r>
          </a:p>
          <a:p>
            <a:pPr marL="517710" lvl="1" indent="-258855" algn="l">
              <a:lnSpc>
                <a:spcPts val="3357"/>
              </a:lnSpc>
              <a:buAutoNum type="arabicPeriod"/>
            </a:pPr>
            <a:r>
              <a:rPr lang="en-US" sz="2397" b="1" u="none" strike="noStrike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Domain-Specific Insights</a:t>
            </a:r>
            <a:r>
              <a:rPr lang="en-US" sz="2397" u="none" strike="noStrik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- scanner color/contrast affects segmentation</a:t>
            </a:r>
          </a:p>
          <a:p>
            <a:pPr marL="517710" lvl="1" indent="-258855" algn="l">
              <a:lnSpc>
                <a:spcPts val="3357"/>
              </a:lnSpc>
              <a:buAutoNum type="arabicPeriod"/>
            </a:pPr>
            <a:r>
              <a:rPr lang="en-US" sz="2397" b="1" u="none" strike="noStrike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Efficient Design</a:t>
            </a:r>
            <a:r>
              <a:rPr lang="en-US" sz="2397" u="none" strike="noStrik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397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</a:t>
            </a:r>
            <a:r>
              <a:rPr lang="en-US" sz="2397" u="none" strike="noStrik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11 GB VRAM</a:t>
            </a:r>
            <a:r>
              <a:rPr lang="en-US" sz="2397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  <a:p>
            <a:pPr marL="517710" lvl="1" indent="-258855" algn="l">
              <a:lnSpc>
                <a:spcPts val="3357"/>
              </a:lnSpc>
              <a:buAutoNum type="arabicPeriod"/>
            </a:pPr>
            <a:r>
              <a:rPr lang="en-US" sz="2397" b="1" u="none" strike="noStrike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Reproducible Pipeline</a:t>
            </a:r>
            <a:r>
              <a:rPr lang="en-US" sz="2397" u="none" strike="noStrik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- unified loss, scheduler, post-processing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28700" y="6059806"/>
            <a:ext cx="14969093" cy="21503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7"/>
              </a:lnSpc>
              <a:spcBef>
                <a:spcPct val="0"/>
              </a:spcBef>
            </a:pPr>
            <a:r>
              <a:rPr lang="en-US" sz="2397" b="1" u="none" strike="noStrike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Future Work</a:t>
            </a:r>
          </a:p>
          <a:p>
            <a:pPr marL="517710" lvl="1" indent="-258855" algn="l">
              <a:lnSpc>
                <a:spcPts val="3357"/>
              </a:lnSpc>
              <a:spcBef>
                <a:spcPct val="0"/>
              </a:spcBef>
              <a:buAutoNum type="arabicPeriod"/>
            </a:pPr>
            <a:r>
              <a:rPr lang="en-US" sz="2397" u="none" strike="noStrik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Increase dataset diversity (institutions, scanners, staining)</a:t>
            </a:r>
          </a:p>
          <a:p>
            <a:pPr marL="517710" lvl="1" indent="-258855">
              <a:lnSpc>
                <a:spcPts val="3357"/>
              </a:lnSpc>
              <a:spcBef>
                <a:spcPct val="0"/>
              </a:spcBef>
              <a:buAutoNum type="arabicPeriod"/>
            </a:pPr>
            <a:r>
              <a:rPr lang="en-GB" sz="2397" dirty="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Stain augmentation (</a:t>
            </a:r>
            <a:r>
              <a:rPr lang="en-GB" sz="2400" dirty="0"/>
              <a:t>HED jitter</a:t>
            </a:r>
            <a:r>
              <a:rPr lang="en-GB" sz="2397" dirty="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)</a:t>
            </a:r>
            <a:endParaRPr lang="en-US" sz="2397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517710" lvl="1" indent="-258855" algn="l">
              <a:lnSpc>
                <a:spcPts val="3357"/>
              </a:lnSpc>
              <a:spcBef>
                <a:spcPct val="0"/>
              </a:spcBef>
              <a:buAutoNum type="arabicPeriod"/>
            </a:pPr>
            <a:r>
              <a:rPr lang="en-US" sz="2397" u="none" strike="noStrik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Self-supervised fine-tuning on new hospital </a:t>
            </a:r>
            <a:r>
              <a:rPr lang="en-US" sz="2397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data</a:t>
            </a:r>
            <a:endParaRPr lang="en-US" sz="2397" u="none" strike="noStrike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517710" lvl="1" indent="-258855" algn="l">
              <a:lnSpc>
                <a:spcPts val="3357"/>
              </a:lnSpc>
              <a:spcBef>
                <a:spcPct val="0"/>
              </a:spcBef>
              <a:buAutoNum type="arabicPeriod"/>
            </a:pPr>
            <a:r>
              <a:rPr lang="en-US" sz="2397" u="none" strike="noStrik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Efficient inference for clinical deployment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183654-9740-19FD-5CD4-24219E883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6E97035-25CA-4B08-9296-435635D2BBD7}"/>
              </a:ext>
            </a:extLst>
          </p:cNvPr>
          <p:cNvGrpSpPr/>
          <p:nvPr/>
        </p:nvGrpSpPr>
        <p:grpSpPr>
          <a:xfrm>
            <a:off x="0" y="0"/>
            <a:ext cx="18278475" cy="366016"/>
            <a:chOff x="0" y="0"/>
            <a:chExt cx="4814084" cy="96399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D94B5465-C4CF-94F2-7998-9184C8D2C1F9}"/>
                </a:ext>
              </a:extLst>
            </p:cNvPr>
            <p:cNvSpPr/>
            <p:nvPr/>
          </p:nvSpPr>
          <p:spPr>
            <a:xfrm>
              <a:off x="0" y="0"/>
              <a:ext cx="4814084" cy="96399"/>
            </a:xfrm>
            <a:custGeom>
              <a:avLst/>
              <a:gdLst/>
              <a:ahLst/>
              <a:cxnLst/>
              <a:rect l="l" t="t" r="r" b="b"/>
              <a:pathLst>
                <a:path w="4814084" h="96399">
                  <a:moveTo>
                    <a:pt x="0" y="0"/>
                  </a:moveTo>
                  <a:lnTo>
                    <a:pt x="4814084" y="0"/>
                  </a:lnTo>
                  <a:lnTo>
                    <a:pt x="4814084" y="96399"/>
                  </a:lnTo>
                  <a:lnTo>
                    <a:pt x="0" y="96399"/>
                  </a:lnTo>
                  <a:close/>
                </a:path>
              </a:pathLst>
            </a:custGeom>
            <a:solidFill>
              <a:srgbClr val="897993"/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B0B40E9F-A79C-06A4-D24D-89B35EA2CD08}"/>
                </a:ext>
              </a:extLst>
            </p:cNvPr>
            <p:cNvSpPr txBox="1"/>
            <p:nvPr/>
          </p:nvSpPr>
          <p:spPr>
            <a:xfrm>
              <a:off x="0" y="-38100"/>
              <a:ext cx="4814084" cy="1344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3BDF8612-57BD-757B-B926-3427A6AD97EC}"/>
              </a:ext>
            </a:extLst>
          </p:cNvPr>
          <p:cNvGrpSpPr/>
          <p:nvPr/>
        </p:nvGrpSpPr>
        <p:grpSpPr>
          <a:xfrm>
            <a:off x="0" y="-55288"/>
            <a:ext cx="3923736" cy="421303"/>
            <a:chOff x="0" y="0"/>
            <a:chExt cx="1033412" cy="110961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69A650F7-2782-B433-658F-8EA69E60FFE1}"/>
                </a:ext>
              </a:extLst>
            </p:cNvPr>
            <p:cNvSpPr/>
            <p:nvPr/>
          </p:nvSpPr>
          <p:spPr>
            <a:xfrm>
              <a:off x="0" y="0"/>
              <a:ext cx="1033412" cy="110961"/>
            </a:xfrm>
            <a:custGeom>
              <a:avLst/>
              <a:gdLst/>
              <a:ahLst/>
              <a:cxnLst/>
              <a:rect l="l" t="t" r="r" b="b"/>
              <a:pathLst>
                <a:path w="1033412" h="110961">
                  <a:moveTo>
                    <a:pt x="0" y="0"/>
                  </a:moveTo>
                  <a:lnTo>
                    <a:pt x="1033412" y="0"/>
                  </a:lnTo>
                  <a:lnTo>
                    <a:pt x="1033412" y="110961"/>
                  </a:lnTo>
                  <a:lnTo>
                    <a:pt x="0" y="110961"/>
                  </a:lnTo>
                  <a:close/>
                </a:path>
              </a:pathLst>
            </a:custGeom>
            <a:solidFill>
              <a:srgbClr val="B00B39">
                <a:alpha val="19608"/>
              </a:srgbClr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6217B07-33C5-BEDC-9676-B2A30D4FA977}"/>
                </a:ext>
              </a:extLst>
            </p:cNvPr>
            <p:cNvSpPr txBox="1"/>
            <p:nvPr/>
          </p:nvSpPr>
          <p:spPr>
            <a:xfrm>
              <a:off x="0" y="-38100"/>
              <a:ext cx="1033412" cy="1490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7C33E2EA-1613-C1F4-B35A-565334EE2551}"/>
              </a:ext>
            </a:extLst>
          </p:cNvPr>
          <p:cNvGrpSpPr/>
          <p:nvPr/>
        </p:nvGrpSpPr>
        <p:grpSpPr>
          <a:xfrm>
            <a:off x="3923736" y="-23943"/>
            <a:ext cx="3923736" cy="389959"/>
            <a:chOff x="0" y="0"/>
            <a:chExt cx="1033412" cy="102705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47684F0F-000E-E080-088F-93D01EC9F2B4}"/>
                </a:ext>
              </a:extLst>
            </p:cNvPr>
            <p:cNvSpPr/>
            <p:nvPr/>
          </p:nvSpPr>
          <p:spPr>
            <a:xfrm>
              <a:off x="0" y="0"/>
              <a:ext cx="1033412" cy="102705"/>
            </a:xfrm>
            <a:custGeom>
              <a:avLst/>
              <a:gdLst/>
              <a:ahLst/>
              <a:cxnLst/>
              <a:rect l="l" t="t" r="r" b="b"/>
              <a:pathLst>
                <a:path w="1033412" h="102705">
                  <a:moveTo>
                    <a:pt x="0" y="0"/>
                  </a:moveTo>
                  <a:lnTo>
                    <a:pt x="1033412" y="0"/>
                  </a:lnTo>
                  <a:lnTo>
                    <a:pt x="1033412" y="102705"/>
                  </a:lnTo>
                  <a:lnTo>
                    <a:pt x="0" y="102705"/>
                  </a:lnTo>
                  <a:close/>
                </a:path>
              </a:pathLst>
            </a:custGeom>
            <a:solidFill>
              <a:srgbClr val="B00B39">
                <a:alpha val="19608"/>
              </a:srgbClr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B827D0A3-337E-9BCD-9388-61CD802D8DB8}"/>
                </a:ext>
              </a:extLst>
            </p:cNvPr>
            <p:cNvSpPr txBox="1"/>
            <p:nvPr/>
          </p:nvSpPr>
          <p:spPr>
            <a:xfrm>
              <a:off x="0" y="-38100"/>
              <a:ext cx="1033412" cy="1408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ED746C89-1BB3-8741-E654-A655B12A292B}"/>
              </a:ext>
            </a:extLst>
          </p:cNvPr>
          <p:cNvGrpSpPr/>
          <p:nvPr/>
        </p:nvGrpSpPr>
        <p:grpSpPr>
          <a:xfrm>
            <a:off x="7847472" y="-101928"/>
            <a:ext cx="3923736" cy="467944"/>
            <a:chOff x="0" y="0"/>
            <a:chExt cx="1033412" cy="123245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7F522C64-575C-5384-0D0C-5AB8105D3E12}"/>
                </a:ext>
              </a:extLst>
            </p:cNvPr>
            <p:cNvSpPr/>
            <p:nvPr/>
          </p:nvSpPr>
          <p:spPr>
            <a:xfrm>
              <a:off x="0" y="0"/>
              <a:ext cx="1033412" cy="123245"/>
            </a:xfrm>
            <a:custGeom>
              <a:avLst/>
              <a:gdLst/>
              <a:ahLst/>
              <a:cxnLst/>
              <a:rect l="l" t="t" r="r" b="b"/>
              <a:pathLst>
                <a:path w="1033412" h="123245">
                  <a:moveTo>
                    <a:pt x="0" y="0"/>
                  </a:moveTo>
                  <a:lnTo>
                    <a:pt x="1033412" y="0"/>
                  </a:lnTo>
                  <a:lnTo>
                    <a:pt x="1033412" y="123245"/>
                  </a:lnTo>
                  <a:lnTo>
                    <a:pt x="0" y="123245"/>
                  </a:lnTo>
                  <a:close/>
                </a:path>
              </a:pathLst>
            </a:custGeom>
            <a:solidFill>
              <a:srgbClr val="B00B39">
                <a:alpha val="19608"/>
              </a:srgbClr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BD638FBC-8EA3-2DA4-50FD-92518A270252}"/>
                </a:ext>
              </a:extLst>
            </p:cNvPr>
            <p:cNvSpPr txBox="1"/>
            <p:nvPr/>
          </p:nvSpPr>
          <p:spPr>
            <a:xfrm>
              <a:off x="0" y="-38100"/>
              <a:ext cx="1033412" cy="1613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EC12E366-15D7-270F-5CBE-86E30B4769D0}"/>
              </a:ext>
            </a:extLst>
          </p:cNvPr>
          <p:cNvGrpSpPr/>
          <p:nvPr/>
        </p:nvGrpSpPr>
        <p:grpSpPr>
          <a:xfrm>
            <a:off x="11771209" y="-23943"/>
            <a:ext cx="3923736" cy="389959"/>
            <a:chOff x="0" y="0"/>
            <a:chExt cx="1033412" cy="102705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BF7FA76C-81A3-AEC0-D5CD-9802B3CDB789}"/>
                </a:ext>
              </a:extLst>
            </p:cNvPr>
            <p:cNvSpPr/>
            <p:nvPr/>
          </p:nvSpPr>
          <p:spPr>
            <a:xfrm>
              <a:off x="0" y="0"/>
              <a:ext cx="1033412" cy="102705"/>
            </a:xfrm>
            <a:custGeom>
              <a:avLst/>
              <a:gdLst/>
              <a:ahLst/>
              <a:cxnLst/>
              <a:rect l="l" t="t" r="r" b="b"/>
              <a:pathLst>
                <a:path w="1033412" h="102705">
                  <a:moveTo>
                    <a:pt x="0" y="0"/>
                  </a:moveTo>
                  <a:lnTo>
                    <a:pt x="1033412" y="0"/>
                  </a:lnTo>
                  <a:lnTo>
                    <a:pt x="1033412" y="102705"/>
                  </a:lnTo>
                  <a:lnTo>
                    <a:pt x="0" y="102705"/>
                  </a:lnTo>
                  <a:close/>
                </a:path>
              </a:pathLst>
            </a:custGeom>
            <a:solidFill>
              <a:srgbClr val="B00B39">
                <a:alpha val="19608"/>
              </a:srgbClr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CB2B2A86-5D13-BF38-7968-29A3D7B64F15}"/>
                </a:ext>
              </a:extLst>
            </p:cNvPr>
            <p:cNvSpPr txBox="1"/>
            <p:nvPr/>
          </p:nvSpPr>
          <p:spPr>
            <a:xfrm>
              <a:off x="0" y="-38100"/>
              <a:ext cx="1033412" cy="1408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0FC33673-56F3-5662-E40A-AF02DFFAF076}"/>
              </a:ext>
            </a:extLst>
          </p:cNvPr>
          <p:cNvGrpSpPr/>
          <p:nvPr/>
        </p:nvGrpSpPr>
        <p:grpSpPr>
          <a:xfrm>
            <a:off x="15694945" y="-40855"/>
            <a:ext cx="3923736" cy="389959"/>
            <a:chOff x="0" y="0"/>
            <a:chExt cx="1033412" cy="102705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3B80B0DB-36AB-0450-588C-F1DC9C02092E}"/>
                </a:ext>
              </a:extLst>
            </p:cNvPr>
            <p:cNvSpPr/>
            <p:nvPr/>
          </p:nvSpPr>
          <p:spPr>
            <a:xfrm>
              <a:off x="0" y="0"/>
              <a:ext cx="1033412" cy="102705"/>
            </a:xfrm>
            <a:custGeom>
              <a:avLst/>
              <a:gdLst/>
              <a:ahLst/>
              <a:cxnLst/>
              <a:rect l="l" t="t" r="r" b="b"/>
              <a:pathLst>
                <a:path w="1033412" h="102705">
                  <a:moveTo>
                    <a:pt x="0" y="0"/>
                  </a:moveTo>
                  <a:lnTo>
                    <a:pt x="1033412" y="0"/>
                  </a:lnTo>
                  <a:lnTo>
                    <a:pt x="1033412" y="102705"/>
                  </a:lnTo>
                  <a:lnTo>
                    <a:pt x="0" y="102705"/>
                  </a:lnTo>
                  <a:close/>
                </a:path>
              </a:pathLst>
            </a:custGeom>
            <a:solidFill>
              <a:srgbClr val="B00B39"/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E3D33100-D048-CDC7-2B80-3EE10A3F18D8}"/>
                </a:ext>
              </a:extLst>
            </p:cNvPr>
            <p:cNvSpPr txBox="1"/>
            <p:nvPr/>
          </p:nvSpPr>
          <p:spPr>
            <a:xfrm>
              <a:off x="0" y="-38100"/>
              <a:ext cx="1033412" cy="1408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0" name="TextBox 20">
            <a:extLst>
              <a:ext uri="{FF2B5EF4-FFF2-40B4-BE49-F238E27FC236}">
                <a16:creationId xmlns:a16="http://schemas.microsoft.com/office/drawing/2014/main" id="{7715BB54-8394-AF95-3459-0B97ECB78B83}"/>
              </a:ext>
            </a:extLst>
          </p:cNvPr>
          <p:cNvSpPr txBox="1"/>
          <p:nvPr/>
        </p:nvSpPr>
        <p:spPr>
          <a:xfrm>
            <a:off x="1146942" y="-12075"/>
            <a:ext cx="1629853" cy="342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2"/>
              </a:lnSpc>
            </a:pPr>
            <a:r>
              <a:rPr lang="en-US" sz="1951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Introduction 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88F05E55-5955-DF2F-020E-AC0E85C78C5F}"/>
              </a:ext>
            </a:extLst>
          </p:cNvPr>
          <p:cNvSpPr txBox="1"/>
          <p:nvPr/>
        </p:nvSpPr>
        <p:spPr>
          <a:xfrm>
            <a:off x="5073241" y="-12075"/>
            <a:ext cx="1624726" cy="342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2"/>
              </a:lnSpc>
            </a:pPr>
            <a:r>
              <a:rPr lang="en-US" sz="1951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Methodology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CC395E48-14C4-CF44-3563-6E1BAAA18BFF}"/>
              </a:ext>
            </a:extLst>
          </p:cNvPr>
          <p:cNvSpPr txBox="1"/>
          <p:nvPr/>
        </p:nvSpPr>
        <p:spPr>
          <a:xfrm>
            <a:off x="9358004" y="-24047"/>
            <a:ext cx="1072999" cy="3242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32"/>
              </a:lnSpc>
            </a:pPr>
            <a:r>
              <a:rPr lang="en-US" sz="1951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Results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65F22D6E-0F2C-9715-3ACD-DEA543A51DA1}"/>
              </a:ext>
            </a:extLst>
          </p:cNvPr>
          <p:cNvSpPr txBox="1"/>
          <p:nvPr/>
        </p:nvSpPr>
        <p:spPr>
          <a:xfrm>
            <a:off x="12604201" y="-12074"/>
            <a:ext cx="2464004" cy="3242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32"/>
              </a:lnSpc>
            </a:pPr>
            <a:r>
              <a:rPr lang="en-US" sz="1951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Critical Discussion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E11F88B5-BDF4-8448-0067-71F3441900DB}"/>
              </a:ext>
            </a:extLst>
          </p:cNvPr>
          <p:cNvSpPr txBox="1"/>
          <p:nvPr/>
        </p:nvSpPr>
        <p:spPr>
          <a:xfrm>
            <a:off x="16408410" y="-24047"/>
            <a:ext cx="1422389" cy="3242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32"/>
              </a:lnSpc>
            </a:pPr>
            <a:r>
              <a:rPr lang="en-US" sz="1951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Conclusion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115E250E-B437-D183-F1B2-D04DCD42D3F0}"/>
              </a:ext>
            </a:extLst>
          </p:cNvPr>
          <p:cNvSpPr txBox="1"/>
          <p:nvPr/>
        </p:nvSpPr>
        <p:spPr>
          <a:xfrm>
            <a:off x="1028700" y="952500"/>
            <a:ext cx="14969093" cy="573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19"/>
              </a:lnSpc>
              <a:spcBef>
                <a:spcPct val="0"/>
              </a:spcBef>
            </a:pPr>
            <a:r>
              <a:rPr lang="en-US" sz="3299" b="1" u="sng" dirty="0">
                <a:solidFill>
                  <a:srgbClr val="B00B39"/>
                </a:solidFill>
                <a:latin typeface="Cardo Bold"/>
                <a:ea typeface="Cardo Bold"/>
                <a:cs typeface="Cardo Bold"/>
                <a:sym typeface="Cardo Bold"/>
              </a:rPr>
              <a:t>References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91769B55-4F7A-3E01-3FC6-5C3E54528BBB}"/>
              </a:ext>
            </a:extLst>
          </p:cNvPr>
          <p:cNvSpPr txBox="1"/>
          <p:nvPr/>
        </p:nvSpPr>
        <p:spPr>
          <a:xfrm>
            <a:off x="1028700" y="2443766"/>
            <a:ext cx="14329679" cy="406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7"/>
              </a:lnSpc>
            </a:pPr>
            <a:endParaRPr lang="en-US" sz="2397" u="none" strike="noStrike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F758DE49-8B19-3290-751C-46A68F49E5DC}"/>
              </a:ext>
            </a:extLst>
          </p:cNvPr>
          <p:cNvSpPr txBox="1"/>
          <p:nvPr/>
        </p:nvSpPr>
        <p:spPr>
          <a:xfrm>
            <a:off x="975946" y="1525906"/>
            <a:ext cx="17273221" cy="85254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GB" sz="22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[1]</a:t>
            </a:r>
            <a:r>
              <a:rPr lang="en-GB" sz="2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C. </a:t>
            </a:r>
            <a:r>
              <a:rPr lang="en-GB" sz="22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McGenity</a:t>
            </a:r>
            <a:r>
              <a:rPr lang="en-GB" sz="2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et al. “Artificial intelligence in digital pathology: a systematic review and meta-analysis of diagnostic test accuracy.” </a:t>
            </a:r>
            <a:r>
              <a:rPr lang="en-GB" sz="2200" i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npj</a:t>
            </a:r>
            <a:r>
              <a:rPr lang="en-GB" sz="2200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Digital Medicine</a:t>
            </a:r>
            <a:r>
              <a:rPr lang="en-GB" sz="2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7 (2024).</a:t>
            </a:r>
          </a:p>
          <a:p>
            <a:r>
              <a:rPr lang="en-GB" sz="22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[2]</a:t>
            </a:r>
            <a:r>
              <a:rPr lang="en-GB" sz="2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World Health Organization. “Breast Cancer: Fact Sheet.” 2022.</a:t>
            </a:r>
          </a:p>
          <a:p>
            <a:r>
              <a:rPr lang="en-GB" sz="22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[3]</a:t>
            </a:r>
            <a:r>
              <a:rPr lang="en-GB" sz="2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Bo Jiang et al. “Deep learning applications in breast cancer histopathological imaging: diagnosis, treatment, and prognosis.” </a:t>
            </a:r>
            <a:r>
              <a:rPr lang="en-GB" sz="2200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Breast Cancer Research</a:t>
            </a:r>
            <a:r>
              <a:rPr lang="en-GB" sz="2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26 (2024).</a:t>
            </a:r>
          </a:p>
          <a:p>
            <a:r>
              <a:rPr lang="en-GB" sz="22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[4]</a:t>
            </a:r>
            <a:r>
              <a:rPr lang="en-GB" sz="2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S. R. </a:t>
            </a:r>
            <a:r>
              <a:rPr lang="en-GB" sz="22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Duenweg</a:t>
            </a:r>
            <a:r>
              <a:rPr lang="en-GB" sz="2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et al. “Whole slide imaging (WSI) scanner differences influence optical and computed properties of digitized prostate cancer histology.” </a:t>
            </a:r>
            <a:r>
              <a:rPr lang="en-GB" sz="2200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Journal of Pathology Informatics</a:t>
            </a:r>
            <a:r>
              <a:rPr lang="en-GB" sz="2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14 (2023), p. 100321.</a:t>
            </a:r>
          </a:p>
          <a:p>
            <a:r>
              <a:rPr lang="en-GB" sz="22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[5]</a:t>
            </a:r>
            <a:r>
              <a:rPr lang="en-GB" sz="2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Karin </a:t>
            </a:r>
            <a:r>
              <a:rPr lang="en-GB" sz="22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Stacke</a:t>
            </a:r>
            <a:r>
              <a:rPr lang="en-GB" sz="2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et al. “Measuring domain shift for deep learning in histopathology.” </a:t>
            </a:r>
            <a:r>
              <a:rPr lang="en-GB" sz="2200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IEEE Journal of Biomedical and Health Informatics</a:t>
            </a:r>
            <a:r>
              <a:rPr lang="en-GB" sz="2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25.2 (2020), pp. 325–336.</a:t>
            </a:r>
          </a:p>
          <a:p>
            <a:r>
              <a:rPr lang="en-GB" sz="22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[6]</a:t>
            </a:r>
            <a:r>
              <a:rPr lang="en-GB" sz="2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David Tellez et al. “Quantifying the effects of data augmentation and stain </a:t>
            </a:r>
            <a:r>
              <a:rPr lang="en-GB" sz="22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color</a:t>
            </a:r>
            <a:r>
              <a:rPr lang="en-GB" sz="2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normalization in convolutional neural networks for computational pathology.” </a:t>
            </a:r>
            <a:r>
              <a:rPr lang="en-GB" sz="2200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Medical Image Analysis</a:t>
            </a:r>
            <a:r>
              <a:rPr lang="en-GB" sz="2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58 (2019), p. 101544.</a:t>
            </a:r>
          </a:p>
          <a:p>
            <a:r>
              <a:rPr lang="en-GB" sz="22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[7]</a:t>
            </a:r>
            <a:r>
              <a:rPr lang="en-GB" sz="2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Chuanyun Xu et al. “Stain Normalization of Histopathological Images Based on Deep Learning: A Review.” </a:t>
            </a:r>
            <a:r>
              <a:rPr lang="en-GB" sz="2200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Diagnostics</a:t>
            </a:r>
            <a:r>
              <a:rPr lang="en-GB" sz="2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13.21 (2023), p. 3405.</a:t>
            </a:r>
          </a:p>
          <a:p>
            <a:r>
              <a:rPr lang="en-GB" sz="22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[8]</a:t>
            </a:r>
            <a:r>
              <a:rPr lang="en-GB" sz="2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Kaiming He et al. “Masked Autoencoders Are Scalable Vision Learners.” </a:t>
            </a:r>
            <a:r>
              <a:rPr lang="en-GB" sz="2200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CVPR</a:t>
            </a:r>
            <a:r>
              <a:rPr lang="en-GB" sz="2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(2022). arXiv:2111.06377.</a:t>
            </a:r>
          </a:p>
          <a:p>
            <a:r>
              <a:rPr lang="en-GB" sz="22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[9]</a:t>
            </a:r>
            <a:r>
              <a:rPr lang="en-GB" sz="2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Maxime </a:t>
            </a:r>
            <a:r>
              <a:rPr lang="en-GB" sz="22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Oquab</a:t>
            </a:r>
            <a:r>
              <a:rPr lang="en-GB" sz="2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et al. “DINOv2: Learning Robust Visual Features without Supervision.” arXiv:2304.07193 (2023).</a:t>
            </a:r>
          </a:p>
          <a:p>
            <a:r>
              <a:rPr lang="en-GB" sz="22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[10]</a:t>
            </a:r>
            <a:r>
              <a:rPr lang="en-GB" sz="2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Richard J. Chen et al. “Towards a General-Purpose Foundation Model for Computational Pathology.” </a:t>
            </a:r>
            <a:r>
              <a:rPr lang="en-GB" sz="2200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Nature Medicine</a:t>
            </a:r>
            <a:r>
              <a:rPr lang="en-GB" sz="2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(2024). arXiv:2307.14324.</a:t>
            </a:r>
          </a:p>
          <a:p>
            <a:r>
              <a:rPr lang="en-GB" sz="22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[11]</a:t>
            </a:r>
            <a:r>
              <a:rPr lang="en-GB" sz="2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Eric Zimmermann et al. “Virchow2: Scaling Self-Supervised Mixed Magnification Models in Pathology.” arXiv:2408.00738 (2024).</a:t>
            </a:r>
          </a:p>
          <a:p>
            <a:r>
              <a:rPr lang="en-GB" sz="22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[12]</a:t>
            </a:r>
            <a:r>
              <a:rPr lang="en-GB" sz="2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Liang-Chieh Chen et al. “Rethinking </a:t>
            </a:r>
            <a:r>
              <a:rPr lang="en-GB" sz="22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Atrous</a:t>
            </a:r>
            <a:r>
              <a:rPr lang="en-GB" sz="2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Convolution for Semantic Image Segmentation.” arXiv:1706.05587 (2017).</a:t>
            </a:r>
          </a:p>
          <a:p>
            <a:r>
              <a:rPr lang="en-GB" sz="22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[13]</a:t>
            </a:r>
            <a:r>
              <a:rPr lang="en-GB" sz="2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Reza Azad et al. “</a:t>
            </a:r>
            <a:r>
              <a:rPr lang="en-GB" sz="22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TransDeepLab</a:t>
            </a:r>
            <a:r>
              <a:rPr lang="en-GB" sz="2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Convolution-Free Transformer-based </a:t>
            </a:r>
            <a:r>
              <a:rPr lang="en-GB" sz="22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DeepLab</a:t>
            </a:r>
            <a:r>
              <a:rPr lang="en-GB" sz="2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v3+ for Medical Image Segmentation.” arXiv:2208.00713 (2022).</a:t>
            </a:r>
          </a:p>
          <a:p>
            <a:r>
              <a:rPr lang="en-GB" sz="22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[14]</a:t>
            </a:r>
            <a:r>
              <a:rPr lang="en-GB" sz="2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Tsung-Yi Lin et al. “Feature Pyramid Networks for Object Detection.” arXiv:1612.03144 (2017).</a:t>
            </a:r>
          </a:p>
          <a:p>
            <a:r>
              <a:rPr lang="en-GB" sz="22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[15]</a:t>
            </a:r>
            <a:r>
              <a:rPr lang="en-GB" sz="2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Bowen Cheng et al. “Masked-Attention Mask Transformer for Universal Image Segmentation.” arXiv:2112.01527 (2022).</a:t>
            </a:r>
          </a:p>
          <a:p>
            <a:br>
              <a:rPr lang="en-GB" sz="2400" dirty="0"/>
            </a:b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84565748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73C64E-08E8-8080-79EF-6549F2254B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4419BCB9-22F3-E041-94DA-FB80AE7C8845}"/>
              </a:ext>
            </a:extLst>
          </p:cNvPr>
          <p:cNvGrpSpPr/>
          <p:nvPr/>
        </p:nvGrpSpPr>
        <p:grpSpPr>
          <a:xfrm>
            <a:off x="0" y="0"/>
            <a:ext cx="18278475" cy="366016"/>
            <a:chOff x="0" y="0"/>
            <a:chExt cx="4814084" cy="96399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642D0C68-7812-9E31-6B59-9F9DE212189F}"/>
                </a:ext>
              </a:extLst>
            </p:cNvPr>
            <p:cNvSpPr/>
            <p:nvPr/>
          </p:nvSpPr>
          <p:spPr>
            <a:xfrm>
              <a:off x="0" y="0"/>
              <a:ext cx="4814084" cy="96399"/>
            </a:xfrm>
            <a:custGeom>
              <a:avLst/>
              <a:gdLst/>
              <a:ahLst/>
              <a:cxnLst/>
              <a:rect l="l" t="t" r="r" b="b"/>
              <a:pathLst>
                <a:path w="4814084" h="96399">
                  <a:moveTo>
                    <a:pt x="0" y="0"/>
                  </a:moveTo>
                  <a:lnTo>
                    <a:pt x="4814084" y="0"/>
                  </a:lnTo>
                  <a:lnTo>
                    <a:pt x="4814084" y="96399"/>
                  </a:lnTo>
                  <a:lnTo>
                    <a:pt x="0" y="96399"/>
                  </a:lnTo>
                  <a:close/>
                </a:path>
              </a:pathLst>
            </a:custGeom>
            <a:solidFill>
              <a:srgbClr val="897993"/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C39483F6-3D8B-DB8F-1AE0-1744C15D398F}"/>
                </a:ext>
              </a:extLst>
            </p:cNvPr>
            <p:cNvSpPr txBox="1"/>
            <p:nvPr/>
          </p:nvSpPr>
          <p:spPr>
            <a:xfrm>
              <a:off x="0" y="-38100"/>
              <a:ext cx="4814084" cy="1344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F6CA650A-B04F-3441-A3C9-F921089939D7}"/>
              </a:ext>
            </a:extLst>
          </p:cNvPr>
          <p:cNvGrpSpPr/>
          <p:nvPr/>
        </p:nvGrpSpPr>
        <p:grpSpPr>
          <a:xfrm>
            <a:off x="0" y="-55288"/>
            <a:ext cx="3923736" cy="421303"/>
            <a:chOff x="0" y="0"/>
            <a:chExt cx="1033412" cy="110961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3CA3E26B-568C-40EB-7CDA-B95A2457E14A}"/>
                </a:ext>
              </a:extLst>
            </p:cNvPr>
            <p:cNvSpPr/>
            <p:nvPr/>
          </p:nvSpPr>
          <p:spPr>
            <a:xfrm>
              <a:off x="0" y="0"/>
              <a:ext cx="1033412" cy="110961"/>
            </a:xfrm>
            <a:custGeom>
              <a:avLst/>
              <a:gdLst/>
              <a:ahLst/>
              <a:cxnLst/>
              <a:rect l="l" t="t" r="r" b="b"/>
              <a:pathLst>
                <a:path w="1033412" h="110961">
                  <a:moveTo>
                    <a:pt x="0" y="0"/>
                  </a:moveTo>
                  <a:lnTo>
                    <a:pt x="1033412" y="0"/>
                  </a:lnTo>
                  <a:lnTo>
                    <a:pt x="1033412" y="110961"/>
                  </a:lnTo>
                  <a:lnTo>
                    <a:pt x="0" y="110961"/>
                  </a:lnTo>
                  <a:close/>
                </a:path>
              </a:pathLst>
            </a:custGeom>
            <a:solidFill>
              <a:srgbClr val="B00B39">
                <a:alpha val="19608"/>
              </a:srgbClr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E7D5D30F-58B2-A627-BF73-9E4960025A71}"/>
                </a:ext>
              </a:extLst>
            </p:cNvPr>
            <p:cNvSpPr txBox="1"/>
            <p:nvPr/>
          </p:nvSpPr>
          <p:spPr>
            <a:xfrm>
              <a:off x="0" y="-38100"/>
              <a:ext cx="1033412" cy="1490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2BBD96EE-B51C-D5A9-1AE7-772DBA1744E0}"/>
              </a:ext>
            </a:extLst>
          </p:cNvPr>
          <p:cNvGrpSpPr/>
          <p:nvPr/>
        </p:nvGrpSpPr>
        <p:grpSpPr>
          <a:xfrm>
            <a:off x="3923736" y="-23943"/>
            <a:ext cx="3923736" cy="389959"/>
            <a:chOff x="0" y="0"/>
            <a:chExt cx="1033412" cy="102705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07555A4E-26D3-F137-DBA3-26B2F020FEDF}"/>
                </a:ext>
              </a:extLst>
            </p:cNvPr>
            <p:cNvSpPr/>
            <p:nvPr/>
          </p:nvSpPr>
          <p:spPr>
            <a:xfrm>
              <a:off x="0" y="0"/>
              <a:ext cx="1033412" cy="102705"/>
            </a:xfrm>
            <a:custGeom>
              <a:avLst/>
              <a:gdLst/>
              <a:ahLst/>
              <a:cxnLst/>
              <a:rect l="l" t="t" r="r" b="b"/>
              <a:pathLst>
                <a:path w="1033412" h="102705">
                  <a:moveTo>
                    <a:pt x="0" y="0"/>
                  </a:moveTo>
                  <a:lnTo>
                    <a:pt x="1033412" y="0"/>
                  </a:lnTo>
                  <a:lnTo>
                    <a:pt x="1033412" y="102705"/>
                  </a:lnTo>
                  <a:lnTo>
                    <a:pt x="0" y="102705"/>
                  </a:lnTo>
                  <a:close/>
                </a:path>
              </a:pathLst>
            </a:custGeom>
            <a:solidFill>
              <a:srgbClr val="B00B39">
                <a:alpha val="19608"/>
              </a:srgbClr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F5C88DB0-4C49-7E44-8846-A6930906D52A}"/>
                </a:ext>
              </a:extLst>
            </p:cNvPr>
            <p:cNvSpPr txBox="1"/>
            <p:nvPr/>
          </p:nvSpPr>
          <p:spPr>
            <a:xfrm>
              <a:off x="0" y="-38100"/>
              <a:ext cx="1033412" cy="1408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BDC92777-5BA2-5369-5D53-CCE3DE4A4C3D}"/>
              </a:ext>
            </a:extLst>
          </p:cNvPr>
          <p:cNvGrpSpPr/>
          <p:nvPr/>
        </p:nvGrpSpPr>
        <p:grpSpPr>
          <a:xfrm>
            <a:off x="7847472" y="-101928"/>
            <a:ext cx="3923736" cy="467944"/>
            <a:chOff x="0" y="0"/>
            <a:chExt cx="1033412" cy="123245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656C3023-1F33-8191-41E3-8B7B37BFB1A2}"/>
                </a:ext>
              </a:extLst>
            </p:cNvPr>
            <p:cNvSpPr/>
            <p:nvPr/>
          </p:nvSpPr>
          <p:spPr>
            <a:xfrm>
              <a:off x="0" y="0"/>
              <a:ext cx="1033412" cy="123245"/>
            </a:xfrm>
            <a:custGeom>
              <a:avLst/>
              <a:gdLst/>
              <a:ahLst/>
              <a:cxnLst/>
              <a:rect l="l" t="t" r="r" b="b"/>
              <a:pathLst>
                <a:path w="1033412" h="123245">
                  <a:moveTo>
                    <a:pt x="0" y="0"/>
                  </a:moveTo>
                  <a:lnTo>
                    <a:pt x="1033412" y="0"/>
                  </a:lnTo>
                  <a:lnTo>
                    <a:pt x="1033412" y="123245"/>
                  </a:lnTo>
                  <a:lnTo>
                    <a:pt x="0" y="123245"/>
                  </a:lnTo>
                  <a:close/>
                </a:path>
              </a:pathLst>
            </a:custGeom>
            <a:solidFill>
              <a:srgbClr val="B00B39">
                <a:alpha val="19608"/>
              </a:srgbClr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A2431167-FB57-3F9E-CD39-8BC95EA9B248}"/>
                </a:ext>
              </a:extLst>
            </p:cNvPr>
            <p:cNvSpPr txBox="1"/>
            <p:nvPr/>
          </p:nvSpPr>
          <p:spPr>
            <a:xfrm>
              <a:off x="0" y="-38100"/>
              <a:ext cx="1033412" cy="1613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CEAFE74C-AA1E-0F43-49FB-41534FE75AD2}"/>
              </a:ext>
            </a:extLst>
          </p:cNvPr>
          <p:cNvGrpSpPr/>
          <p:nvPr/>
        </p:nvGrpSpPr>
        <p:grpSpPr>
          <a:xfrm>
            <a:off x="11771209" y="-23943"/>
            <a:ext cx="3923736" cy="389959"/>
            <a:chOff x="0" y="0"/>
            <a:chExt cx="1033412" cy="102705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BA5C3468-6704-F6D2-D785-0A9195677867}"/>
                </a:ext>
              </a:extLst>
            </p:cNvPr>
            <p:cNvSpPr/>
            <p:nvPr/>
          </p:nvSpPr>
          <p:spPr>
            <a:xfrm>
              <a:off x="0" y="0"/>
              <a:ext cx="1033412" cy="102705"/>
            </a:xfrm>
            <a:custGeom>
              <a:avLst/>
              <a:gdLst/>
              <a:ahLst/>
              <a:cxnLst/>
              <a:rect l="l" t="t" r="r" b="b"/>
              <a:pathLst>
                <a:path w="1033412" h="102705">
                  <a:moveTo>
                    <a:pt x="0" y="0"/>
                  </a:moveTo>
                  <a:lnTo>
                    <a:pt x="1033412" y="0"/>
                  </a:lnTo>
                  <a:lnTo>
                    <a:pt x="1033412" y="102705"/>
                  </a:lnTo>
                  <a:lnTo>
                    <a:pt x="0" y="102705"/>
                  </a:lnTo>
                  <a:close/>
                </a:path>
              </a:pathLst>
            </a:custGeom>
            <a:solidFill>
              <a:srgbClr val="B00B39">
                <a:alpha val="19608"/>
              </a:srgbClr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E635D5D2-5D47-B14C-523B-AA37E15E157F}"/>
                </a:ext>
              </a:extLst>
            </p:cNvPr>
            <p:cNvSpPr txBox="1"/>
            <p:nvPr/>
          </p:nvSpPr>
          <p:spPr>
            <a:xfrm>
              <a:off x="0" y="-38100"/>
              <a:ext cx="1033412" cy="1408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487B061B-A2C0-B926-F04E-1D9C9947DB15}"/>
              </a:ext>
            </a:extLst>
          </p:cNvPr>
          <p:cNvGrpSpPr/>
          <p:nvPr/>
        </p:nvGrpSpPr>
        <p:grpSpPr>
          <a:xfrm>
            <a:off x="15694945" y="-40855"/>
            <a:ext cx="3923736" cy="389959"/>
            <a:chOff x="0" y="0"/>
            <a:chExt cx="1033412" cy="102705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CE70D0F8-13CD-A7FE-6298-EEED3A955131}"/>
                </a:ext>
              </a:extLst>
            </p:cNvPr>
            <p:cNvSpPr/>
            <p:nvPr/>
          </p:nvSpPr>
          <p:spPr>
            <a:xfrm>
              <a:off x="0" y="0"/>
              <a:ext cx="1033412" cy="102705"/>
            </a:xfrm>
            <a:custGeom>
              <a:avLst/>
              <a:gdLst/>
              <a:ahLst/>
              <a:cxnLst/>
              <a:rect l="l" t="t" r="r" b="b"/>
              <a:pathLst>
                <a:path w="1033412" h="102705">
                  <a:moveTo>
                    <a:pt x="0" y="0"/>
                  </a:moveTo>
                  <a:lnTo>
                    <a:pt x="1033412" y="0"/>
                  </a:lnTo>
                  <a:lnTo>
                    <a:pt x="1033412" y="102705"/>
                  </a:lnTo>
                  <a:lnTo>
                    <a:pt x="0" y="102705"/>
                  </a:lnTo>
                  <a:close/>
                </a:path>
              </a:pathLst>
            </a:custGeom>
            <a:solidFill>
              <a:srgbClr val="B00B39"/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0E59FA66-E7AB-E23B-6F99-E7DA516FBFC5}"/>
                </a:ext>
              </a:extLst>
            </p:cNvPr>
            <p:cNvSpPr txBox="1"/>
            <p:nvPr/>
          </p:nvSpPr>
          <p:spPr>
            <a:xfrm>
              <a:off x="0" y="-38100"/>
              <a:ext cx="1033412" cy="1408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0" name="TextBox 20">
            <a:extLst>
              <a:ext uri="{FF2B5EF4-FFF2-40B4-BE49-F238E27FC236}">
                <a16:creationId xmlns:a16="http://schemas.microsoft.com/office/drawing/2014/main" id="{69B99006-8D70-F442-0752-8011C8BDAE8C}"/>
              </a:ext>
            </a:extLst>
          </p:cNvPr>
          <p:cNvSpPr txBox="1"/>
          <p:nvPr/>
        </p:nvSpPr>
        <p:spPr>
          <a:xfrm>
            <a:off x="1146942" y="-12075"/>
            <a:ext cx="1629853" cy="342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2"/>
              </a:lnSpc>
            </a:pPr>
            <a:r>
              <a:rPr lang="en-US" sz="1951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Introduction 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74C2679B-6E21-1DC3-4655-DB002C586E7A}"/>
              </a:ext>
            </a:extLst>
          </p:cNvPr>
          <p:cNvSpPr txBox="1"/>
          <p:nvPr/>
        </p:nvSpPr>
        <p:spPr>
          <a:xfrm>
            <a:off x="5073241" y="-12075"/>
            <a:ext cx="1624726" cy="342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2"/>
              </a:lnSpc>
            </a:pPr>
            <a:r>
              <a:rPr lang="en-US" sz="1951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Methodology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7C859E71-8EB5-E8DB-5CFE-661A9E4CCFEA}"/>
              </a:ext>
            </a:extLst>
          </p:cNvPr>
          <p:cNvSpPr txBox="1"/>
          <p:nvPr/>
        </p:nvSpPr>
        <p:spPr>
          <a:xfrm>
            <a:off x="9358004" y="-24047"/>
            <a:ext cx="1072999" cy="3242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32"/>
              </a:lnSpc>
            </a:pPr>
            <a:r>
              <a:rPr lang="en-US" sz="1951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Results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4D8FEA6E-2F1F-7ADE-2AC7-982F523EDAC8}"/>
              </a:ext>
            </a:extLst>
          </p:cNvPr>
          <p:cNvSpPr txBox="1"/>
          <p:nvPr/>
        </p:nvSpPr>
        <p:spPr>
          <a:xfrm>
            <a:off x="12604201" y="-12074"/>
            <a:ext cx="2464004" cy="3242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32"/>
              </a:lnSpc>
            </a:pPr>
            <a:r>
              <a:rPr lang="en-US" sz="1951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Critical Discussion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62AF5274-E7A8-B4E0-72CE-B9A0488CAE32}"/>
              </a:ext>
            </a:extLst>
          </p:cNvPr>
          <p:cNvSpPr txBox="1"/>
          <p:nvPr/>
        </p:nvSpPr>
        <p:spPr>
          <a:xfrm>
            <a:off x="16408410" y="-24047"/>
            <a:ext cx="1422389" cy="3242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32"/>
              </a:lnSpc>
            </a:pPr>
            <a:r>
              <a:rPr lang="en-US" sz="1951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Conclusion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B28884C6-329C-6218-EAA1-29A584FE389E}"/>
              </a:ext>
            </a:extLst>
          </p:cNvPr>
          <p:cNvSpPr txBox="1"/>
          <p:nvPr/>
        </p:nvSpPr>
        <p:spPr>
          <a:xfrm>
            <a:off x="1028700" y="952500"/>
            <a:ext cx="14969093" cy="573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19"/>
              </a:lnSpc>
              <a:spcBef>
                <a:spcPct val="0"/>
              </a:spcBef>
            </a:pPr>
            <a:r>
              <a:rPr lang="en-US" sz="3299" b="1" u="sng" dirty="0">
                <a:solidFill>
                  <a:srgbClr val="B00B39"/>
                </a:solidFill>
                <a:latin typeface="Cardo Bold"/>
                <a:ea typeface="Cardo Bold"/>
                <a:cs typeface="Cardo Bold"/>
                <a:sym typeface="Cardo Bold"/>
              </a:rPr>
              <a:t>References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B9A7E06C-A423-78D7-9B0F-7DBA701712E4}"/>
              </a:ext>
            </a:extLst>
          </p:cNvPr>
          <p:cNvSpPr txBox="1"/>
          <p:nvPr/>
        </p:nvSpPr>
        <p:spPr>
          <a:xfrm>
            <a:off x="1028700" y="2443766"/>
            <a:ext cx="14329679" cy="406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7"/>
              </a:lnSpc>
            </a:pPr>
            <a:endParaRPr lang="en-US" sz="2397" u="none" strike="noStrike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C3DD0FDF-CCFC-61A3-7277-5B08EA1C547B}"/>
              </a:ext>
            </a:extLst>
          </p:cNvPr>
          <p:cNvSpPr txBox="1"/>
          <p:nvPr/>
        </p:nvSpPr>
        <p:spPr>
          <a:xfrm>
            <a:off x="1005254" y="1525906"/>
            <a:ext cx="17273221" cy="30469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GB" sz="22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[16]</a:t>
            </a:r>
            <a:r>
              <a:rPr lang="en-GB" sz="2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Frauke Wilm et al. “Domain and Content Adaptive Convolutions for Cross-Domain Adenocarcinoma Segmentation.” arXiv:2409.09797 (2024).</a:t>
            </a:r>
          </a:p>
          <a:p>
            <a:r>
              <a:rPr lang="en-GB" sz="22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[17]</a:t>
            </a:r>
            <a:r>
              <a:rPr lang="en-GB" sz="2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Huang </a:t>
            </a:r>
            <a:r>
              <a:rPr lang="en-GB" sz="22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Jiayan</a:t>
            </a:r>
            <a:r>
              <a:rPr lang="en-GB" sz="2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et al. “Domain-stratified Training for Cross-organ and Cross-scanner Adenocarcinoma Segmentation in the COSAS 2024 Challenge.” arXiv:2409.12418 (2024).</a:t>
            </a:r>
          </a:p>
          <a:p>
            <a:r>
              <a:rPr lang="en-GB" sz="22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[18]</a:t>
            </a:r>
            <a:r>
              <a:rPr lang="en-GB" sz="2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22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Pengzhou</a:t>
            </a:r>
            <a:r>
              <a:rPr lang="en-GB" sz="2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Cai et al. “Cross-Organ and Cross-Scanner Adenocarcinoma Segmentation using Rein-to-Fine-tune Vision Foundation Models.” arXiv:2409.11752 (2024).</a:t>
            </a:r>
          </a:p>
          <a:p>
            <a:r>
              <a:rPr lang="en-GB" sz="22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[19]</a:t>
            </a:r>
            <a:r>
              <a:rPr lang="en-GB" sz="2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Pierre Marza et al. “THUNDER: Tile-level Histopathology Image </a:t>
            </a:r>
            <a:r>
              <a:rPr lang="en-GB" sz="22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UNDERstanding</a:t>
            </a:r>
            <a:r>
              <a:rPr lang="en-GB" sz="2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Benchmark.” arXiv:2507.07860 (2025).</a:t>
            </a:r>
          </a:p>
          <a:p>
            <a:br>
              <a:rPr lang="en-GB" sz="2200" dirty="0"/>
            </a:br>
            <a:endParaRPr lang="en-GB" sz="2200" dirty="0"/>
          </a:p>
        </p:txBody>
      </p:sp>
    </p:spTree>
    <p:extLst>
      <p:ext uri="{BB962C8B-B14F-4D97-AF65-F5344CB8AC3E}">
        <p14:creationId xmlns:p14="http://schemas.microsoft.com/office/powerpoint/2010/main" val="182876759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644340" y="4125793"/>
            <a:ext cx="25576680" cy="1709927"/>
            <a:chOff x="0" y="-85725"/>
            <a:chExt cx="6736245" cy="450351"/>
          </a:xfrm>
        </p:grpSpPr>
        <p:sp>
          <p:nvSpPr>
            <p:cNvPr id="3" name="Freeform 3"/>
            <p:cNvSpPr/>
            <p:nvPr/>
          </p:nvSpPr>
          <p:spPr>
            <a:xfrm>
              <a:off x="0" y="-38447"/>
              <a:ext cx="6736245" cy="364626"/>
            </a:xfrm>
            <a:custGeom>
              <a:avLst/>
              <a:gdLst/>
              <a:ahLst/>
              <a:cxnLst/>
              <a:rect l="l" t="t" r="r" b="b"/>
              <a:pathLst>
                <a:path w="6736245" h="364626">
                  <a:moveTo>
                    <a:pt x="15437" y="0"/>
                  </a:moveTo>
                  <a:lnTo>
                    <a:pt x="6720808" y="0"/>
                  </a:lnTo>
                  <a:cubicBezTo>
                    <a:pt x="6724901" y="0"/>
                    <a:pt x="6728828" y="1626"/>
                    <a:pt x="6731723" y="4522"/>
                  </a:cubicBezTo>
                  <a:cubicBezTo>
                    <a:pt x="6734618" y="7417"/>
                    <a:pt x="6736245" y="11343"/>
                    <a:pt x="6736245" y="15437"/>
                  </a:cubicBezTo>
                  <a:lnTo>
                    <a:pt x="6736245" y="349189"/>
                  </a:lnTo>
                  <a:cubicBezTo>
                    <a:pt x="6736245" y="357715"/>
                    <a:pt x="6729333" y="364626"/>
                    <a:pt x="6720808" y="364626"/>
                  </a:cubicBezTo>
                  <a:lnTo>
                    <a:pt x="15437" y="364626"/>
                  </a:lnTo>
                  <a:cubicBezTo>
                    <a:pt x="11343" y="364626"/>
                    <a:pt x="7417" y="363000"/>
                    <a:pt x="4522" y="360105"/>
                  </a:cubicBezTo>
                  <a:cubicBezTo>
                    <a:pt x="1626" y="357210"/>
                    <a:pt x="0" y="353283"/>
                    <a:pt x="0" y="349189"/>
                  </a:cubicBezTo>
                  <a:lnTo>
                    <a:pt x="0" y="15437"/>
                  </a:lnTo>
                  <a:cubicBezTo>
                    <a:pt x="0" y="6912"/>
                    <a:pt x="6912" y="0"/>
                    <a:pt x="15437" y="0"/>
                  </a:cubicBezTo>
                  <a:close/>
                </a:path>
              </a:pathLst>
            </a:custGeom>
            <a:solidFill>
              <a:srgbClr val="B00B39"/>
            </a:solidFill>
          </p:spPr>
          <p:txBody>
            <a:bodyPr/>
            <a:lstStyle/>
            <a:p>
              <a:endParaRPr lang="en-G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85725"/>
              <a:ext cx="6736245" cy="4503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740"/>
                </a:lnSpc>
              </a:pPr>
              <a:r>
                <a:rPr lang="en-US" sz="4100" b="1" dirty="0">
                  <a:solidFill>
                    <a:srgbClr val="FFFFFF"/>
                  </a:solidFill>
                  <a:latin typeface="Cardo Bold"/>
                  <a:ea typeface="Cardo Bold"/>
                  <a:cs typeface="Cardo Bold"/>
                  <a:sym typeface="Cardo Bold"/>
                </a:rPr>
                <a:t>Thank You</a:t>
              </a:r>
            </a:p>
          </p:txBody>
        </p:sp>
      </p:grpSp>
      <p:sp>
        <p:nvSpPr>
          <p:cNvPr id="5" name="Freeform 5"/>
          <p:cNvSpPr/>
          <p:nvPr/>
        </p:nvSpPr>
        <p:spPr>
          <a:xfrm>
            <a:off x="136009" y="321009"/>
            <a:ext cx="4827823" cy="1415383"/>
          </a:xfrm>
          <a:custGeom>
            <a:avLst/>
            <a:gdLst/>
            <a:ahLst/>
            <a:cxnLst/>
            <a:rect l="l" t="t" r="r" b="b"/>
            <a:pathLst>
              <a:path w="4827823" h="1415383">
                <a:moveTo>
                  <a:pt x="0" y="0"/>
                </a:moveTo>
                <a:lnTo>
                  <a:pt x="4827823" y="0"/>
                </a:lnTo>
                <a:lnTo>
                  <a:pt x="4827823" y="1415382"/>
                </a:lnTo>
                <a:lnTo>
                  <a:pt x="0" y="14153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3469" t="-165939" r="-14536" b="-170684"/>
            </a:stretch>
          </a:blipFill>
        </p:spPr>
        <p:txBody>
          <a:bodyPr/>
          <a:lstStyle/>
          <a:p>
            <a:endParaRPr lang="en-GR"/>
          </a:p>
        </p:txBody>
      </p:sp>
      <p:sp>
        <p:nvSpPr>
          <p:cNvPr id="6" name="Freeform 6"/>
          <p:cNvSpPr/>
          <p:nvPr/>
        </p:nvSpPr>
        <p:spPr>
          <a:xfrm>
            <a:off x="13089393" y="428856"/>
            <a:ext cx="4827823" cy="1307535"/>
          </a:xfrm>
          <a:custGeom>
            <a:avLst/>
            <a:gdLst/>
            <a:ahLst/>
            <a:cxnLst/>
            <a:rect l="l" t="t" r="r" b="b"/>
            <a:pathLst>
              <a:path w="4827823" h="1307535">
                <a:moveTo>
                  <a:pt x="0" y="0"/>
                </a:moveTo>
                <a:lnTo>
                  <a:pt x="4827823" y="0"/>
                </a:lnTo>
                <a:lnTo>
                  <a:pt x="4827823" y="1307535"/>
                </a:lnTo>
                <a:lnTo>
                  <a:pt x="0" y="13075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G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16133</TotalTime>
  <Words>6904</Words>
  <Application>Microsoft Macintosh PowerPoint</Application>
  <PresentationFormat>Custom</PresentationFormat>
  <Paragraphs>938</Paragraphs>
  <Slides>36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6" baseType="lpstr">
      <vt:lpstr>Calibri (MS)</vt:lpstr>
      <vt:lpstr>Cardo Bold</vt:lpstr>
      <vt:lpstr>Courier New</vt:lpstr>
      <vt:lpstr>Open Sans</vt:lpstr>
      <vt:lpstr>Calibri (MS) Italics</vt:lpstr>
      <vt:lpstr>Arial</vt:lpstr>
      <vt:lpstr>Calibri</vt:lpstr>
      <vt:lpstr>Open Sans Bold</vt:lpstr>
      <vt:lpstr>Calibri (MS)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thesis_presentation</dc:title>
  <cp:lastModifiedBy>Maria Kontaratou</cp:lastModifiedBy>
  <cp:revision>18</cp:revision>
  <dcterms:created xsi:type="dcterms:W3CDTF">2006-08-16T00:00:00Z</dcterms:created>
  <dcterms:modified xsi:type="dcterms:W3CDTF">2025-12-01T10:02:32Z</dcterms:modified>
  <dc:identifier>DAG48MX7Yro</dc:identifier>
</cp:coreProperties>
</file>